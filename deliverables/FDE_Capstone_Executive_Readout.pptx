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 am Eric Clayberg, a Google Cloud Forward Deployed Engineer and an active Merit Badge Counselor with Troop 19 in Middleton, Massachusetts. Across Scouting America, volunteer counselors spend 8 to 15 hours preparing slide decks, Scout workbooks, and Blue Card trackers by hand for a single merit badge. Today we are reviewing the Scouts BSA Merit Badge Counselor Workbench, a production 9-component, 7-agent Google ADK system running on Vertex AI Gemini 2.5 and Cloud Run that compresses that preparation into 90 seconds across all 149 official Merit Badges (including all 5 Scouting America Test Lab Pilot badges). Every requirement is cryptographically locked with SHA-256 against verbatim drift and grounded with 1.0000 Recall at 3 across 5,625 curated visual assets (6,064 total visual files hydrated via asset_hydrator.py). In a single run, the workbench generates 6 synchronized deliverables across 29 templates across 9 style families and 26 washed cover backdrops using a borderless CLEAN_OPEN layout default, exposes a 27-capability Model Context Protocol server, and holds cold-cache LLM unit economics to $0.184 per deck ($0.006 on warm reruns), or $192.50 per month for an entire 250-troop council.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Merit Badge Counselors spend 8 to 15 hours per badge manually rebuilding slides, workbooks, and Blue Cards from 80-page pamphlets. A critical build-versus-buy question is why we engineered a custom pro-code 7-agent Google ADK workbench rather than using out-of-the-box NotebookLM or no-code Agentspace. Off-the-shelf chat and RAG tools fail Scouting America instruction for four structural reasons. First, they paraphrase or drop leaf sub-requirements at a 14 percent omission rate and cannot unroll the 21 multi-option Merit Badges (44 option tracks across 193 deck configurations) with 3-level sub-requirement trees, whereas our workbench enforces 100 percent sub-requirement recall with a deterministic SHA-256 verbatim text lock under Guide to Advancement Section 7.0.4.7. Second, off-the-shelf tools cannot compile native 1:1 OpenXML PowerPoint geometry validated by a sub-10-millisecond Axis-Aligned Bounding Box solver; our CLEAN_OPEN borderless default increases body font size by 3.1pt and visual area by 21.7 percent with zero overlaps in 3.4 milliseconds. Third, we pair 5,625 curated visual assets (6,064 total visual files hydrated via asset_hydrator.py) with a 51-jurisdiction registry for hyper-local NOAA, conservation, and civic grounding. Fourth, we gate final compilation behind cryptographic HMAC-SHA256 Human-in-the-Loop tokens and a bidirectional Youth Protection PII firewall, keeping national Scoutbook write-backs and youth PII storage strictly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a volunteer counselor moves from zero prep to a troop-ready class in under two minutes across four guided journeys. First, in CUJ-1, counselors filter all 149 Merit Badges or browse the 400 by 400 Visual Patch Gallery with Favorites, enter their local ZIP code to ground examples across 51 jurisdictions, pick from 29 templates across 9 Style Families and 26 washed cover backdrops and 4 Layout Presets, or launch the Demo Guided Tour button for 8 narrated multi-step walkthroughs with a live virtual cursor, spotlight ring, and floating callout, starting with Citizenship in the Nation Requirement 8 Congressional Delegation and Constituent Letter. Second, in CUJ-2, while the 7-agent ADK pipeline streams live Server-Sent Events, counselors watch zero-flicker 14-frame Scout construction animations, navigate requirements from the single-row 42-pixel Stage Toolbar, and inspect the 4-Tab Under-Stage Drawer, including Multi-Agent Workflow Trace and FinOps telemetry. Third, in CUJ-3A, counselors co-design in real time: reordering, hiding, or adding slides with zero-millisecond stationary scroll and zero-dollar net-zero PowerPoint rebuilds, cycling pre-bundled visuals in under 50 milliseconds, or triggering FinOps-gated AI Polish at eight hundredths of a cent per slide. Finally, in CUJ-3B, counselors launch the full-size Split-Screen or Floating Presenter View with 5-Part Facilitator Guide teleprompter cards backed by 31,443 precomputed slide notes and the live Patrol Quiz Scoreboard, sign off official Blue Cards (#34124), and export to PowerPoint or one-click Google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our nine-component, seven-agent Google ADK architecture. Rather than relying on an unconstrained ReAct swarm, which averaged 74 cents per deck and suffered a 14 percent requirement omission rate in early benchmarks, we engineered a deterministic five-stage SequentialAgent pipeline wrapped around two bounded LoopAgents. Stage 1 runs PamphletResearchAgent on Gemini 2.5 Pro alongside WebSearchGroundingAgent on Flash, deterministically unrolling all 21 multi-option Merit Badges (44 option tracks across 193 deck configurations) across 3-level sub-requirement trees (such as Cycling Option A Road Biking vs. Option B Mountain Biking) and locking verbatim text with SHA-256 hashes. By isolating Google Search inside WebSearchGroundingAgent and exposing it as an ADK AgentTool, we eliminate Vertex AI HTTP 400 tool schema collisions completely. Stage 2 runs ResearchCoverageCriticAgent inside a bounded two-iteration LoopAgent to enforce 100 percent sub-requirement recall. Stage 3 plans slides across 12 BSA EDGE pedagogical archetypes and selectively curates at most 3 Patrol Scenario Quizzes per deck targeted strictly at safety and hazard requirements. Stage 4 matches 5,625 curated visual assets (6,064 total visual files hydrated via asset_hydrator.py) under a hard one-dollar FinOps cap, and Stage 5 pairs PowerPointBuilderAgent with BSABrandAndSafetyReviewAgent inside a three-iteration QA loop with a 3.4-millisecond AABB geometry solver. YouthProtectionGuardrailPlugin enforces bidirectional PII scrubbing across both user ingress prompts and live SSE / A2UI egress streams, while external clients connect via 162 contract-tested OpenAPI 3.1 endpoints (168 HTTP operations), A2A 1.0 agent cards, and a 27-capability MCP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Merit Badge instruction, official BSA requirement wording cannot be paraphrased or altered. Before any LLM enrichment runs, our ingestion pipeline parses all 149 BSA Pamphlet PDFs with PyMuPDF and computes a canonical SHA-256 digest over every requirement number and verbatim text tuple from 1a through 15b. After generation, if a single character drifts, the post-processor rejects the mutation and restores the exact canonical requirement text. On the retrieval side, we ran a 20-badge golden evaluation dataset (tests/data/golden_badges.json) documented in ADR-02. Pure dense vector search with text-embedding-005 drops to 0.8125 Recall at 3 because cosine similarity blurs short alphanumeric sibling IDs like Requirement 2a versus Requirement 2b. Full-PDF prompt stuffing costs 65,000 tokens per turn and adds 4.2 seconds of latency. By combining Okapi BM25 at 55 percent weight with a 3x exact requirement ID boost and 768-dimensional vector embeddings at 45 percent weight via Reciprocal Rank Fusion at k equals 60, we achieve 1.0000 Recall at 3, 1.0000 MRR, ROUGE-L 0.892, and 4.92 out of 5.0 LLM-as-a-Judge score across all 20 golden badges in 1.8 milliseconds while cutting prompt tokens by 68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versions of our slide compiler wrapped every requirement bullet inside a bordered card container. On branded BSA templates that already had rich borders and crest watermarks, this created heavy nested box-itis and squeezed the body text down to 12.6pt. We rebuilt the compiler around a 4-tier DeckStyleConfig engine across 29 templates across 9 style families and 26 washed cover backdrops (including Camp Hidden Valley Sunset Dock), promoting BSA Scouting America Green with CLEAN_OPEN borderless layout as the factory default while keeping BOXED_CARDS available on Workbench Classic and letting counselors save their default style in user_preferences. Every generated deck then passes a two-stage visual gate: a 3.4ms python-pptx AABB collision and 12pt floor check at zero token cost, followed by audit_deck_visual_quality() scoring shape density, typography, and visual area. Across the 83-slide First Aid deck and 69-slide Weather deck, switching to CLEAN_OPEN lifts average body text by +2.97pt to +3.28pt, expands right-hand diagram area by +21.7% (from 19.81 to 24.10 square inches), cuts OpenXML shapes by 55% to 68%, and lifts our Stage-2 visual quality score from 68.4 to 96.5 out of 100.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deck is generated, volunteer counselors need instant, zero-friction control to tailor slides for their troop without paying recurring LLM costs, while external AI assistants need structured programmatic access. On the left, our Interactive Co-Design Studio gives counselors a hover-revealed 1-of-3 on-stage visual switcher that swaps primary and Vision-captioned alternate pamphlet figures in under 50 milliseconds at $0.00 cost. Active filmstrip thumbnails expose plus, hide, up, and down micro-pills with 0-millisecond stationary scroll, per-slide container style overrides across Auto, Clean, Line, and Boxed layouts, and net-zero background PowerPoint rebuilds. Second, the 4-Tab Image Studio separates free operations (browsing 5,625 curated visuals (2,833 pamphlet figures and 2,792 Nano Banana illustrations), searching Wikimedia Commons via WebImageSearchAgent, or uploading local files) from paid AI generation, placing NanoBananaImageAgent behind an explicit $0.08 FinOps consent gate and automatic prompt verification. 31,443 precomputed slide facilitator notes load in under 5 milliseconds at $0.00 alongside a 3-target Edit Text modal, with an explicit FinOps confirmation modal (~$0.0008 per slide) before batch Gemini 2.5 Flash polishing. Finally, src/mcp_server.py exposes all 27 workbench capabilities over HTTP and Stdio: 15 tools, 7 bsa:// resources, and 5 guided prompts, complete with an in-app Interactive MCP Playground and 1-click setup for Claude Desktop, Gemini CLI, and Cursor.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walks through the four field-execution tools that power live Troop meetings and summer camp sessions. In the top-left quadrant, pressing P launches the Full-Size Presenter View, which auto-collapses the setup sidebar so the 16:9 slide stays at 890px+ width, pairs a 2-tier Float or Dock console with a 2nd Monitor pop-out synced in under 5 milliseconds via BroadcastChannel, and pins the Patrol Quiz Scoreboard above the stage with Space-key answer reveal. In the top-right quadrant, Multi-Badge Counselor Workspaces (My Decks) query the SQLite counselor_workspaces table to hot-swap active badges and camp sections in under 80 milliseconds, support 1-click Clone for New Section with isolated Blue Card rosters, and export or import portable .bsadeck.json archives. In the bottom-left quadrant, the Patrol Blue Card (#34124) Matrix and 4-Mode StudioKit organize badge requirements into a 3-column execution triage (In-Class, Hands-On, Prerequisite) with bulk roster paste, Scoutbook Plus CSV exports, printable 3-panel Blue Cards, dual-mode 548pt full-width single-column organizer Scout Workbooks, 1-click .ZIP class packets (/api/export/bundle-zip/{session_id}), Quartermaster gear lists for 1 to 16 Scouts, and 1-page handouts with 3 ISO 18004 QR codes. Finally, in the bottom-right quadrant, the sticky export split-button uploads .pptx files directly to Google Slides via Drive API v3 (application/vnd.google-apps.presentation) using a 3-tier OAuth2, ADC, and gcloud authentication cascade, alongside outdoor Sunlight Mode (2px black borders), Dark Mode, and the in-app 12-document Markdown reader (D).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breaks down our unit economics and three-tier Total Cost of Ownership, governed by config/finops_model_policy.json, verified by our executable scripts/cost_model.py sensitivity model, and enforced at runtime by FinOpsBudgetPlugin. In the top table on the left, we compare per-deck unit economics across four operating modes. Offline and Cached Demo Mode runs at $0.000 in under 50 milliseconds. A Warm Cache rerun at a 76 percent cache hit rate costs $0.006 to $0.020 and finishes in 1.5 to 2.5 seconds. Our default Cold Standard Warm Cream mode holds total deck cost to $0.184 (with a $0.38 ceiling) and $0.000 in runtime image spend because all 5,625 curated visual assets are pre-bundled. Even when counselors opt into Cold Dark Slate or AI Studio mode with runtime image generation, total cost is $0.704 and strictly capped at $1.00. In the bottom table, our executable scripts/cost_model.py models three deployment tiers: Tier 1 Single Troop generating 50 decks per month on scale-to-zero Cloud Run costs $7.91 per month ($2.91 variable plus $5.00 fixed GCP, or $0.158 per deck). Tier 2 for a 500-counselor council generating 1,500 decks per month costs $192.50 per month ($87.48 variable LLM and caching spend plus $105.02 fixed Cloud Run v2 and Cloud SQL, or $0.128 per deck), a 98.5 percent reduction compared to commercial SaaS. Tier 3 National Scale serving 100,000 decks per month across 50,000 counselors costs $5,400 per month ($4,120 variable plus $1,280 fixed HA infrastructure), driving unit cost down to 5.4 cents per deck. On the right, three engineering levers make these economics possible: 5,625 curated visual assets (6,064 total visual files hydrated via asset_hydrator.py) eliminating $1.20+ in runtime image synthesis, deliberate 79 percent Flash and 21 percent Pro routing with 75 percent Context Caching discount, and FinOpsBudgetPlugin enforcing a hard $1.00 circuit breaker.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our 11 Architectural Decision Records, our 220+ test automated verification harness across 45 test files, and our production telemetry architecture. First, ADR-01 establishes our 5-stage SequentialAgent pipeline with bounded LoopAgents and strict AgentTool search isolation, eliminating HTTP 400 tool collisions (FM-1) and achieving 100 percent sub-requirement coverage with 18 milliseconds of orchestration overhead. Second, ADR-02 governs our Hybrid BM25 plus Vector Reciprocal Rank Fusion retrieval at k=60, achieving 1.0000 Recall@3 and 1.0000 MRR in 1.8 milliseconds while cutting input tokens by 68 percent. Third, ADR-04 pairs our deterministic python-pptx OpenXML compiler and FM-2 binary-search font solver with a 3.4-millisecond Stage-1 Axis-Aligned Bounding Box geometry gate before Vision QA. Fourth, ADR-10 and ADR-11 pair our 4-tier CLEAN_OPEN style resolver (+2.97pt to +3.28pt larger body fonts and 96.5 out of 100 visual quality) with an explicit As-Built versus Phase 2 Enterprise Scope reconciliation matrix and honest dual latency telemetry separating SSE acknowledgement (first_status_event_ms at 12ms) from first LLM token generation (true_ttft_ms at 480ms). At the bottom, our verification bar enforces 11 ADRs and SHA-256 prompt manifests, 220+ passing pytest tests across 45 test files with zero warnings running in under 30 seconds at zero token cost, automated contract drift tests across all 162 OpenAPI 3.1 endpoints (168 HTTP operations) and 27 MCP capabilities, and our 20-badge Golden Evaluation Gate (scripts/run_eval.py) paired with OnlineProductionAuditSampler auditing 5 percent of live production traces.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Scouting America serves youth, security and Youth Protection cannot rely on prompt engineering alone. On the left, our six-layer defense-in-depth architecture enforces deterministic guardrails at every boundary. Layer 1 enforces BSA Youth Protection Two-Deep Leadership on every generated Parent Letter and Field Checklist, blocking any prompt or response that suggests one-on-one private adult-youth contact. Layer 2 runs scrub_pii_before_sink to redact emails, phone numbers, and SSNs before any payload reaches Vertex AI, SQLite, or Cloud Logging, injecting the counselor contact card locally only during final PowerPoint assembly. Layer 3 integrates regional Google Cloud Model Armor sanitizeUserPrompt and sanitizeModelResponse APIs with context-aware rules so legitimate First Aid and range-safety instruction passes while jailbreaks are blocked. Layer 4 locks canonical BSA requirement text with SHA-256 hashes, requires constant-time HMAC-SHA256 human-in-the-loop tokens, and writes to an append-only compliance attestation ledger. Layer 5 wraps model calls in thread-safe 3-state circuit breakers cascading from Gemini Pro to Flash to our deterministic layout engine with 100% survival under 429 and 503 fault injection, while restricting outbound requests strictly to scouting.org and wikimedia.org. Layer 6 provides zero-friction localhost authentication alongside signed HttpOnly HMAC-SHA256 cookies and Cloud IAP on Cloud Run. On the right, pressing Ctrl+Shift+A opens the 3-tab Super-User Admin Console, giving administrators a 149-badge image and Gemini Vision recaption studio alongside zero-PII latency and slide-swap telemetry.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out our architectural review, Slide 12 maps out our Physical GCP Security Perimeter, our ADR-11 As-Built versus Phase 2 Enterprise Scope reconciliation, and our 90-day national rollout path. In the top table, we distinguish between today's ADR-11 As-Built single-container prototype (running on Cloud Run v2 with embedded SQLite WAL across 12 normalized tables, 5,625 curated visuals (2,833 pamphlet figures and 2,792 Nano Banana illustrations) across all 149 Merit Badges including the 5 Test Lab Pilot badges, and a full automated pytest suite) and our Phase 1 through Phase 3 enterprise scale-out using CloudSQLPgVectorBackend with council_id row-level security, Cloud Tasks async render workers, and multi-region AlloyDB Omni HA. On the bottom left, our modular Terraform physical security perimeter (terraform/iam.tf plus main.tf with 4 GiB Cloud Run v2 memory) enforces defense-in-depth: requests pass through Cloud Armor WAF (120 RPM rate limit) and Global ALB into Cloud IAP with my.scouting.org OIDC single sign-on (verifying active Youth Protection Training at login), and then into least-privilege Cloud Run v2 service accounts inside a VPC Service Controls perimeter backed by Secret Manager, Cloud KMS 90-day CMEK rotation, Vertex AI Model Armor, and Cloud SQL pgvector. On the bottom right, we summarize the Single-Counselor and Multi-Session Clinic field impact and SRE readiness: verb-aligned fillable workbooks with the GTA 7.0.3.2 anti-add/subtract banner, 1-Page Class Preparation Pages (CPP), the 5-Part Non-Redundant Facilitator Guide, 4-Session and Double-Block clinic agendas with Snow-Day compression and Smart Partial classification, and 27 MCP capabilities.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1"/>
          <p:cNvSpPr txBox="1"/>
          <p:nvPr/>
        </p:nvSpPr>
        <p:spPr>
          <a:xfrm>
            <a:off x="5586413" y="4886325"/>
            <a:ext cx="3214688" cy="185738"/>
          </a:xfrm>
          <a:prstGeom prst="rect">
            <a:avLst/>
          </a:prstGeom>
          <a:noFill/>
          <a:ln>
            <a:noFill/>
          </a:ln>
          <a:effectLst/>
        </p:spPr>
        <p:txBody>
          <a:bodyPr wrap="none" anchor="ctr" lIns="0" rIns="0" tIns="40196" bIns="45530">
            <a:noAutofit/>
          </a:bodyPr>
          <a:lstStyle/>
          <a:p>
            <a:pPr algn="r">
              <a:lnSpc>
                <a:spcPct val="108330"/>
              </a:lnSpc>
              <a:spcBef>
                <a:spcPts val="0"/>
              </a:spcBef>
              <a:spcAft>
                <a:spcPts val="0"/>
              </a:spcAft>
            </a:pPr>
            <a:r>
              <a:rPr b="0" i="0" u="none" sz="600">
                <a:solidFill>
                  <a:srgbClr val="5F6368"/>
                </a:solidFill>
                <a:latin typeface="Google Sans"/>
              </a:rPr>
              <a:t>Confidential and Proprietary | </a:t>
            </a:r>
            <a:fld id="{B6F15528-21DE-4FAA-801E-634DDDAF4B2B}" type="slidenum">
              <a:rPr b="0" i="0" u="none" sz="600">
                <a:solidFill>
                  <a:srgbClr val="5F6368"/>
                </a:solidFill>
                <a:latin typeface="Google Sans"/>
              </a:rPr>
              <a:t>‹#›</a:t>
            </a:fld>
            <a:endParaRPr sz="600">
              <a:latin typeface="Google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cxnSp>
        <p:nvCxnSpPr>
          <p:cNvPr id="2" name="Connector 1"/>
          <p:cNvCxnSpPr/>
          <p:nvPr/>
        </p:nvCxnSpPr>
        <p:spPr>
          <a:xfrm>
            <a:off x="342900" y="2157413"/>
            <a:ext cx="4114800" cy="0"/>
          </a:xfrm>
          <a:prstGeom prst="straightConnector1">
            <a:avLst/>
          </a:prstGeom>
          <a:ln w="7144" cap="flat">
            <a:solidFill>
              <a:srgbClr val="DADCE0"/>
            </a:solidFill>
          </a:ln>
        </p:spPr>
      </p:cxnSp>
      <p:cxnSp>
        <p:nvCxnSpPr>
          <p:cNvPr id="3" name="Connector 2"/>
          <p:cNvCxnSpPr/>
          <p:nvPr/>
        </p:nvCxnSpPr>
        <p:spPr>
          <a:xfrm>
            <a:off x="342900" y="2957513"/>
            <a:ext cx="4114800" cy="0"/>
          </a:xfrm>
          <a:prstGeom prst="straightConnector1">
            <a:avLst/>
          </a:prstGeom>
          <a:ln w="7144" cap="flat">
            <a:solidFill>
              <a:srgbClr val="DADCE0"/>
            </a:solidFill>
          </a:ln>
        </p:spPr>
      </p:cxnSp>
      <p:cxnSp>
        <p:nvCxnSpPr>
          <p:cNvPr id="4" name="Connector 3"/>
          <p:cNvCxnSpPr/>
          <p:nvPr/>
        </p:nvCxnSpPr>
        <p:spPr>
          <a:xfrm>
            <a:off x="342900" y="3886200"/>
            <a:ext cx="8458200" cy="0"/>
          </a:xfrm>
          <a:prstGeom prst="straightConnector1">
            <a:avLst/>
          </a:prstGeom>
          <a:ln w="14288" cap="flat">
            <a:solidFill>
              <a:schemeClr val="accent1"/>
            </a:solidFill>
          </a:ln>
        </p:spPr>
      </p:cxnSp>
      <p:cxnSp>
        <p:nvCxnSpPr>
          <p:cNvPr id="5" name="Connector 4"/>
          <p:cNvCxnSpPr/>
          <p:nvPr/>
        </p:nvCxnSpPr>
        <p:spPr>
          <a:xfrm>
            <a:off x="2457450" y="3971925"/>
            <a:ext cx="0" cy="585788"/>
          </a:xfrm>
          <a:prstGeom prst="straightConnector1">
            <a:avLst/>
          </a:prstGeom>
          <a:ln w="7144" cap="flat">
            <a:solidFill>
              <a:srgbClr val="DADCE0"/>
            </a:solidFill>
          </a:ln>
        </p:spPr>
      </p:cxnSp>
      <p:cxnSp>
        <p:nvCxnSpPr>
          <p:cNvPr id="6" name="Connector 5"/>
          <p:cNvCxnSpPr/>
          <p:nvPr/>
        </p:nvCxnSpPr>
        <p:spPr>
          <a:xfrm>
            <a:off x="4572000" y="3971925"/>
            <a:ext cx="0" cy="585788"/>
          </a:xfrm>
          <a:prstGeom prst="straightConnector1">
            <a:avLst/>
          </a:prstGeom>
          <a:ln w="7144" cap="flat">
            <a:solidFill>
              <a:srgbClr val="DADCE0"/>
            </a:solidFill>
          </a:ln>
        </p:spPr>
      </p:cxnSp>
      <p:cxnSp>
        <p:nvCxnSpPr>
          <p:cNvPr id="7" name="Connector 6"/>
          <p:cNvCxnSpPr/>
          <p:nvPr/>
        </p:nvCxnSpPr>
        <p:spPr>
          <a:xfrm>
            <a:off x="6686550" y="3971925"/>
            <a:ext cx="0" cy="585788"/>
          </a:xfrm>
          <a:prstGeom prst="straightConnector1">
            <a:avLst/>
          </a:prstGeom>
          <a:ln w="7144" cap="flat">
            <a:solidFill>
              <a:srgbClr val="DADCE0"/>
            </a:solidFill>
          </a:ln>
        </p:spPr>
      </p:cxnSp>
      <p:sp>
        <p:nvSpPr>
          <p:cNvPr id="8" name="TextBox 7"/>
          <p:cNvSpPr txBox="1"/>
          <p:nvPr/>
        </p:nvSpPr>
        <p:spPr>
          <a:xfrm>
            <a:off x="342900" y="92869"/>
            <a:ext cx="8229600" cy="157163"/>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8">
                <a:solidFill>
                  <a:schemeClr val="accent1"/>
                </a:solidFill>
                <a:latin typeface="Google Sans"/>
              </a:rPr>
              <a:t>GOOGLE CLOUD FDE CAPSTONE EXECUTIVE READOUT | SCOUTS BSA MERIT BADGE COUNSELOR WORKBENCH</a:t>
            </a:r>
            <a:endParaRPr sz="900">
              <a:latin typeface="Google Sans"/>
            </a:endParaRPr>
          </a:p>
        </p:txBody>
      </p:sp>
      <p:sp>
        <p:nvSpPr>
          <p:cNvPr id="9" name="TextBox 8"/>
          <p:cNvSpPr txBox="1"/>
          <p:nvPr/>
        </p:nvSpPr>
        <p:spPr>
          <a:xfrm>
            <a:off x="342900" y="257175"/>
            <a:ext cx="8458200" cy="642938"/>
          </a:xfrm>
          <a:prstGeom prst="rect">
            <a:avLst/>
          </a:prstGeom>
          <a:noFill/>
          <a:ln>
            <a:noFill/>
          </a:ln>
          <a:effectLst/>
        </p:spPr>
        <p:txBody>
          <a:bodyPr wrap="square" anchor="t" lIns="0" rIns="0" tIns="4834" bIns="0">
            <a:noAutofit/>
          </a:bodyPr>
          <a:lstStyle/>
          <a:p>
            <a:pPr algn="l">
              <a:lnSpc>
                <a:spcPct val="87500"/>
              </a:lnSpc>
              <a:spcBef>
                <a:spcPts val="0"/>
              </a:spcBef>
              <a:spcAft>
                <a:spcPts val="0"/>
              </a:spcAft>
            </a:pPr>
            <a:r>
              <a:rPr b="1" i="0" u="none" sz="2100">
                <a:solidFill>
                  <a:schemeClr val="dk1"/>
                </a:solidFill>
                <a:latin typeface="Google Sans"/>
              </a:rPr>
              <a:t>Grounded 7-Agent Google ADK Workbench Compresses 8-15 Hours of Merit Badge Prep Into 90 Seconds</a:t>
            </a:r>
            <a:endParaRPr sz="2100">
              <a:latin typeface="Google Sans"/>
            </a:endParaRPr>
          </a:p>
        </p:txBody>
      </p:sp>
      <p:sp>
        <p:nvSpPr>
          <p:cNvPr id="10" name="TextBox 9"/>
          <p:cNvSpPr txBox="1"/>
          <p:nvPr/>
        </p:nvSpPr>
        <p:spPr>
          <a:xfrm>
            <a:off x="342900" y="978694"/>
            <a:ext cx="8472488" cy="357188"/>
          </a:xfrm>
          <a:prstGeom prst="rect">
            <a:avLst/>
          </a:prstGeom>
          <a:noFill/>
          <a:ln>
            <a:noFill/>
          </a:ln>
          <a:effectLst/>
        </p:spPr>
        <p:txBody>
          <a:bodyPr wrap="square" anchor="t" lIns="0" rIns="0" tIns="1844" bIns="0">
            <a:noAutofit/>
          </a:bodyPr>
          <a:lstStyle/>
          <a:p>
            <a:pPr algn="l">
              <a:lnSpc>
                <a:spcPct val="100000"/>
              </a:lnSpc>
              <a:spcBef>
                <a:spcPts val="0"/>
              </a:spcBef>
              <a:spcAft>
                <a:spcPts val="0"/>
              </a:spcAft>
            </a:pPr>
            <a:r>
              <a:rPr b="0" i="0" u="none" sz="1100">
                <a:solidFill>
                  <a:schemeClr val="accent5"/>
                </a:solidFill>
                <a:latin typeface="Google Sans"/>
              </a:rPr>
              <a:t>Production multi-agent curriculum, co-design, and classroom workbench for all 149 official Scouting America Merit Badges on Vertex AI Gemini 2.5 and Cloud Run | Presenter: Eric Clayberg (Troop 19, Middleton, MA)</a:t>
            </a:r>
            <a:endParaRPr sz="1100">
              <a:latin typeface="Google Sans"/>
            </a:endParaRPr>
          </a:p>
        </p:txBody>
      </p:sp>
      <p:pic>
        <p:nvPicPr>
          <p:cNvPr id="11" name="Picture 10" descr="0_el-3tbixv.png"/>
          <p:cNvPicPr>
            <a:picLocks noChangeAspect="1"/>
          </p:cNvPicPr>
          <p:nvPr/>
        </p:nvPicPr>
        <p:blipFill>
          <a:blip r:embed="rId2"/>
          <a:stretch>
            <a:fillRect/>
          </a:stretch>
        </p:blipFill>
        <p:spPr>
          <a:xfrm>
            <a:off x="342900" y="1450181"/>
            <a:ext cx="250031" cy="285750"/>
          </a:xfrm>
          <a:prstGeom prst="rect">
            <a:avLst/>
          </a:prstGeom>
        </p:spPr>
      </p:pic>
      <p:sp>
        <p:nvSpPr>
          <p:cNvPr id="12" name="TextBox 11"/>
          <p:cNvSpPr txBox="1"/>
          <p:nvPr/>
        </p:nvSpPr>
        <p:spPr>
          <a:xfrm>
            <a:off x="635794" y="1450181"/>
            <a:ext cx="3829050" cy="6286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1" i="0" u="none" sz="1000">
                <a:solidFill>
                  <a:schemeClr val="dk1"/>
                </a:solidFill>
                <a:latin typeface="Google Sans"/>
              </a:rPr>
              <a:t>149 Official Badges with 100% Verbatim Fidelity.</a:t>
            </a:r>
            <a:r>
              <a:rPr b="0" i="0" u="none" sz="1000">
                <a:solidFill>
                  <a:schemeClr val="dk1"/>
                </a:solidFill>
                <a:latin typeface="Google Sans"/>
              </a:rPr>
              <a:t> Cryptographic SHA-256 requirement lock prevents text drift across 5,625 curated visuals (2,833 figures, 2,792 Nano Banana visuals, 149 emblems &amp; covers) in 51 jurisdictions.</a:t>
            </a:r>
            <a:endParaRPr sz="1000">
              <a:latin typeface="Google Sans"/>
            </a:endParaRPr>
          </a:p>
        </p:txBody>
      </p:sp>
      <p:pic>
        <p:nvPicPr>
          <p:cNvPr id="13" name="Picture 12" descr="0_el-b328v0.png"/>
          <p:cNvPicPr>
            <a:picLocks noChangeAspect="1"/>
          </p:cNvPicPr>
          <p:nvPr/>
        </p:nvPicPr>
        <p:blipFill>
          <a:blip r:embed="rId3"/>
          <a:stretch>
            <a:fillRect/>
          </a:stretch>
        </p:blipFill>
        <p:spPr>
          <a:xfrm>
            <a:off x="342900" y="2235994"/>
            <a:ext cx="250031" cy="285750"/>
          </a:xfrm>
          <a:prstGeom prst="rect">
            <a:avLst/>
          </a:prstGeom>
        </p:spPr>
      </p:pic>
      <p:sp>
        <p:nvSpPr>
          <p:cNvPr id="14" name="TextBox 13"/>
          <p:cNvSpPr txBox="1"/>
          <p:nvPr/>
        </p:nvSpPr>
        <p:spPr>
          <a:xfrm>
            <a:off x="635794" y="2235994"/>
            <a:ext cx="3843338" cy="6286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1" i="0" u="none" sz="1000">
                <a:solidFill>
                  <a:schemeClr val="dk1"/>
                </a:solidFill>
                <a:latin typeface="Google Sans"/>
              </a:rPr>
              <a:t>Six Synchronized Deliverables &amp; Borderless Slide Engine.</a:t>
            </a:r>
            <a:r>
              <a:rPr b="0" i="0" u="none" sz="1000">
                <a:solidFill>
                  <a:schemeClr val="dk1"/>
                </a:solidFill>
                <a:latin typeface="Google Sans"/>
              </a:rPr>
              <a:t> Builds 16:9 decks (.PPTX &amp; Google Slides), 548pt workbooks, Blue Card (#34124) trackers, 4-mode agendas, gear lists &amp; .ZIP packets across 29 templates (9 families, 26 backdrops).</a:t>
            </a:r>
            <a:endParaRPr sz="1000">
              <a:latin typeface="Google Sans"/>
            </a:endParaRPr>
          </a:p>
        </p:txBody>
      </p:sp>
      <p:pic>
        <p:nvPicPr>
          <p:cNvPr id="15" name="Picture 14" descr="0_el-4dxz5m.png"/>
          <p:cNvPicPr>
            <a:picLocks noChangeAspect="1"/>
          </p:cNvPicPr>
          <p:nvPr/>
        </p:nvPicPr>
        <p:blipFill>
          <a:blip r:embed="rId4"/>
          <a:stretch>
            <a:fillRect/>
          </a:stretch>
        </p:blipFill>
        <p:spPr>
          <a:xfrm>
            <a:off x="342900" y="3036094"/>
            <a:ext cx="250031" cy="285750"/>
          </a:xfrm>
          <a:prstGeom prst="rect">
            <a:avLst/>
          </a:prstGeom>
        </p:spPr>
      </p:pic>
      <p:sp>
        <p:nvSpPr>
          <p:cNvPr id="16" name="TextBox 15"/>
          <p:cNvSpPr txBox="1"/>
          <p:nvPr/>
        </p:nvSpPr>
        <p:spPr>
          <a:xfrm>
            <a:off x="635794" y="3036094"/>
            <a:ext cx="3829050" cy="6286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1" i="0" u="none" sz="1000">
                <a:solidFill>
                  <a:schemeClr val="dk1"/>
                </a:solidFill>
                <a:latin typeface="Google Sans"/>
              </a:rPr>
              <a:t>27-Capability MCP Server &amp; Predictable FinOps.</a:t>
            </a:r>
            <a:r>
              <a:rPr b="0" i="0" u="none" sz="1000">
                <a:solidFill>
                  <a:schemeClr val="dk1"/>
                </a:solidFill>
                <a:latin typeface="Google Sans"/>
              </a:rPr>
              <a:t> Exposes 15 MCP tools, 7 bsa:// resources &amp; 5 prompts over JSON-RPC 2.0, holding cold builds to $0.184 ($0.006 warm, $1.00 cap) with 220+ pytest tests (45 files) &amp; 162 OpenAPI 3.1 endpoints.</a:t>
            </a:r>
            <a:endParaRPr sz="1000">
              <a:latin typeface="Google Sans"/>
            </a:endParaRPr>
          </a:p>
        </p:txBody>
      </p:sp>
      <p:pic>
        <p:nvPicPr>
          <p:cNvPr id="17" name="Picture 16" descr="image.png"/>
          <p:cNvPicPr>
            <a:picLocks noChangeAspect="1"/>
          </p:cNvPicPr>
          <p:nvPr/>
        </p:nvPicPr>
        <p:blipFill>
          <a:blip r:embed="rId5"/>
          <a:stretch>
            <a:fillRect/>
          </a:stretch>
        </p:blipFill>
        <p:spPr>
          <a:xfrm>
            <a:off x="4979194" y="1429367"/>
            <a:ext cx="3500438" cy="2056165"/>
          </a:xfrm>
          <a:prstGeom prst="rect">
            <a:avLst/>
          </a:prstGeom>
          <a:ln w="7143">
            <a:solidFill>
              <a:srgbClr val="1E293B"/>
            </a:solidFill>
          </a:ln>
        </p:spPr>
      </p:pic>
      <p:sp>
        <p:nvSpPr>
          <p:cNvPr id="18" name="TextBox 17"/>
          <p:cNvSpPr txBox="1"/>
          <p:nvPr/>
        </p:nvSpPr>
        <p:spPr>
          <a:xfrm>
            <a:off x="4521994" y="3557588"/>
            <a:ext cx="4436269" cy="157163"/>
          </a:xfrm>
          <a:prstGeom prst="rect">
            <a:avLst/>
          </a:prstGeom>
          <a:noFill/>
          <a:ln>
            <a:noFill/>
          </a:ln>
          <a:effectLst/>
        </p:spPr>
        <p:txBody>
          <a:bodyPr wrap="none" anchor="t" lIns="0" rIns="0" tIns="0" bIns="0">
            <a:noAutofit/>
          </a:bodyPr>
          <a:lstStyle/>
          <a:p>
            <a:pPr algn="ctr">
              <a:lnSpc>
                <a:spcPct val="95830"/>
              </a:lnSpc>
              <a:spcBef>
                <a:spcPts val="0"/>
              </a:spcBef>
              <a:spcAft>
                <a:spcPts val="0"/>
              </a:spcAft>
            </a:pPr>
            <a:r>
              <a:rPr b="0" i="0" u="none" sz="800">
                <a:solidFill>
                  <a:schemeClr val="accent5"/>
                </a:solidFill>
                <a:latin typeface="Google Sans"/>
              </a:rPr>
              <a:t>Dark Mode Workbench: First Aid Slide #1, 29 Templates &amp; Google Slides Export</a:t>
            </a:r>
            <a:endParaRPr sz="800">
              <a:latin typeface="Google Sans"/>
            </a:endParaRPr>
          </a:p>
        </p:txBody>
      </p:sp>
      <p:sp>
        <p:nvSpPr>
          <p:cNvPr id="19" name="TextBox 18"/>
          <p:cNvSpPr txBox="1"/>
          <p:nvPr/>
        </p:nvSpPr>
        <p:spPr>
          <a:xfrm>
            <a:off x="342900" y="3971925"/>
            <a:ext cx="2000250" cy="707231"/>
          </a:xfrm>
          <a:prstGeom prst="rect">
            <a:avLst/>
          </a:prstGeom>
          <a:noFill/>
          <a:ln>
            <a:noFill/>
          </a:ln>
          <a:effectLst/>
        </p:spPr>
        <p:txBody>
          <a:bodyPr wrap="square" anchor="t" lIns="0" rIns="0" tIns="7941" bIns="0">
            <a:noAutofit/>
          </a:bodyPr>
          <a:lstStyle/>
          <a:p>
            <a:pPr algn="l">
              <a:lnSpc>
                <a:spcPct val="104170"/>
              </a:lnSpc>
              <a:spcBef>
                <a:spcPts val="0"/>
              </a:spcBef>
              <a:spcAft>
                <a:spcPts val="0"/>
              </a:spcAft>
            </a:pPr>
            <a:r>
              <a:rPr b="1" i="0" u="none" sz="2000">
                <a:solidFill>
                  <a:srgbClr val="1A73E8"/>
                </a:solidFill>
                <a:latin typeface="Google Sans"/>
              </a:rPr>
              <a:t>149 / 149</a:t>
            </a:r>
            <a:endParaRPr sz="2000">
              <a:latin typeface="Google Sans"/>
            </a:endParaRPr>
          </a:p>
          <a:p>
            <a:pPr algn="l">
              <a:lnSpc>
                <a:spcPct val="104170"/>
              </a:lnSpc>
              <a:spcBef>
                <a:spcPts val="0"/>
              </a:spcBef>
              <a:spcAft>
                <a:spcPts val="0"/>
              </a:spcAft>
            </a:pPr>
            <a:r>
              <a:rPr b="0" i="0" u="none" sz="900">
                <a:solidFill>
                  <a:srgbClr val="5F6368"/>
                </a:solidFill>
                <a:latin typeface="Google Sans Medium"/>
              </a:rPr>
              <a:t>Official Badges &amp; 5,625 Curated Visuals</a:t>
            </a:r>
            <a:endParaRPr sz="900">
              <a:latin typeface="Google Sans Medium"/>
            </a:endParaRPr>
          </a:p>
        </p:txBody>
      </p:sp>
      <p:sp>
        <p:nvSpPr>
          <p:cNvPr id="20" name="TextBox 19"/>
          <p:cNvSpPr txBox="1"/>
          <p:nvPr/>
        </p:nvSpPr>
        <p:spPr>
          <a:xfrm>
            <a:off x="2571750" y="3971925"/>
            <a:ext cx="1885950" cy="707231"/>
          </a:xfrm>
          <a:prstGeom prst="rect">
            <a:avLst/>
          </a:prstGeom>
          <a:noFill/>
          <a:ln>
            <a:noFill/>
          </a:ln>
          <a:effectLst/>
        </p:spPr>
        <p:txBody>
          <a:bodyPr wrap="square" anchor="t" lIns="0" rIns="0" tIns="7941" bIns="0">
            <a:noAutofit/>
          </a:bodyPr>
          <a:lstStyle/>
          <a:p>
            <a:pPr algn="l">
              <a:lnSpc>
                <a:spcPct val="104170"/>
              </a:lnSpc>
              <a:spcBef>
                <a:spcPts val="0"/>
              </a:spcBef>
              <a:spcAft>
                <a:spcPts val="0"/>
              </a:spcAft>
            </a:pPr>
            <a:r>
              <a:rPr b="1" i="0" u="none" sz="2000">
                <a:solidFill>
                  <a:srgbClr val="1A73E8"/>
                </a:solidFill>
                <a:latin typeface="Google Sans"/>
              </a:rPr>
              <a:t>1.0000</a:t>
            </a:r>
            <a:endParaRPr sz="2000">
              <a:latin typeface="Google Sans"/>
            </a:endParaRPr>
          </a:p>
          <a:p>
            <a:pPr algn="l">
              <a:lnSpc>
                <a:spcPct val="104170"/>
              </a:lnSpc>
              <a:spcBef>
                <a:spcPts val="0"/>
              </a:spcBef>
              <a:spcAft>
                <a:spcPts val="0"/>
              </a:spcAft>
            </a:pPr>
            <a:r>
              <a:rPr b="0" i="0" u="none" sz="900">
                <a:solidFill>
                  <a:srgbClr val="5F6368"/>
                </a:solidFill>
                <a:latin typeface="Google Sans Medium"/>
              </a:rPr>
              <a:t>Hybrid BM25 + Vector RRF Recall@3 (1.8ms)</a:t>
            </a:r>
            <a:endParaRPr sz="900">
              <a:latin typeface="Google Sans Medium"/>
            </a:endParaRPr>
          </a:p>
        </p:txBody>
      </p:sp>
      <p:sp>
        <p:nvSpPr>
          <p:cNvPr id="21" name="TextBox 20"/>
          <p:cNvSpPr txBox="1"/>
          <p:nvPr/>
        </p:nvSpPr>
        <p:spPr>
          <a:xfrm>
            <a:off x="4686300" y="3971925"/>
            <a:ext cx="1885950" cy="564356"/>
          </a:xfrm>
          <a:prstGeom prst="rect">
            <a:avLst/>
          </a:prstGeom>
          <a:noFill/>
          <a:ln>
            <a:noFill/>
          </a:ln>
          <a:effectLst/>
        </p:spPr>
        <p:txBody>
          <a:bodyPr wrap="square" anchor="t" lIns="0" rIns="0" tIns="7941" bIns="0">
            <a:noAutofit/>
          </a:bodyPr>
          <a:lstStyle/>
          <a:p>
            <a:pPr algn="l">
              <a:lnSpc>
                <a:spcPct val="104170"/>
              </a:lnSpc>
              <a:spcBef>
                <a:spcPts val="0"/>
              </a:spcBef>
              <a:spcAft>
                <a:spcPts val="0"/>
              </a:spcAft>
            </a:pPr>
            <a:r>
              <a:rPr b="1" i="0" u="none" sz="2000">
                <a:solidFill>
                  <a:srgbClr val="1A73E8"/>
                </a:solidFill>
                <a:latin typeface="Google Sans"/>
              </a:rPr>
              <a:t>29 Templates</a:t>
            </a:r>
            <a:endParaRPr sz="2000">
              <a:latin typeface="Google Sans"/>
            </a:endParaRPr>
          </a:p>
          <a:p>
            <a:pPr algn="l">
              <a:lnSpc>
                <a:spcPct val="104170"/>
              </a:lnSpc>
              <a:spcBef>
                <a:spcPts val="0"/>
              </a:spcBef>
              <a:spcAft>
                <a:spcPts val="0"/>
              </a:spcAft>
            </a:pPr>
            <a:r>
              <a:rPr b="0" i="0" u="none" sz="900">
                <a:solidFill>
                  <a:srgbClr val="5F6368"/>
                </a:solidFill>
                <a:latin typeface="Google Sans Medium"/>
              </a:rPr>
              <a:t>9 Style Families + 26 Backdrops</a:t>
            </a:r>
            <a:endParaRPr sz="900">
              <a:latin typeface="Google Sans Medium"/>
            </a:endParaRPr>
          </a:p>
        </p:txBody>
      </p:sp>
      <p:sp>
        <p:nvSpPr>
          <p:cNvPr id="22" name="TextBox 21"/>
          <p:cNvSpPr txBox="1"/>
          <p:nvPr/>
        </p:nvSpPr>
        <p:spPr>
          <a:xfrm>
            <a:off x="6800850" y="3971925"/>
            <a:ext cx="2000250" cy="707231"/>
          </a:xfrm>
          <a:prstGeom prst="rect">
            <a:avLst/>
          </a:prstGeom>
          <a:noFill/>
          <a:ln>
            <a:noFill/>
          </a:ln>
          <a:effectLst/>
        </p:spPr>
        <p:txBody>
          <a:bodyPr wrap="square" anchor="t" lIns="0" rIns="0" tIns="7941" bIns="0">
            <a:noAutofit/>
          </a:bodyPr>
          <a:lstStyle/>
          <a:p>
            <a:pPr algn="l">
              <a:lnSpc>
                <a:spcPct val="104170"/>
              </a:lnSpc>
              <a:spcBef>
                <a:spcPts val="0"/>
              </a:spcBef>
              <a:spcAft>
                <a:spcPts val="0"/>
              </a:spcAft>
            </a:pPr>
            <a:r>
              <a:rPr b="1" i="0" u="none" sz="2000">
                <a:solidFill>
                  <a:srgbClr val="34A853"/>
                </a:solidFill>
                <a:latin typeface="Google Sans"/>
              </a:rPr>
              <a:t>$0.184</a:t>
            </a:r>
            <a:endParaRPr sz="2000">
              <a:latin typeface="Google Sans"/>
            </a:endParaRPr>
          </a:p>
          <a:p>
            <a:pPr algn="l">
              <a:lnSpc>
                <a:spcPct val="104170"/>
              </a:lnSpc>
              <a:spcBef>
                <a:spcPts val="0"/>
              </a:spcBef>
              <a:spcAft>
                <a:spcPts val="0"/>
              </a:spcAft>
            </a:pPr>
            <a:r>
              <a:rPr b="0" i="0" u="none" sz="900">
                <a:solidFill>
                  <a:srgbClr val="5F6368"/>
                </a:solidFill>
                <a:latin typeface="Google Sans Medium"/>
              </a:rPr>
              <a:t>Actual Cold LLM Spend ($192.50/mo Council TCO)</a:t>
            </a:r>
            <a:endParaRPr sz="900">
              <a:latin typeface="Google Sans Medium"/>
            </a:endParaRPr>
          </a:p>
        </p:txBody>
      </p:sp>
      <p:sp>
        <p:nvSpPr>
          <p:cNvPr id="23" name="TextBox 22"/>
          <p:cNvSpPr txBox="1"/>
          <p:nvPr/>
        </p:nvSpPr>
        <p:spPr>
          <a:xfrm>
            <a:off x="342900" y="4922044"/>
            <a:ext cx="5729288" cy="107156"/>
          </a:xfrm>
          <a:prstGeom prst="rect">
            <a:avLst/>
          </a:prstGeom>
          <a:noFill/>
          <a:ln>
            <a:noFill/>
          </a:ln>
          <a:effectLst/>
        </p:spPr>
        <p:txBody>
          <a:bodyPr wrap="none" anchor="t" lIns="0" rIns="0" tIns="19687" bIns="0">
            <a:noAutofit/>
          </a:bodyPr>
          <a:lstStyle/>
          <a:p>
            <a:pPr algn="l">
              <a:lnSpc>
                <a:spcPct val="91670"/>
              </a:lnSpc>
              <a:spcBef>
                <a:spcPts val="0"/>
              </a:spcBef>
              <a:spcAft>
                <a:spcPts val="0"/>
              </a:spcAft>
            </a:pPr>
            <a:r>
              <a:rPr b="0" i="0" u="none" sz="600">
                <a:solidFill>
                  <a:schemeClr val="accent5"/>
                </a:solidFill>
                <a:latin typeface="Google Sans"/>
              </a:rPr>
              <a:t>Source: scouts-bsa-merit-badge-agent V36 Baseline | 220+ Pytest Tests (45 Files) | 162 OpenAPI 3.1 Endpoints | 27 MCP Capabilities.</a:t>
            </a:r>
            <a:endParaRPr sz="600">
              <a:latin typeface="Google Sans"/>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200025"/>
            <a:ext cx="8458200" cy="628650"/>
          </a:xfrm>
          <a:prstGeom prst="rect">
            <a:avLst/>
          </a:prstGeom>
          <a:noFill/>
          <a:ln>
            <a:noFill/>
          </a:ln>
          <a:effectLst/>
        </p:spPr>
        <p:txBody>
          <a:bodyPr wrap="square" anchor="t" lIns="0" rIns="0" tIns="7147" bIns="0">
            <a:noAutofit/>
          </a:bodyPr>
          <a:lstStyle/>
          <a:p>
            <a:pPr algn="l">
              <a:lnSpc>
                <a:spcPct val="104170"/>
              </a:lnSpc>
              <a:spcBef>
                <a:spcPts val="0"/>
              </a:spcBef>
              <a:spcAft>
                <a:spcPts val="0"/>
              </a:spcAft>
            </a:pPr>
            <a:r>
              <a:rPr b="0" i="0" u="none" sz="1800">
                <a:solidFill>
                  <a:schemeClr val="dk1"/>
                </a:solidFill>
                <a:latin typeface="Google Sans Medium"/>
              </a:rPr>
              <a:t>Volunteer Counselors Spend 8 to 15 Hours Per Badge Rebuilding Slides, Workbooks &amp; Blue Cards by Hand</a:t>
            </a:r>
            <a:endParaRPr sz="1800">
              <a:latin typeface="Google Sans Medium"/>
            </a:endParaRPr>
          </a:p>
        </p:txBody>
      </p:sp>
      <p:sp>
        <p:nvSpPr>
          <p:cNvPr id="3" name="TextBox 2"/>
          <p:cNvSpPr txBox="1"/>
          <p:nvPr/>
        </p:nvSpPr>
        <p:spPr>
          <a:xfrm>
            <a:off x="342900" y="828675"/>
            <a:ext cx="1893094" cy="378619"/>
          </a:xfrm>
          <a:prstGeom prst="rect">
            <a:avLst/>
          </a:prstGeom>
          <a:noFill/>
          <a:ln>
            <a:noFill/>
          </a:ln>
          <a:effectLst/>
        </p:spPr>
        <p:txBody>
          <a:bodyPr wrap="none" anchor="t" lIns="0" rIns="0" tIns="9529" bIns="0">
            <a:noAutofit/>
          </a:bodyPr>
          <a:lstStyle/>
          <a:p>
            <a:pPr algn="l">
              <a:lnSpc>
                <a:spcPct val="104170"/>
              </a:lnSpc>
              <a:spcBef>
                <a:spcPts val="0"/>
              </a:spcBef>
              <a:spcAft>
                <a:spcPts val="0"/>
              </a:spcAft>
            </a:pPr>
            <a:r>
              <a:rPr b="1" i="0" u="none" sz="2400">
                <a:solidFill>
                  <a:schemeClr val="accent2"/>
                </a:solidFill>
                <a:latin typeface="Google Sans"/>
              </a:rPr>
              <a:t>8 to 15 hrs</a:t>
            </a:r>
            <a:endParaRPr sz="2400">
              <a:latin typeface="Google Sans"/>
            </a:endParaRPr>
          </a:p>
        </p:txBody>
      </p:sp>
      <p:sp>
        <p:nvSpPr>
          <p:cNvPr id="4" name="TextBox 3"/>
          <p:cNvSpPr txBox="1"/>
          <p:nvPr/>
        </p:nvSpPr>
        <p:spPr>
          <a:xfrm>
            <a:off x="342900" y="1243013"/>
            <a:ext cx="3071813" cy="178594"/>
          </a:xfrm>
          <a:prstGeom prst="rect">
            <a:avLst/>
          </a:prstGeom>
          <a:noFill/>
          <a:ln>
            <a:noFill/>
          </a:ln>
          <a:effectLst/>
        </p:spPr>
        <p:txBody>
          <a:bodyPr wrap="none" anchor="t" lIns="0" rIns="0" tIns="3971" bIns="0">
            <a:noAutofit/>
          </a:bodyPr>
          <a:lstStyle/>
          <a:p>
            <a:pPr algn="l">
              <a:lnSpc>
                <a:spcPct val="104170"/>
              </a:lnSpc>
              <a:spcBef>
                <a:spcPts val="0"/>
              </a:spcBef>
              <a:spcAft>
                <a:spcPts val="0"/>
              </a:spcAft>
            </a:pPr>
            <a:r>
              <a:rPr b="1" i="0" u="none" sz="1000">
                <a:solidFill>
                  <a:schemeClr val="dk1"/>
                </a:solidFill>
                <a:latin typeface="Google Sans"/>
              </a:rPr>
              <a:t>Manual weekend prep per Merit Badge</a:t>
            </a:r>
            <a:endParaRPr sz="1000">
              <a:latin typeface="Google Sans"/>
            </a:endParaRPr>
          </a:p>
        </p:txBody>
      </p:sp>
      <p:sp>
        <p:nvSpPr>
          <p:cNvPr id="5" name="TextBox 4"/>
          <p:cNvSpPr txBox="1"/>
          <p:nvPr/>
        </p:nvSpPr>
        <p:spPr>
          <a:xfrm>
            <a:off x="342900" y="1428750"/>
            <a:ext cx="2928938" cy="507206"/>
          </a:xfrm>
          <a:prstGeom prst="rect">
            <a:avLst/>
          </a:prstGeom>
          <a:noFill/>
          <a:ln>
            <a:noFill/>
          </a:ln>
          <a:effectLst/>
        </p:spPr>
        <p:txBody>
          <a:bodyPr wrap="square" anchor="t" lIns="0" rIns="0" tIns="5346" bIns="0">
            <a:noAutofit/>
          </a:bodyPr>
          <a:lstStyle/>
          <a:p>
            <a:pPr algn="l">
              <a:lnSpc>
                <a:spcPct val="106670"/>
              </a:lnSpc>
              <a:spcBef>
                <a:spcPts val="0"/>
              </a:spcBef>
              <a:spcAft>
                <a:spcPts val="0"/>
              </a:spcAft>
            </a:pPr>
            <a:r>
              <a:rPr b="0" i="0" u="none" sz="1000">
                <a:solidFill>
                  <a:schemeClr val="accent5"/>
                </a:solidFill>
                <a:latin typeface="Google Sans"/>
              </a:rPr>
              <a:t>Volunteer counselors cross-reference 80-page pamphlets, copy sub-requirements (1a..15b), crop figures, and build Blue Card trackers by hand.</a:t>
            </a:r>
            <a:endParaRPr sz="1000">
              <a:latin typeface="Google Sans"/>
            </a:endParaRPr>
          </a:p>
        </p:txBody>
      </p:sp>
      <p:sp>
        <p:nvSpPr>
          <p:cNvPr id="6" name="TextBox 5"/>
          <p:cNvSpPr txBox="1"/>
          <p:nvPr/>
        </p:nvSpPr>
        <p:spPr>
          <a:xfrm>
            <a:off x="342900" y="2185988"/>
            <a:ext cx="3071813" cy="414338"/>
          </a:xfrm>
          <a:prstGeom prst="rect">
            <a:avLst/>
          </a:prstGeom>
          <a:noFill/>
          <a:ln>
            <a:noFill/>
          </a:ln>
          <a:effectLst/>
        </p:spPr>
        <p:txBody>
          <a:bodyPr wrap="none" anchor="t" lIns="0" rIns="0" tIns="9529" bIns="0">
            <a:noAutofit/>
          </a:bodyPr>
          <a:lstStyle/>
          <a:p>
            <a:pPr algn="l">
              <a:lnSpc>
                <a:spcPct val="104170"/>
              </a:lnSpc>
              <a:spcBef>
                <a:spcPts val="0"/>
              </a:spcBef>
              <a:spcAft>
                <a:spcPts val="0"/>
              </a:spcAft>
            </a:pPr>
            <a:r>
              <a:rPr b="1" i="0" u="none" sz="2400">
                <a:solidFill>
                  <a:schemeClr val="accent1"/>
                </a:solidFill>
                <a:latin typeface="Google Sans"/>
              </a:rPr>
              <a:t>149 Badges</a:t>
            </a:r>
            <a:endParaRPr sz="2400">
              <a:latin typeface="Google Sans"/>
            </a:endParaRPr>
          </a:p>
        </p:txBody>
      </p:sp>
      <p:sp>
        <p:nvSpPr>
          <p:cNvPr id="7" name="TextBox 6"/>
          <p:cNvSpPr txBox="1"/>
          <p:nvPr/>
        </p:nvSpPr>
        <p:spPr>
          <a:xfrm>
            <a:off x="342900" y="2600325"/>
            <a:ext cx="3071813" cy="178594"/>
          </a:xfrm>
          <a:prstGeom prst="rect">
            <a:avLst/>
          </a:prstGeom>
          <a:noFill/>
          <a:ln>
            <a:noFill/>
          </a:ln>
          <a:effectLst/>
        </p:spPr>
        <p:txBody>
          <a:bodyPr wrap="none" anchor="t" lIns="0" rIns="0" tIns="3971" bIns="0">
            <a:noAutofit/>
          </a:bodyPr>
          <a:lstStyle/>
          <a:p>
            <a:pPr algn="l">
              <a:lnSpc>
                <a:spcPct val="104170"/>
              </a:lnSpc>
              <a:spcBef>
                <a:spcPts val="0"/>
              </a:spcBef>
              <a:spcAft>
                <a:spcPts val="0"/>
              </a:spcAft>
            </a:pPr>
            <a:r>
              <a:rPr b="1" i="0" u="none" sz="1000">
                <a:solidFill>
                  <a:schemeClr val="dk1"/>
                </a:solidFill>
                <a:latin typeface="Google Sans"/>
              </a:rPr>
              <a:t>Strict Guide to Advancement §7.0.4.7 lock</a:t>
            </a:r>
            <a:endParaRPr sz="1000">
              <a:latin typeface="Google Sans"/>
            </a:endParaRPr>
          </a:p>
        </p:txBody>
      </p:sp>
      <p:sp>
        <p:nvSpPr>
          <p:cNvPr id="8" name="TextBox 7"/>
          <p:cNvSpPr txBox="1"/>
          <p:nvPr/>
        </p:nvSpPr>
        <p:spPr>
          <a:xfrm>
            <a:off x="342900" y="2786063"/>
            <a:ext cx="2928938" cy="507206"/>
          </a:xfrm>
          <a:prstGeom prst="rect">
            <a:avLst/>
          </a:prstGeom>
          <a:noFill/>
          <a:ln>
            <a:noFill/>
          </a:ln>
          <a:effectLst/>
        </p:spPr>
        <p:txBody>
          <a:bodyPr wrap="square" anchor="t" lIns="0" rIns="0" tIns="5346" bIns="0">
            <a:noAutofit/>
          </a:bodyPr>
          <a:lstStyle/>
          <a:p>
            <a:pPr algn="l">
              <a:lnSpc>
                <a:spcPct val="106670"/>
              </a:lnSpc>
              <a:spcBef>
                <a:spcPts val="0"/>
              </a:spcBef>
              <a:spcAft>
                <a:spcPts val="0"/>
              </a:spcAft>
            </a:pPr>
            <a:r>
              <a:rPr b="0" i="0" u="none" sz="1000">
                <a:solidFill>
                  <a:schemeClr val="accent5"/>
                </a:solidFill>
                <a:latin typeface="Google Sans"/>
              </a:rPr>
              <a:t>Counselors cannot add, omit, or paraphrase any sub-requirement across Volunteer Counselors, Advancement Directors, and Scouts ages 11-17.</a:t>
            </a:r>
            <a:endParaRPr sz="1000">
              <a:latin typeface="Google Sans"/>
            </a:endParaRPr>
          </a:p>
        </p:txBody>
      </p:sp>
      <p:sp>
        <p:nvSpPr>
          <p:cNvPr id="9" name="TextBox 8"/>
          <p:cNvSpPr txBox="1"/>
          <p:nvPr/>
        </p:nvSpPr>
        <p:spPr>
          <a:xfrm>
            <a:off x="342900" y="3514725"/>
            <a:ext cx="3071813" cy="414338"/>
          </a:xfrm>
          <a:prstGeom prst="rect">
            <a:avLst/>
          </a:prstGeom>
          <a:noFill/>
          <a:ln>
            <a:noFill/>
          </a:ln>
          <a:effectLst/>
        </p:spPr>
        <p:txBody>
          <a:bodyPr wrap="none" anchor="t" lIns="0" rIns="0" tIns="9529" bIns="0">
            <a:noAutofit/>
          </a:bodyPr>
          <a:lstStyle/>
          <a:p>
            <a:pPr algn="l">
              <a:lnSpc>
                <a:spcPct val="104170"/>
              </a:lnSpc>
              <a:spcBef>
                <a:spcPts val="0"/>
              </a:spcBef>
              <a:spcAft>
                <a:spcPts val="0"/>
              </a:spcAft>
            </a:pPr>
            <a:r>
              <a:rPr b="1" i="0" u="none" sz="2400">
                <a:solidFill>
                  <a:schemeClr val="accent4"/>
                </a:solidFill>
                <a:latin typeface="Google Sans"/>
              </a:rPr>
              <a:t>51 Jurisdictions</a:t>
            </a:r>
            <a:endParaRPr sz="2400">
              <a:latin typeface="Google Sans"/>
            </a:endParaRPr>
          </a:p>
        </p:txBody>
      </p:sp>
      <p:sp>
        <p:nvSpPr>
          <p:cNvPr id="10" name="TextBox 9"/>
          <p:cNvSpPr txBox="1"/>
          <p:nvPr/>
        </p:nvSpPr>
        <p:spPr>
          <a:xfrm>
            <a:off x="342900" y="3929063"/>
            <a:ext cx="3071813" cy="178594"/>
          </a:xfrm>
          <a:prstGeom prst="rect">
            <a:avLst/>
          </a:prstGeom>
          <a:noFill/>
          <a:ln>
            <a:noFill/>
          </a:ln>
          <a:effectLst/>
        </p:spPr>
        <p:txBody>
          <a:bodyPr wrap="none" anchor="t" lIns="0" rIns="0" tIns="3971" bIns="0">
            <a:noAutofit/>
          </a:bodyPr>
          <a:lstStyle/>
          <a:p>
            <a:pPr algn="l">
              <a:lnSpc>
                <a:spcPct val="104170"/>
              </a:lnSpc>
              <a:spcBef>
                <a:spcPts val="0"/>
              </a:spcBef>
              <a:spcAft>
                <a:spcPts val="0"/>
              </a:spcAft>
            </a:pPr>
            <a:r>
              <a:rPr b="1" i="0" u="none" sz="1000">
                <a:solidFill>
                  <a:schemeClr val="dk1"/>
                </a:solidFill>
                <a:latin typeface="Google Sans"/>
              </a:rPr>
              <a:t>Hyper-local field &amp; civic context required</a:t>
            </a:r>
            <a:endParaRPr sz="1000">
              <a:latin typeface="Google Sans"/>
            </a:endParaRPr>
          </a:p>
        </p:txBody>
      </p:sp>
      <p:sp>
        <p:nvSpPr>
          <p:cNvPr id="11" name="TextBox 10"/>
          <p:cNvSpPr txBox="1"/>
          <p:nvPr/>
        </p:nvSpPr>
        <p:spPr>
          <a:xfrm>
            <a:off x="342900" y="4114800"/>
            <a:ext cx="2928938" cy="664369"/>
          </a:xfrm>
          <a:prstGeom prst="rect">
            <a:avLst/>
          </a:prstGeom>
          <a:noFill/>
          <a:ln>
            <a:noFill/>
          </a:ln>
          <a:effectLst/>
        </p:spPr>
        <p:txBody>
          <a:bodyPr wrap="square" anchor="t" lIns="0" rIns="0" tIns="5346" bIns="0">
            <a:noAutofit/>
          </a:bodyPr>
          <a:lstStyle/>
          <a:p>
            <a:pPr algn="l">
              <a:lnSpc>
                <a:spcPct val="106670"/>
              </a:lnSpc>
              <a:spcBef>
                <a:spcPts val="0"/>
              </a:spcBef>
              <a:spcAft>
                <a:spcPts val="0"/>
              </a:spcAft>
            </a:pPr>
            <a:r>
              <a:rPr b="0" i="0" u="none" sz="1000">
                <a:solidFill>
                  <a:schemeClr val="accent5"/>
                </a:solidFill>
                <a:latin typeface="Google Sans"/>
              </a:rPr>
              <a:t>Requires local NOAA weather offices, state conservation laws, regional hazards, and U.S. Senators with youth PII and Scoutbook write-backs out of scope.</a:t>
            </a:r>
            <a:endParaRPr sz="1000">
              <a:latin typeface="Google Sans"/>
            </a:endParaRPr>
          </a:p>
        </p:txBody>
      </p:sp>
      <p:cxnSp>
        <p:nvCxnSpPr>
          <p:cNvPr id="12" name="Connector 11"/>
          <p:cNvCxnSpPr/>
          <p:nvPr/>
        </p:nvCxnSpPr>
        <p:spPr>
          <a:xfrm>
            <a:off x="342900" y="2057400"/>
            <a:ext cx="2928938" cy="0"/>
          </a:xfrm>
          <a:prstGeom prst="straightConnector1">
            <a:avLst/>
          </a:prstGeom>
          <a:ln w="7144" cap="flat">
            <a:solidFill>
              <a:srgbClr val="DADCE0"/>
            </a:solidFill>
          </a:ln>
        </p:spPr>
      </p:cxnSp>
      <p:cxnSp>
        <p:nvCxnSpPr>
          <p:cNvPr id="13" name="Connector 12"/>
          <p:cNvCxnSpPr/>
          <p:nvPr/>
        </p:nvCxnSpPr>
        <p:spPr>
          <a:xfrm>
            <a:off x="342900" y="3386138"/>
            <a:ext cx="2928938" cy="0"/>
          </a:xfrm>
          <a:prstGeom prst="straightConnector1">
            <a:avLst/>
          </a:prstGeom>
          <a:ln w="7144" cap="flat">
            <a:solidFill>
              <a:srgbClr val="DADCE0"/>
            </a:solidFill>
          </a:ln>
        </p:spPr>
      </p:cxnSp>
      <p:graphicFrame>
        <p:nvGraphicFramePr>
          <p:cNvPr id="14" name="Table 13"/>
          <p:cNvGraphicFramePr>
            <a:graphicFrameLocks noGrp="1"/>
          </p:cNvGraphicFramePr>
          <p:nvPr/>
        </p:nvGraphicFramePr>
        <p:xfrm>
          <a:off x="3475434" y="842963"/>
          <a:ext cx="5329238" cy="2738959"/>
        </p:xfrm>
        <a:graphic>
          <a:graphicData uri="http://schemas.openxmlformats.org/drawingml/2006/table">
            <a:tbl>
              <a:tblPr firstRow="1" bandRow="0">
                <a:tableStyleId>{2D5ABB26-0587-4C30-8999-92F81FD0307C}</a:tableStyleId>
              </a:tblPr>
              <a:tblGrid>
                <a:gridCol w="1257300"/>
                <a:gridCol w="1814513"/>
                <a:gridCol w="2257425"/>
              </a:tblGrid>
              <a:tr h="421481">
                <a:tc>
                  <a:txBody>
                    <a:bodyPr wrap="none"/>
                    <a:lstStyle/>
                    <a:p>
                      <a:pPr algn="l">
                        <a:lnSpc>
                          <a:spcPct val="104170"/>
                        </a:lnSpc>
                        <a:spcBef>
                          <a:spcPts val="0"/>
                        </a:spcBef>
                        <a:spcAft>
                          <a:spcPts val="0"/>
                        </a:spcAft>
                      </a:pPr>
                      <a:r>
                        <a:rPr b="1" i="0" u="none" sz="900">
                          <a:solidFill>
                            <a:schemeClr val="lt1"/>
                          </a:solidFill>
                          <a:latin typeface="Google Sans"/>
                        </a:rPr>
                        <a:t>Dimension</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accent1"/>
                    </a:solidFill>
                  </a:tcPr>
                </a:tc>
                <a:tc>
                  <a:txBody>
                    <a:bodyPr wrap="square"/>
                    <a:lstStyle/>
                    <a:p>
                      <a:pPr algn="l">
                        <a:lnSpc>
                          <a:spcPct val="104170"/>
                        </a:lnSpc>
                        <a:spcBef>
                          <a:spcPts val="0"/>
                        </a:spcBef>
                        <a:spcAft>
                          <a:spcPts val="0"/>
                        </a:spcAft>
                      </a:pPr>
                      <a:r>
                        <a:rPr b="1" i="0" u="none" sz="900">
                          <a:solidFill>
                            <a:schemeClr val="lt1"/>
                          </a:solidFill>
                          <a:latin typeface="Google Sans"/>
                        </a:rPr>
                        <a:t>Manual / NotebookLM &amp; Agentspace</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accent1"/>
                    </a:solidFill>
                  </a:tcPr>
                </a:tc>
                <a:tc>
                  <a:txBody>
                    <a:bodyPr wrap="square"/>
                    <a:lstStyle/>
                    <a:p>
                      <a:pPr algn="l">
                        <a:lnSpc>
                          <a:spcPct val="104170"/>
                        </a:lnSpc>
                        <a:spcBef>
                          <a:spcPts val="0"/>
                        </a:spcBef>
                        <a:spcAft>
                          <a:spcPts val="0"/>
                        </a:spcAft>
                      </a:pPr>
                      <a:r>
                        <a:rPr b="1" i="0" u="none" sz="900">
                          <a:solidFill>
                            <a:schemeClr val="lt1"/>
                          </a:solidFill>
                          <a:latin typeface="Google Sans"/>
                        </a:rPr>
                        <a:t>Pro-Code 7-Agent Google ADK Workbench</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accent1"/>
                    </a:solidFill>
                  </a:tcPr>
                </a:tc>
              </a:tr>
              <a:tr h="585788">
                <a:tc>
                  <a:txBody>
                    <a:bodyPr wrap="square"/>
                    <a:lstStyle/>
                    <a:p>
                      <a:pPr algn="l">
                        <a:lnSpc>
                          <a:spcPct val="106670"/>
                        </a:lnSpc>
                        <a:spcBef>
                          <a:spcPts val="0"/>
                        </a:spcBef>
                        <a:spcAft>
                          <a:spcPts val="0"/>
                        </a:spcAft>
                      </a:pPr>
                      <a:r>
                        <a:rPr b="1" i="0" u="none" sz="900">
                          <a:solidFill>
                            <a:schemeClr val="dk1"/>
                          </a:solidFill>
                          <a:latin typeface="Google Sans"/>
                        </a:rPr>
                        <a:t>Requirement Fidelity &amp; Drift</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6670"/>
                        </a:lnSpc>
                        <a:spcBef>
                          <a:spcPts val="0"/>
                        </a:spcBef>
                        <a:spcAft>
                          <a:spcPts val="0"/>
                        </a:spcAft>
                      </a:pPr>
                      <a:r>
                        <a:rPr b="0" i="0" u="none" sz="900">
                          <a:solidFill>
                            <a:schemeClr val="accent5"/>
                          </a:solidFill>
                          <a:latin typeface="Google Sans"/>
                        </a:rPr>
                        <a:t>Drops leaf sub-reqs (14% omission); no 3-level option unrolling</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6670"/>
                        </a:lnSpc>
                        <a:spcBef>
                          <a:spcPts val="0"/>
                        </a:spcBef>
                        <a:spcAft>
                          <a:spcPts val="0"/>
                        </a:spcAft>
                      </a:pPr>
                      <a:r>
                        <a:rPr b="0" i="0" u="none" sz="900">
                          <a:solidFill>
                            <a:srgbClr val="137333"/>
                          </a:solidFill>
                          <a:latin typeface="Google Sans"/>
                        </a:rPr>
                        <a:t>100% Recall (1.00) + SHA-256 Lock + 21 Multi-Option (44-Track) Unrolling</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F6FEF9"/>
                    </a:solidFill>
                  </a:tcPr>
                </a:tc>
              </a:tr>
              <a:tr h="571500">
                <a:tc>
                  <a:txBody>
                    <a:bodyPr wrap="square"/>
                    <a:lstStyle/>
                    <a:p>
                      <a:pPr algn="l">
                        <a:lnSpc>
                          <a:spcPct val="106670"/>
                        </a:lnSpc>
                        <a:spcBef>
                          <a:spcPts val="0"/>
                        </a:spcBef>
                        <a:spcAft>
                          <a:spcPts val="0"/>
                        </a:spcAft>
                      </a:pPr>
                      <a:r>
                        <a:rPr b="1" i="0" u="none" sz="900">
                          <a:solidFill>
                            <a:schemeClr val="dk1"/>
                          </a:solidFill>
                          <a:latin typeface="Google Sans"/>
                        </a:rPr>
                        <a:t>Slide Layout &amp; Visual Quality</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F8F9FA"/>
                    </a:solidFill>
                  </a:tcPr>
                </a:tc>
                <a:tc>
                  <a:txBody>
                    <a:bodyPr wrap="square"/>
                    <a:lstStyle/>
                    <a:p>
                      <a:pPr algn="l">
                        <a:lnSpc>
                          <a:spcPct val="106670"/>
                        </a:lnSpc>
                        <a:spcBef>
                          <a:spcPts val="0"/>
                        </a:spcBef>
                        <a:spcAft>
                          <a:spcPts val="0"/>
                        </a:spcAft>
                      </a:pPr>
                      <a:r>
                        <a:rPr b="0" i="0" u="none" sz="900">
                          <a:solidFill>
                            <a:schemeClr val="accent5"/>
                          </a:solidFill>
                          <a:latin typeface="Google Sans"/>
                        </a:rPr>
                        <a:t>No 1:1 OpenXML .pptx compiler; nested cards crush text to 12pt</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F8F9FA"/>
                    </a:solidFill>
                  </a:tcPr>
                </a:tc>
                <a:tc>
                  <a:txBody>
                    <a:bodyPr wrap="square"/>
                    <a:lstStyle/>
                    <a:p>
                      <a:pPr algn="l">
                        <a:lnSpc>
                          <a:spcPct val="106670"/>
                        </a:lnSpc>
                        <a:spcBef>
                          <a:spcPts val="0"/>
                        </a:spcBef>
                        <a:spcAft>
                          <a:spcPts val="0"/>
                        </a:spcAft>
                      </a:pPr>
                      <a:r>
                        <a:rPr b="0" i="0" u="none" sz="900">
                          <a:solidFill>
                            <a:srgbClr val="137333"/>
                          </a:solidFill>
                          <a:latin typeface="Google Sans"/>
                        </a:rPr>
                        <a:t>1:1 OpenXML .pptx + CLEAN_OPEN (+3.1pt text, 0 AABB overlaps in 3.4ms)</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EEFAF2"/>
                    </a:solidFill>
                  </a:tcPr>
                </a:tc>
              </a:tr>
              <a:tr h="574402">
                <a:tc>
                  <a:txBody>
                    <a:bodyPr wrap="square"/>
                    <a:lstStyle/>
                    <a:p>
                      <a:pPr algn="l">
                        <a:lnSpc>
                          <a:spcPct val="106670"/>
                        </a:lnSpc>
                        <a:spcBef>
                          <a:spcPts val="0"/>
                        </a:spcBef>
                        <a:spcAft>
                          <a:spcPts val="0"/>
                        </a:spcAft>
                      </a:pPr>
                      <a:r>
                        <a:rPr b="1" i="0" u="none" sz="900">
                          <a:solidFill>
                            <a:schemeClr val="dk1"/>
                          </a:solidFill>
                          <a:latin typeface="Google Sans"/>
                        </a:rPr>
                        <a:t>Visual Assets &amp; Local Context</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6670"/>
                        </a:lnSpc>
                        <a:spcBef>
                          <a:spcPts val="0"/>
                        </a:spcBef>
                        <a:spcAft>
                          <a:spcPts val="0"/>
                        </a:spcAft>
                      </a:pPr>
                      <a:r>
                        <a:rPr b="0" i="0" u="none" sz="900">
                          <a:solidFill>
                            <a:schemeClr val="accent5"/>
                          </a:solidFill>
                          <a:latin typeface="Google Sans"/>
                        </a:rPr>
                        <a:t>Chat-only summaries; hallucinated diagrams; zero 51-state grounding</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6670"/>
                        </a:lnSpc>
                        <a:spcBef>
                          <a:spcPts val="0"/>
                        </a:spcBef>
                        <a:spcAft>
                          <a:spcPts val="0"/>
                        </a:spcAft>
                      </a:pPr>
                      <a:r>
                        <a:rPr b="0" i="0" u="none" sz="900">
                          <a:solidFill>
                            <a:srgbClr val="137333"/>
                          </a:solidFill>
                          <a:latin typeface="Google Sans"/>
                        </a:rPr>
                        <a:t>5,625 curated visuals (2,833 de-boxed pamphlet figures + 2,792 AI scenes) + 51-State Registry</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F6FEF9"/>
                    </a:solidFill>
                  </a:tcPr>
                </a:tc>
              </a:tr>
              <a:tr h="585788">
                <a:tc>
                  <a:txBody>
                    <a:bodyPr wrap="square"/>
                    <a:lstStyle/>
                    <a:p>
                      <a:pPr algn="l">
                        <a:lnSpc>
                          <a:spcPct val="106670"/>
                        </a:lnSpc>
                        <a:spcBef>
                          <a:spcPts val="0"/>
                        </a:spcBef>
                        <a:spcAft>
                          <a:spcPts val="0"/>
                        </a:spcAft>
                      </a:pPr>
                      <a:r>
                        <a:rPr b="1" i="0" u="none" sz="900">
                          <a:solidFill>
                            <a:schemeClr val="dk1"/>
                          </a:solidFill>
                          <a:latin typeface="Google Sans"/>
                        </a:rPr>
                        <a:t>Build Latency, Cost &amp; Youth Safety</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F8F9FA"/>
                    </a:solidFill>
                  </a:tcPr>
                </a:tc>
                <a:tc>
                  <a:txBody>
                    <a:bodyPr wrap="square"/>
                    <a:lstStyle/>
                    <a:p>
                      <a:pPr algn="l">
                        <a:lnSpc>
                          <a:spcPct val="106670"/>
                        </a:lnSpc>
                        <a:spcBef>
                          <a:spcPts val="0"/>
                        </a:spcBef>
                        <a:spcAft>
                          <a:spcPts val="0"/>
                        </a:spcAft>
                      </a:pPr>
                      <a:r>
                        <a:rPr b="0" i="0" u="none" sz="900">
                          <a:solidFill>
                            <a:schemeClr val="accent5"/>
                          </a:solidFill>
                          <a:latin typeface="Google Sans"/>
                        </a:rPr>
                        <a:t>8 to 15 hrs manual or $1.60+ unverified calls; no HITL gates</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F8F9FA"/>
                    </a:solidFill>
                  </a:tcPr>
                </a:tc>
                <a:tc>
                  <a:txBody>
                    <a:bodyPr wrap="square"/>
                    <a:lstStyle/>
                    <a:p>
                      <a:pPr algn="l">
                        <a:lnSpc>
                          <a:spcPct val="106670"/>
                        </a:lnSpc>
                        <a:spcBef>
                          <a:spcPts val="0"/>
                        </a:spcBef>
                        <a:spcAft>
                          <a:spcPts val="0"/>
                        </a:spcAft>
                      </a:pPr>
                      <a:r>
                        <a:rPr b="0" i="0" u="none" sz="900">
                          <a:solidFill>
                            <a:srgbClr val="137333"/>
                          </a:solidFill>
                          <a:latin typeface="Google Sans"/>
                        </a:rPr>
                        <a:t>&lt;2.5s warm (&lt;25s cold) at $0.184 LLM spend + HMAC-SHA256 HITL Gate</a:t>
                      </a:r>
                      <a:endParaRPr sz="900">
                        <a:latin typeface="Google Sans"/>
                      </a:endParaRPr>
                    </a:p>
                  </a:txBody>
                  <a:tcPr anchor="ctr" marL="89297" marR="89297" marT="67866" marB="67866">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DADCE0"/>
                      </a:solidFill>
                      <a:prstDash val="solid"/>
                    </a:lnB>
                    <a:solidFill>
                      <a:srgbClr val="EEFAF2"/>
                    </a:solidFill>
                  </a:tcPr>
                </a:tc>
              </a:tr>
            </a:tbl>
          </a:graphicData>
        </a:graphic>
      </p:graphicFrame>
      <p:sp>
        <p:nvSpPr>
          <p:cNvPr id="15" name="Rounded Rectangle 14"/>
          <p:cNvSpPr/>
          <p:nvPr/>
        </p:nvSpPr>
        <p:spPr>
          <a:xfrm>
            <a:off x="3471863" y="3657600"/>
            <a:ext cx="5329238" cy="942975"/>
          </a:xfrm>
          <a:prstGeom prst="roundRect">
            <a:avLst>
              <a:gd name="adj" fmla="val 303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title="slideops:meta r=b s=l c=4px_solid_#1a73e8 p=486,512,746,132"/>
          <p:cNvSpPr/>
          <p:nvPr/>
        </p:nvSpPr>
        <p:spPr>
          <a:xfrm>
            <a:off x="3471863" y="3657600"/>
            <a:ext cx="28575" cy="942975"/>
          </a:xfrm>
          <a:custGeom>
            <a:avLst/>
            <a:gdLst/>
            <a:ahLst/>
            <a:cxnLst/>
            <a:rect l="l" t="t" r="r" b="b"/>
            <a:pathLst>
              <a:path w="28575" h="942975">
                <a:moveTo>
                  <a:pt x="14287" y="0"/>
                </a:moveTo>
                <a:lnTo>
                  <a:pt x="28575" y="0"/>
                </a:lnTo>
                <a:lnTo>
                  <a:pt x="28575" y="942975"/>
                </a:lnTo>
                <a:lnTo>
                  <a:pt x="14287" y="942975"/>
                </a:lnTo>
                <a:arcTo wR="14287" hR="28575" stAng="5400000" swAng="5400000"/>
                <a:lnTo>
                  <a:pt x="0" y="28575"/>
                </a:lnTo>
                <a:arcTo wR="14287" hR="28575" stAng="10800000" swAng="5400000"/>
                <a:close/>
              </a:path>
            </a:pathLst>
          </a:cu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9025" y="3757613"/>
            <a:ext cx="5064919" cy="392906"/>
          </a:xfrm>
          <a:prstGeom prst="rect">
            <a:avLst/>
          </a:prstGeom>
          <a:noFill/>
          <a:ln>
            <a:noFill/>
          </a:ln>
          <a:effectLst/>
        </p:spPr>
        <p:txBody>
          <a:bodyPr wrap="square" anchor="t" lIns="0" rIns="0" tIns="9747" bIns="0">
            <a:noAutofit/>
          </a:bodyPr>
          <a:lstStyle/>
          <a:p>
            <a:pPr algn="l">
              <a:lnSpc>
                <a:spcPct val="114670"/>
              </a:lnSpc>
              <a:spcBef>
                <a:spcPts val="0"/>
              </a:spcBef>
              <a:spcAft>
                <a:spcPts val="0"/>
              </a:spcAft>
            </a:pPr>
            <a:r>
              <a:rPr b="1" i="0" u="none" sz="1000">
                <a:solidFill>
                  <a:schemeClr val="dk1"/>
                </a:solidFill>
                <a:latin typeface="Google Sans"/>
              </a:rPr>
              <a:t>Build-vs-Buy Defense &amp; Scope Governance (SPEC.md &amp; SCOPE.md)</a:t>
            </a:r>
            <a:endParaRPr sz="1000">
              <a:latin typeface="Google Sans"/>
            </a:endParaRPr>
          </a:p>
          <a:p>
            <a:pPr algn="l">
              <a:lnSpc>
                <a:spcPct val="119430"/>
              </a:lnSpc>
              <a:spcBef>
                <a:spcPts val="86"/>
              </a:spcBef>
              <a:spcAft>
                <a:spcPts val="0"/>
              </a:spcAft>
            </a:pPr>
            <a:r>
              <a:rPr b="1" i="0" u="none" sz="900">
                <a:solidFill>
                  <a:schemeClr val="dk1"/>
                </a:solidFill>
                <a:latin typeface="Google Sans"/>
              </a:rPr>
              <a:t>Why Pro-Code ADK:</a:t>
            </a:r>
            <a:r>
              <a:rPr b="0" i="0" u="none" sz="900">
                <a:solidFill>
                  <a:schemeClr val="dk1"/>
                </a:solidFill>
                <a:latin typeface="Google Sans"/>
              </a:rPr>
              <a:t> NotebookLM/Agentspace lack 1:1 OpenXML, SHA-256 &amp; HITL gates.</a:t>
            </a:r>
            <a:endParaRPr sz="900">
              <a:latin typeface="Google Sans"/>
            </a:endParaRPr>
          </a:p>
        </p:txBody>
      </p:sp>
      <p:sp>
        <p:nvSpPr>
          <p:cNvPr id="18" name="TextBox 17"/>
          <p:cNvSpPr txBox="1"/>
          <p:nvPr/>
        </p:nvSpPr>
        <p:spPr>
          <a:xfrm>
            <a:off x="3629025" y="4164806"/>
            <a:ext cx="5043488" cy="350044"/>
          </a:xfrm>
          <a:prstGeom prst="rect">
            <a:avLst/>
          </a:prstGeom>
          <a:noFill/>
          <a:ln>
            <a:noFill/>
          </a:ln>
          <a:effectLst/>
        </p:spPr>
        <p:txBody>
          <a:bodyPr wrap="square" anchor="t" lIns="0" rIns="0" tIns="7178" bIns="0">
            <a:noAutofit/>
          </a:bodyPr>
          <a:lstStyle/>
          <a:p>
            <a:pPr algn="l">
              <a:lnSpc>
                <a:spcPct val="110000"/>
              </a:lnSpc>
              <a:spcBef>
                <a:spcPts val="0"/>
              </a:spcBef>
              <a:spcAft>
                <a:spcPts val="0"/>
              </a:spcAft>
            </a:pPr>
            <a:r>
              <a:rPr b="1" i="0" u="none" sz="1000">
                <a:solidFill>
                  <a:schemeClr val="accent5"/>
                </a:solidFill>
                <a:latin typeface="Google Sans"/>
              </a:rPr>
              <a:t>In-Scope:</a:t>
            </a:r>
            <a:r>
              <a:rPr b="0" i="0" u="none" sz="1000">
                <a:solidFill>
                  <a:schemeClr val="accent5"/>
                </a:solidFill>
                <a:latin typeface="Google Sans"/>
              </a:rPr>
              <a:t> 6 classroom deliverables across 149 badges (21 multi-option / 44 tracks unrolled). </a:t>
            </a:r>
            <a:r>
              <a:rPr b="1" i="0" u="none" sz="1000">
                <a:solidFill>
                  <a:schemeClr val="accent5"/>
                </a:solidFill>
                <a:latin typeface="Google Sans"/>
              </a:rPr>
              <a:t>Out-of-Scope:</a:t>
            </a:r>
            <a:r>
              <a:rPr b="0" i="0" u="none" sz="1000">
                <a:solidFill>
                  <a:schemeClr val="accent5"/>
                </a:solidFill>
                <a:latin typeface="Google Sans"/>
              </a:rPr>
              <a:t> Scoutbook write-backs, auto-grading, or storing youth PII.</a:t>
            </a:r>
            <a:endParaRPr sz="1000">
              <a:latin typeface="Google Sans"/>
            </a:endParaRPr>
          </a:p>
        </p:txBody>
      </p:sp>
      <p:sp>
        <p:nvSpPr>
          <p:cNvPr id="19" name="TextBox 18"/>
          <p:cNvSpPr txBox="1"/>
          <p:nvPr/>
        </p:nvSpPr>
        <p:spPr>
          <a:xfrm>
            <a:off x="342900" y="4914900"/>
            <a:ext cx="8772525" cy="142875"/>
          </a:xfrm>
          <a:prstGeom prst="rect">
            <a:avLst/>
          </a:prstGeom>
          <a:noFill/>
          <a:ln>
            <a:noFill/>
          </a:ln>
          <a:effectLst/>
        </p:spPr>
        <p:txBody>
          <a:bodyPr wrap="none" anchor="t" lIns="0" rIns="0" tIns="51012" bIns="0">
            <a:noAutofit/>
          </a:bodyPr>
          <a:lstStyle/>
          <a:p>
            <a:pPr algn="l">
              <a:lnSpc>
                <a:spcPct val="100000"/>
              </a:lnSpc>
              <a:spcBef>
                <a:spcPts val="0"/>
              </a:spcBef>
              <a:spcAft>
                <a:spcPts val="0"/>
              </a:spcAft>
            </a:pPr>
            <a:r>
              <a:rPr b="0" i="0" u="none" sz="600">
                <a:solidFill>
                  <a:schemeClr val="accent5"/>
                </a:solidFill>
                <a:latin typeface="Google Sans"/>
              </a:rPr>
              <a:t>Source: SPEC.md (§1-§3), SCOPE.md (§1-§4) | Grounded in field instruction for Troop 19 (Middleton, MA, Spirit of Adventure Council).</a:t>
            </a:r>
            <a:endParaRPr sz="600">
              <a:latin typeface="Google Sans"/>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71450"/>
            <a:ext cx="8458200" cy="628650"/>
          </a:xfrm>
          <a:prstGeom prst="rect">
            <a:avLst/>
          </a:prstGeom>
          <a:noFill/>
          <a:ln>
            <a:noFill/>
          </a:ln>
          <a:effectLst/>
        </p:spPr>
        <p:txBody>
          <a:bodyPr wrap="square" anchor="t" lIns="0" rIns="0" tIns="7147" bIns="0">
            <a:noAutofit/>
          </a:bodyPr>
          <a:lstStyle/>
          <a:p>
            <a:pPr algn="l">
              <a:lnSpc>
                <a:spcPct val="104170"/>
              </a:lnSpc>
              <a:spcBef>
                <a:spcPts val="0"/>
              </a:spcBef>
              <a:spcAft>
                <a:spcPts val="0"/>
              </a:spcAft>
            </a:pPr>
            <a:r>
              <a:rPr b="0" i="0" u="none" sz="1800">
                <a:solidFill>
                  <a:schemeClr val="dk1"/>
                </a:solidFill>
                <a:latin typeface="Google Sans Medium"/>
              </a:rPr>
              <a:t>Four Guided Journeys Take Counselors From Badge Selection to Signed Blue Cards in Under 2 Minutes</a:t>
            </a:r>
            <a:endParaRPr sz="1800">
              <a:latin typeface="Google Sans Medium"/>
            </a:endParaRPr>
          </a:p>
        </p:txBody>
      </p:sp>
      <p:sp>
        <p:nvSpPr>
          <p:cNvPr id="3" name="Rectangle 2"/>
          <p:cNvSpPr/>
          <p:nvPr/>
        </p:nvSpPr>
        <p:spPr>
          <a:xfrm>
            <a:off x="342900" y="828675"/>
            <a:ext cx="2000250" cy="285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2_el-1n01ga.png"/>
          <p:cNvPicPr>
            <a:picLocks noChangeAspect="1"/>
          </p:cNvPicPr>
          <p:nvPr/>
        </p:nvPicPr>
        <p:blipFill>
          <a:blip r:embed="rId2"/>
          <a:stretch>
            <a:fillRect/>
          </a:stretch>
        </p:blipFill>
        <p:spPr>
          <a:xfrm>
            <a:off x="342900" y="914400"/>
            <a:ext cx="228600" cy="207169"/>
          </a:xfrm>
          <a:prstGeom prst="rect">
            <a:avLst/>
          </a:prstGeom>
        </p:spPr>
      </p:pic>
      <p:sp>
        <p:nvSpPr>
          <p:cNvPr id="5" name="TextBox 4"/>
          <p:cNvSpPr txBox="1"/>
          <p:nvPr/>
        </p:nvSpPr>
        <p:spPr>
          <a:xfrm>
            <a:off x="614363" y="921544"/>
            <a:ext cx="1178719"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22">
                <a:solidFill>
                  <a:schemeClr val="accent1"/>
                </a:solidFill>
                <a:latin typeface="Google Sans"/>
              </a:rPr>
              <a:t>STAGE 1 (CUJ-1)</a:t>
            </a:r>
            <a:endParaRPr sz="900">
              <a:latin typeface="Google Sans"/>
            </a:endParaRPr>
          </a:p>
        </p:txBody>
      </p:sp>
      <p:sp>
        <p:nvSpPr>
          <p:cNvPr id="6" name="TextBox 5"/>
          <p:cNvSpPr txBox="1"/>
          <p:nvPr/>
        </p:nvSpPr>
        <p:spPr>
          <a:xfrm>
            <a:off x="342900" y="1100138"/>
            <a:ext cx="2093119" cy="185738"/>
          </a:xfrm>
          <a:prstGeom prst="rect">
            <a:avLst/>
          </a:prstGeom>
          <a:noFill/>
          <a:ln>
            <a:noFill/>
          </a:ln>
          <a:effectLst/>
        </p:spPr>
        <p:txBody>
          <a:bodyPr wrap="none" anchor="t" lIns="0" rIns="0" tIns="0" bIns="0">
            <a:noAutofit/>
          </a:bodyPr>
          <a:lstStyle/>
          <a:p>
            <a:pPr algn="l">
              <a:lnSpc>
                <a:spcPct val="95830"/>
              </a:lnSpc>
              <a:spcBef>
                <a:spcPts val="0"/>
              </a:spcBef>
              <a:spcAft>
                <a:spcPts val="0"/>
              </a:spcAft>
            </a:pPr>
            <a:r>
              <a:rPr b="1" i="0" u="none" sz="1100">
                <a:solidFill>
                  <a:schemeClr val="dk1"/>
                </a:solidFill>
                <a:latin typeface="Google Sans"/>
              </a:rPr>
              <a:t>Discover, Ground &amp; Style</a:t>
            </a:r>
            <a:endParaRPr sz="1100">
              <a:latin typeface="Google Sans"/>
            </a:endParaRPr>
          </a:p>
        </p:txBody>
      </p:sp>
      <p:sp>
        <p:nvSpPr>
          <p:cNvPr id="7" name="TextBox 6"/>
          <p:cNvSpPr txBox="1"/>
          <p:nvPr/>
        </p:nvSpPr>
        <p:spPr>
          <a:xfrm>
            <a:off x="342900" y="1300163"/>
            <a:ext cx="2000250" cy="13144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0" i="0" u="none" sz="1000">
                <a:solidFill>
                  <a:schemeClr val="dk1"/>
                </a:solidFill>
                <a:latin typeface="Google Sans"/>
              </a:rPr>
              <a:t>Filter 149 badges or browse 400x400 Patch Gallery (+ Favorites); set local ZIP (51 jurisdictions); pick 29 templates (9 Style Families, 26 backdrops) &amp; 4 Layout Presets (Clean default) with Save Default Style.</a:t>
            </a:r>
            <a:endParaRPr sz="1000">
              <a:latin typeface="Google Sans"/>
            </a:endParaRPr>
          </a:p>
        </p:txBody>
      </p:sp>
      <p:sp>
        <p:nvSpPr>
          <p:cNvPr id="8" name="Rectangle 7"/>
          <p:cNvSpPr/>
          <p:nvPr/>
        </p:nvSpPr>
        <p:spPr>
          <a:xfrm>
            <a:off x="2493169" y="828675"/>
            <a:ext cx="2000250" cy="285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_el-m676ho.png"/>
          <p:cNvPicPr>
            <a:picLocks noChangeAspect="1"/>
          </p:cNvPicPr>
          <p:nvPr/>
        </p:nvPicPr>
        <p:blipFill>
          <a:blip r:embed="rId3"/>
          <a:stretch>
            <a:fillRect/>
          </a:stretch>
        </p:blipFill>
        <p:spPr>
          <a:xfrm>
            <a:off x="2493169" y="914400"/>
            <a:ext cx="228600" cy="207169"/>
          </a:xfrm>
          <a:prstGeom prst="rect">
            <a:avLst/>
          </a:prstGeom>
        </p:spPr>
      </p:pic>
      <p:sp>
        <p:nvSpPr>
          <p:cNvPr id="10" name="TextBox 9"/>
          <p:cNvSpPr txBox="1"/>
          <p:nvPr/>
        </p:nvSpPr>
        <p:spPr>
          <a:xfrm>
            <a:off x="2764631" y="921544"/>
            <a:ext cx="1207294"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22">
                <a:solidFill>
                  <a:schemeClr val="accent1"/>
                </a:solidFill>
                <a:latin typeface="Google Sans"/>
              </a:rPr>
              <a:t>STAGE 2 (CUJ-2)</a:t>
            </a:r>
            <a:endParaRPr sz="900">
              <a:latin typeface="Google Sans"/>
            </a:endParaRPr>
          </a:p>
        </p:txBody>
      </p:sp>
      <p:sp>
        <p:nvSpPr>
          <p:cNvPr id="11" name="TextBox 10"/>
          <p:cNvSpPr txBox="1"/>
          <p:nvPr/>
        </p:nvSpPr>
        <p:spPr>
          <a:xfrm>
            <a:off x="2493169" y="1100138"/>
            <a:ext cx="2100263" cy="185738"/>
          </a:xfrm>
          <a:prstGeom prst="rect">
            <a:avLst/>
          </a:prstGeom>
          <a:noFill/>
          <a:ln>
            <a:noFill/>
          </a:ln>
          <a:effectLst/>
        </p:spPr>
        <p:txBody>
          <a:bodyPr wrap="none" anchor="t" lIns="0" rIns="0" tIns="0" bIns="0">
            <a:noAutofit/>
          </a:bodyPr>
          <a:lstStyle/>
          <a:p>
            <a:pPr algn="l">
              <a:lnSpc>
                <a:spcPct val="95830"/>
              </a:lnSpc>
              <a:spcBef>
                <a:spcPts val="0"/>
              </a:spcBef>
              <a:spcAft>
                <a:spcPts val="0"/>
              </a:spcAft>
            </a:pPr>
            <a:r>
              <a:rPr b="1" i="0" u="none" sz="1100">
                <a:solidFill>
                  <a:schemeClr val="dk1"/>
                </a:solidFill>
                <a:latin typeface="Google Sans"/>
              </a:rPr>
              <a:t>Stream ADK &amp; Navigate</a:t>
            </a:r>
            <a:endParaRPr sz="1100">
              <a:latin typeface="Google Sans"/>
            </a:endParaRPr>
          </a:p>
        </p:txBody>
      </p:sp>
      <p:sp>
        <p:nvSpPr>
          <p:cNvPr id="12" name="TextBox 11"/>
          <p:cNvSpPr txBox="1"/>
          <p:nvPr/>
        </p:nvSpPr>
        <p:spPr>
          <a:xfrm>
            <a:off x="2493169" y="1300163"/>
            <a:ext cx="2000250" cy="13144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0" i="0" u="none" sz="1000">
                <a:solidFill>
                  <a:schemeClr val="dk1"/>
                </a:solidFill>
                <a:latin typeface="Google Sans"/>
              </a:rPr>
              <a:t>Watch 3 pre-loaded 14-frame Scout construction animations (3D Heavy Equipment, 2D Pioneering, 3D Slide-O-Matic) with live SSE progress; navigate via 42px Stage Toolbar (Overview jump, Template swatches, timer).</a:t>
            </a:r>
            <a:endParaRPr sz="1000">
              <a:latin typeface="Google Sans"/>
            </a:endParaRPr>
          </a:p>
        </p:txBody>
      </p:sp>
      <p:sp>
        <p:nvSpPr>
          <p:cNvPr id="13" name="Rectangle 12"/>
          <p:cNvSpPr/>
          <p:nvPr/>
        </p:nvSpPr>
        <p:spPr>
          <a:xfrm>
            <a:off x="4650581" y="828675"/>
            <a:ext cx="2000250" cy="285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2_el-aeih5a.png"/>
          <p:cNvPicPr>
            <a:picLocks noChangeAspect="1"/>
          </p:cNvPicPr>
          <p:nvPr/>
        </p:nvPicPr>
        <p:blipFill>
          <a:blip r:embed="rId4"/>
          <a:stretch>
            <a:fillRect/>
          </a:stretch>
        </p:blipFill>
        <p:spPr>
          <a:xfrm>
            <a:off x="4650581" y="914400"/>
            <a:ext cx="228600" cy="207169"/>
          </a:xfrm>
          <a:prstGeom prst="rect">
            <a:avLst/>
          </a:prstGeom>
        </p:spPr>
      </p:pic>
      <p:sp>
        <p:nvSpPr>
          <p:cNvPr id="15" name="TextBox 14"/>
          <p:cNvSpPr txBox="1"/>
          <p:nvPr/>
        </p:nvSpPr>
        <p:spPr>
          <a:xfrm>
            <a:off x="4922044" y="921544"/>
            <a:ext cx="1807369" cy="171450"/>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22">
                <a:solidFill>
                  <a:schemeClr val="accent1"/>
                </a:solidFill>
                <a:latin typeface="Google Sans"/>
              </a:rPr>
              <a:t>STAGE 3 (CUJ-3A)</a:t>
            </a:r>
            <a:endParaRPr sz="900">
              <a:latin typeface="Google Sans"/>
            </a:endParaRPr>
          </a:p>
        </p:txBody>
      </p:sp>
      <p:sp>
        <p:nvSpPr>
          <p:cNvPr id="16" name="TextBox 15"/>
          <p:cNvSpPr txBox="1"/>
          <p:nvPr/>
        </p:nvSpPr>
        <p:spPr>
          <a:xfrm>
            <a:off x="4650581" y="1100138"/>
            <a:ext cx="2093119" cy="185738"/>
          </a:xfrm>
          <a:prstGeom prst="rect">
            <a:avLst/>
          </a:prstGeom>
          <a:noFill/>
          <a:ln>
            <a:noFill/>
          </a:ln>
          <a:effectLst/>
        </p:spPr>
        <p:txBody>
          <a:bodyPr wrap="none" anchor="t" lIns="0" rIns="0" tIns="0" bIns="0">
            <a:noAutofit/>
          </a:bodyPr>
          <a:lstStyle/>
          <a:p>
            <a:pPr algn="l">
              <a:lnSpc>
                <a:spcPct val="95830"/>
              </a:lnSpc>
              <a:spcBef>
                <a:spcPts val="0"/>
              </a:spcBef>
              <a:spcAft>
                <a:spcPts val="0"/>
              </a:spcAft>
            </a:pPr>
            <a:r>
              <a:rPr b="1" i="0" u="none" sz="1100">
                <a:solidFill>
                  <a:schemeClr val="dk1"/>
                </a:solidFill>
                <a:latin typeface="Google Sans"/>
              </a:rPr>
              <a:t>Co-Design &amp; Polish</a:t>
            </a:r>
            <a:endParaRPr sz="1100">
              <a:latin typeface="Google Sans"/>
            </a:endParaRPr>
          </a:p>
        </p:txBody>
      </p:sp>
      <p:sp>
        <p:nvSpPr>
          <p:cNvPr id="17" name="TextBox 16"/>
          <p:cNvSpPr txBox="1"/>
          <p:nvPr/>
        </p:nvSpPr>
        <p:spPr>
          <a:xfrm>
            <a:off x="4650581" y="1300163"/>
            <a:ext cx="2000250" cy="13144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0" i="0" u="none" sz="1000">
                <a:solidFill>
                  <a:schemeClr val="dk1"/>
                </a:solidFill>
                <a:latin typeface="Google Sans"/>
              </a:rPr>
              <a:t>Reorder, hide, or add slides via filmstrip micro-pills (+, hide, up, down) with 0ms stationary scroll and $0.00 net-zero .PPTX rebuilds; cycle visuals in &lt;50ms (1/3 switcher) or run FinOps AI Polish (~$0.0008/slide).</a:t>
            </a:r>
            <a:endParaRPr sz="1000">
              <a:latin typeface="Google Sans"/>
            </a:endParaRPr>
          </a:p>
        </p:txBody>
      </p:sp>
      <p:sp>
        <p:nvSpPr>
          <p:cNvPr id="18" name="Rectangle 17"/>
          <p:cNvSpPr/>
          <p:nvPr/>
        </p:nvSpPr>
        <p:spPr>
          <a:xfrm>
            <a:off x="6800850" y="828675"/>
            <a:ext cx="2000250" cy="2857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2_el-opv2rc.png"/>
          <p:cNvPicPr>
            <a:picLocks noChangeAspect="1"/>
          </p:cNvPicPr>
          <p:nvPr/>
        </p:nvPicPr>
        <p:blipFill>
          <a:blip r:embed="rId5"/>
          <a:stretch>
            <a:fillRect/>
          </a:stretch>
        </p:blipFill>
        <p:spPr>
          <a:xfrm>
            <a:off x="6800850" y="914400"/>
            <a:ext cx="228600" cy="207169"/>
          </a:xfrm>
          <a:prstGeom prst="rect">
            <a:avLst/>
          </a:prstGeom>
        </p:spPr>
      </p:pic>
      <p:sp>
        <p:nvSpPr>
          <p:cNvPr id="20" name="TextBox 19"/>
          <p:cNvSpPr txBox="1"/>
          <p:nvPr/>
        </p:nvSpPr>
        <p:spPr>
          <a:xfrm>
            <a:off x="7072313" y="921544"/>
            <a:ext cx="2043113" cy="171450"/>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22">
                <a:solidFill>
                  <a:schemeClr val="accent4"/>
                </a:solidFill>
                <a:latin typeface="Google Sans"/>
              </a:rPr>
              <a:t>STAGE 4 (CUJ-3B)</a:t>
            </a:r>
            <a:endParaRPr sz="900">
              <a:latin typeface="Google Sans"/>
            </a:endParaRPr>
          </a:p>
        </p:txBody>
      </p:sp>
      <p:sp>
        <p:nvSpPr>
          <p:cNvPr id="21" name="TextBox 20"/>
          <p:cNvSpPr txBox="1"/>
          <p:nvPr/>
        </p:nvSpPr>
        <p:spPr>
          <a:xfrm>
            <a:off x="6800850" y="1100138"/>
            <a:ext cx="2307431" cy="185738"/>
          </a:xfrm>
          <a:prstGeom prst="rect">
            <a:avLst/>
          </a:prstGeom>
          <a:noFill/>
          <a:ln>
            <a:noFill/>
          </a:ln>
          <a:effectLst/>
        </p:spPr>
        <p:txBody>
          <a:bodyPr wrap="none" anchor="t" lIns="0" rIns="0" tIns="0" bIns="0">
            <a:noAutofit/>
          </a:bodyPr>
          <a:lstStyle/>
          <a:p>
            <a:pPr algn="l">
              <a:lnSpc>
                <a:spcPct val="95830"/>
              </a:lnSpc>
              <a:spcBef>
                <a:spcPts val="0"/>
              </a:spcBef>
              <a:spcAft>
                <a:spcPts val="0"/>
              </a:spcAft>
            </a:pPr>
            <a:r>
              <a:rPr b="1" i="0" u="none" sz="1100">
                <a:solidFill>
                  <a:schemeClr val="dk1"/>
                </a:solidFill>
                <a:latin typeface="Google Sans"/>
              </a:rPr>
              <a:t>Present, Sign Off &amp; Export</a:t>
            </a:r>
            <a:endParaRPr sz="1100">
              <a:latin typeface="Google Sans"/>
            </a:endParaRPr>
          </a:p>
        </p:txBody>
      </p:sp>
      <p:sp>
        <p:nvSpPr>
          <p:cNvPr id="22" name="TextBox 21"/>
          <p:cNvSpPr txBox="1"/>
          <p:nvPr/>
        </p:nvSpPr>
        <p:spPr>
          <a:xfrm>
            <a:off x="6800850" y="1300163"/>
            <a:ext cx="2000250" cy="1314450"/>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0" i="0" u="none" sz="1000">
                <a:solidFill>
                  <a:schemeClr val="dk1"/>
                </a:solidFill>
                <a:latin typeface="Google Sans"/>
              </a:rPr>
              <a:t>Launch full-size Split-Screen or Floating Presenter View (P) with 5-Part Facilitator Guide cards &amp; Patrol Quiz Scoreboard; sign off Multi-Session Blue Cards (#34124); export .PPTX or 1-click Google Slides.</a:t>
            </a:r>
            <a:endParaRPr sz="1000">
              <a:latin typeface="Google Sans"/>
            </a:endParaRPr>
          </a:p>
        </p:txBody>
      </p:sp>
      <p:pic>
        <p:nvPicPr>
          <p:cNvPr id="23" name="Picture 22" descr="image.png"/>
          <p:cNvPicPr>
            <a:picLocks noChangeAspect="1"/>
          </p:cNvPicPr>
          <p:nvPr/>
        </p:nvPicPr>
        <p:blipFill>
          <a:blip r:embed="rId6"/>
          <a:stretch>
            <a:fillRect/>
          </a:stretch>
        </p:blipFill>
        <p:spPr>
          <a:xfrm>
            <a:off x="1157288" y="2728913"/>
            <a:ext cx="2514600" cy="1571625"/>
          </a:xfrm>
          <a:prstGeom prst="rect">
            <a:avLst/>
          </a:prstGeom>
          <a:solidFill>
            <a:srgbClr val="F8F9FA"/>
          </a:solidFill>
          <a:ln w="7143">
            <a:solidFill>
              <a:srgbClr val="DADCE0"/>
            </a:solidFill>
          </a:ln>
        </p:spPr>
      </p:pic>
      <p:sp>
        <p:nvSpPr>
          <p:cNvPr id="24" name="TextBox 23"/>
          <p:cNvSpPr txBox="1"/>
          <p:nvPr/>
        </p:nvSpPr>
        <p:spPr>
          <a:xfrm>
            <a:off x="342900" y="4357688"/>
            <a:ext cx="4143375"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Medium"/>
              </a:rPr>
              <a:t>Single-Row Stage Toolbar, Quick-Style Switcher (29 Templates &amp; 26 Backdrops), 3-Target Edit Text &amp; 4-Tab Under-Stage Drawer</a:t>
            </a:r>
            <a:endParaRPr sz="900">
              <a:latin typeface="Google Sans Medium"/>
            </a:endParaRPr>
          </a:p>
        </p:txBody>
      </p:sp>
      <p:pic>
        <p:nvPicPr>
          <p:cNvPr id="25" name="Picture 24" descr="6e43c70fe7865a78d4470bb1a868fc0dbbd16d6952aff3bd43c2c7dd3d758b3f.png"/>
          <p:cNvPicPr>
            <a:picLocks noChangeAspect="1"/>
          </p:cNvPicPr>
          <p:nvPr/>
        </p:nvPicPr>
        <p:blipFill>
          <a:blip r:embed="rId7"/>
          <a:stretch>
            <a:fillRect/>
          </a:stretch>
        </p:blipFill>
        <p:spPr>
          <a:xfrm>
            <a:off x="4657725" y="2926668"/>
            <a:ext cx="4143375" cy="1176114"/>
          </a:xfrm>
          <a:prstGeom prst="rect">
            <a:avLst/>
          </a:prstGeom>
          <a:solidFill>
            <a:srgbClr val="F8F9FA"/>
          </a:solidFill>
          <a:ln w="7143">
            <a:solidFill>
              <a:srgbClr val="DADCE0"/>
            </a:solidFill>
          </a:ln>
        </p:spPr>
      </p:pic>
      <p:sp>
        <p:nvSpPr>
          <p:cNvPr id="26" name="TextBox 25"/>
          <p:cNvSpPr txBox="1"/>
          <p:nvPr/>
        </p:nvSpPr>
        <p:spPr>
          <a:xfrm>
            <a:off x="4657725" y="4357688"/>
            <a:ext cx="4143375"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Medium"/>
              </a:rPr>
              <a:t>Zero-Flicker Pre-Loaded 14-Frame Scout Construction Animations (3D Heavy Equipment, 2D Pioneering, 3D Slide-O-Matic)</a:t>
            </a:r>
            <a:endParaRPr sz="900">
              <a:latin typeface="Google Sans Medium"/>
            </a:endParaRPr>
          </a:p>
        </p:txBody>
      </p:sp>
      <p:sp>
        <p:nvSpPr>
          <p:cNvPr id="27" name="TextBox 26"/>
          <p:cNvSpPr txBox="1"/>
          <p:nvPr/>
        </p:nvSpPr>
        <p:spPr>
          <a:xfrm>
            <a:off x="342900" y="4714875"/>
            <a:ext cx="8772525" cy="142875"/>
          </a:xfrm>
          <a:prstGeom prst="rect">
            <a:avLst/>
          </a:prstGeom>
          <a:noFill/>
          <a:ln>
            <a:noFill/>
          </a:ln>
          <a:effectLst/>
        </p:spPr>
        <p:txBody>
          <a:bodyPr wrap="none" anchor="t" lIns="0" rIns="0" tIns="55406" bIns="0">
            <a:noAutofit/>
          </a:bodyPr>
          <a:lstStyle/>
          <a:p>
            <a:pPr algn="l">
              <a:lnSpc>
                <a:spcPct val="91670"/>
              </a:lnSpc>
              <a:spcBef>
                <a:spcPts val="0"/>
              </a:spcBef>
              <a:spcAft>
                <a:spcPts val="0"/>
              </a:spcAft>
            </a:pPr>
            <a:r>
              <a:rPr b="0" i="0" u="none" sz="600">
                <a:solidFill>
                  <a:schemeClr val="accent5"/>
                </a:solidFill>
                <a:latin typeface="Google Sans"/>
              </a:rPr>
              <a:t>Source: docs/USER_GUIDE.md (Sections 1 to 6) | Unified Material 3 Counselor Workbench (:8085) with Demo Guided Tour (8 walkthroughs) and 4-Tab Under-Stage Drawer (Workflow Trace &amp; FinOps).</a:t>
            </a:r>
            <a:endParaRPr sz="600">
              <a:latin typeface="Google Sans"/>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200025"/>
            <a:ext cx="8458200" cy="628650"/>
          </a:xfrm>
          <a:prstGeom prst="rect">
            <a:avLst/>
          </a:prstGeom>
          <a:noFill/>
          <a:ln>
            <a:noFill/>
          </a:ln>
          <a:effectLst/>
        </p:spPr>
        <p:txBody>
          <a:bodyPr wrap="square" anchor="t" lIns="0" rIns="0" tIns="6353" bIns="0">
            <a:noAutofit/>
          </a:bodyPr>
          <a:lstStyle/>
          <a:p>
            <a:pPr algn="l">
              <a:lnSpc>
                <a:spcPct val="104170"/>
              </a:lnSpc>
              <a:spcBef>
                <a:spcPts val="0"/>
              </a:spcBef>
              <a:spcAft>
                <a:spcPts val="0"/>
              </a:spcAft>
            </a:pPr>
            <a:r>
              <a:rPr b="0" i="0" u="none" sz="1600">
                <a:solidFill>
                  <a:schemeClr val="dk1"/>
                </a:solidFill>
                <a:latin typeface="Google Sans Medium"/>
              </a:rPr>
              <a:t>Nine-Component / 7-Agent Google ADK Pipeline Pairs LLM Reasoning With Deterministic Geometry &amp; Crypto Tools</a:t>
            </a:r>
            <a:endParaRPr sz="1600">
              <a:latin typeface="Google Sans Medium"/>
            </a:endParaRPr>
          </a:p>
        </p:txBody>
      </p:sp>
      <p:sp>
        <p:nvSpPr>
          <p:cNvPr id="3" name="Rounded Rectangle 2"/>
          <p:cNvSpPr/>
          <p:nvPr/>
        </p:nvSpPr>
        <p:spPr>
          <a:xfrm>
            <a:off x="342900" y="800100"/>
            <a:ext cx="8458200" cy="1300163"/>
          </a:xfrm>
          <a:prstGeom prst="roundRect">
            <a:avLst>
              <a:gd name="adj" fmla="val 4395"/>
            </a:avLst>
          </a:prstGeom>
          <a:solidFill>
            <a:srgbClr val="F8F9FA"/>
          </a:solidFill>
          <a:ln w="1071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2900" y="800100"/>
            <a:ext cx="8458200" cy="200025"/>
          </a:xfrm>
          <a:prstGeom prst="roundRect">
            <a:avLst>
              <a:gd name="adj" fmla="val 28571"/>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8355"/>
            <a:ext cx="5400675" cy="157163"/>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accent1"/>
                </a:solidFill>
                <a:latin typeface="Google Sans"/>
              </a:rPr>
              <a:t>MeritBadgeCoordinatorAgent (SequentialAgent) : 5-Stage Core Execution Pipeline (18ms Overhead)</a:t>
            </a:r>
            <a:endParaRPr sz="800">
              <a:latin typeface="Google Sans"/>
            </a:endParaRPr>
          </a:p>
        </p:txBody>
      </p:sp>
      <p:sp>
        <p:nvSpPr>
          <p:cNvPr id="6" name="TextBox 5"/>
          <p:cNvSpPr txBox="1"/>
          <p:nvPr/>
        </p:nvSpPr>
        <p:spPr>
          <a:xfrm>
            <a:off x="5915025" y="808355"/>
            <a:ext cx="2771775" cy="142875"/>
          </a:xfrm>
          <a:prstGeom prst="rect">
            <a:avLst/>
          </a:prstGeom>
          <a:noFill/>
          <a:ln>
            <a:noFill/>
          </a:ln>
          <a:effectLst/>
        </p:spPr>
        <p:txBody>
          <a:bodyPr wrap="none" anchor="t" lIns="0" rIns="0" tIns="5007" bIns="0">
            <a:noAutofit/>
          </a:bodyPr>
          <a:lstStyle/>
          <a:p>
            <a:pPr algn="r">
              <a:lnSpc>
                <a:spcPct val="108330"/>
              </a:lnSpc>
              <a:spcBef>
                <a:spcPts val="0"/>
              </a:spcBef>
              <a:spcAft>
                <a:spcPts val="0"/>
              </a:spcAft>
            </a:pPr>
            <a:r>
              <a:rPr b="1" i="0" u="none" sz="800">
                <a:solidFill>
                  <a:srgbClr val="1967D2"/>
                </a:solidFill>
                <a:latin typeface="Google Sans"/>
              </a:rPr>
              <a:t>EventsCompactionConfig(interval=5, overlap=2)</a:t>
            </a:r>
            <a:endParaRPr sz="800">
              <a:latin typeface="Google Sans"/>
            </a:endParaRPr>
          </a:p>
        </p:txBody>
      </p:sp>
      <p:sp>
        <p:nvSpPr>
          <p:cNvPr id="7" name="Rounded Rectangle 6"/>
          <p:cNvSpPr/>
          <p:nvPr/>
        </p:nvSpPr>
        <p:spPr>
          <a:xfrm>
            <a:off x="414338" y="1071563"/>
            <a:ext cx="1535906" cy="957263"/>
          </a:xfrm>
          <a:prstGeom prst="roundRect">
            <a:avLst>
              <a:gd name="adj" fmla="val 4477"/>
            </a:avLst>
          </a:prstGeom>
          <a:solidFill>
            <a:schemeClr val="lt1">
              <a:lumMod val="97000"/>
              <a:lumOff val="3000"/>
            </a:schemeClr>
          </a:solidFill>
          <a:ln w="1071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5756" y="1071563"/>
            <a:ext cx="1693069" cy="185738"/>
          </a:xfrm>
          <a:prstGeom prst="roundRect">
            <a:avLst>
              <a:gd name="adj" fmla="val 23076"/>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0044" y="1072674"/>
            <a:ext cx="1664494"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accent1"/>
                </a:solidFill>
                <a:latin typeface="Google Sans"/>
              </a:rPr>
              <a:t>Stage 1: Research &amp; Grounding</a:t>
            </a:r>
            <a:endParaRPr sz="800">
              <a:latin typeface="Google Sans"/>
            </a:endParaRPr>
          </a:p>
        </p:txBody>
      </p:sp>
      <p:sp>
        <p:nvSpPr>
          <p:cNvPr id="10" name="TextBox 9"/>
          <p:cNvSpPr txBox="1"/>
          <p:nvPr/>
        </p:nvSpPr>
        <p:spPr>
          <a:xfrm>
            <a:off x="485775" y="1236980"/>
            <a:ext cx="1421606"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1. PamphletResearch (Pro)</a:t>
            </a:r>
            <a:endParaRPr sz="800">
              <a:latin typeface="Google Sans"/>
            </a:endParaRPr>
          </a:p>
        </p:txBody>
      </p:sp>
      <p:sp>
        <p:nvSpPr>
          <p:cNvPr id="11" name="TextBox 10"/>
          <p:cNvSpPr txBox="1"/>
          <p:nvPr/>
        </p:nvSpPr>
        <p:spPr>
          <a:xfrm>
            <a:off x="485775" y="1365568"/>
            <a:ext cx="1407319"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Hybrid BM25 + Vector RRF</a:t>
            </a:r>
            <a:endParaRPr sz="800">
              <a:latin typeface="Google Sans"/>
            </a:endParaRPr>
          </a:p>
        </p:txBody>
      </p:sp>
      <p:sp>
        <p:nvSpPr>
          <p:cNvPr id="12" name="Rounded Rectangle 11"/>
          <p:cNvSpPr/>
          <p:nvPr/>
        </p:nvSpPr>
        <p:spPr>
          <a:xfrm>
            <a:off x="471488" y="1557338"/>
            <a:ext cx="1421606" cy="257175"/>
          </a:xfrm>
          <a:prstGeom prst="roundRect">
            <a:avLst>
              <a:gd name="adj" fmla="val 11111"/>
            </a:avLst>
          </a:prstGeom>
          <a:solidFill>
            <a:srgbClr val="FEF7E0"/>
          </a:solidFill>
          <a:ln w="7143">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8638" y="1544161"/>
            <a:ext cx="132873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B06000"/>
                </a:solidFill>
                <a:latin typeface="Google Sans"/>
              </a:rPr>
              <a:t>2. WebSearchGrounding</a:t>
            </a:r>
            <a:endParaRPr sz="800">
              <a:latin typeface="Google Sans"/>
            </a:endParaRPr>
          </a:p>
        </p:txBody>
      </p:sp>
      <p:sp>
        <p:nvSpPr>
          <p:cNvPr id="14" name="TextBox 13"/>
          <p:cNvSpPr txBox="1"/>
          <p:nvPr/>
        </p:nvSpPr>
        <p:spPr>
          <a:xfrm>
            <a:off x="528638" y="1644174"/>
            <a:ext cx="1335881"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rgbClr val="B06000"/>
                </a:solidFill>
                <a:latin typeface="Google Sans"/>
              </a:rPr>
              <a:t>Flash via AgentTool (FM-1)</a:t>
            </a:r>
            <a:endParaRPr sz="800">
              <a:latin typeface="Google Sans"/>
            </a:endParaRPr>
          </a:p>
        </p:txBody>
      </p:sp>
      <p:sp>
        <p:nvSpPr>
          <p:cNvPr id="15" name="TextBox 14"/>
          <p:cNvSpPr txBox="1"/>
          <p:nvPr/>
        </p:nvSpPr>
        <p:spPr>
          <a:xfrm>
            <a:off x="485775" y="1822768"/>
            <a:ext cx="1407319"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37333"/>
                </a:solidFill>
                <a:latin typeface="Google Sans"/>
              </a:rPr>
              <a:t>SHA-256 Canonical Lock</a:t>
            </a:r>
            <a:endParaRPr sz="800">
              <a:latin typeface="Google Sans"/>
            </a:endParaRPr>
          </a:p>
        </p:txBody>
      </p:sp>
      <p:cxnSp>
        <p:nvCxnSpPr>
          <p:cNvPr id="16" name="Connector 15"/>
          <p:cNvCxnSpPr>
            <a:stCxn id="7" idx="3"/>
            <a:endCxn id="17" idx="1"/>
          </p:cNvCxnSpPr>
          <p:nvPr/>
        </p:nvCxnSpPr>
        <p:spPr>
          <a:xfrm>
            <a:off x="1950244" y="1550194"/>
            <a:ext cx="142875" cy="0"/>
          </a:xfrm>
          <a:prstGeom prst="straightConnector1">
            <a:avLst/>
          </a:prstGeom>
          <a:ln w="14288" cap="flat">
            <a:solidFill>
              <a:schemeClr val="accent1"/>
            </a:solidFill>
            <a:tailEnd type="triangle" w="sm" len="sm"/>
          </a:ln>
        </p:spPr>
      </p:cxnSp>
      <p:sp>
        <p:nvSpPr>
          <p:cNvPr id="17" name="Rounded Rectangle 16"/>
          <p:cNvSpPr/>
          <p:nvPr/>
        </p:nvSpPr>
        <p:spPr>
          <a:xfrm>
            <a:off x="2093119" y="1071563"/>
            <a:ext cx="1464469" cy="957263"/>
          </a:xfrm>
          <a:prstGeom prst="roundRect">
            <a:avLst>
              <a:gd name="adj" fmla="val 4477"/>
            </a:avLst>
          </a:prstGeom>
          <a:solidFill>
            <a:schemeClr val="lt1">
              <a:lumMod val="97000"/>
              <a:lumOff val="3000"/>
            </a:schemeClr>
          </a:solidFill>
          <a:ln w="1071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93119" y="1071563"/>
            <a:ext cx="1464469" cy="185738"/>
          </a:xfrm>
          <a:prstGeom prst="roundRect">
            <a:avLst>
              <a:gd name="adj" fmla="val 23076"/>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93119" y="1072674"/>
            <a:ext cx="1464469"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accent1"/>
                </a:solidFill>
                <a:latin typeface="Google Sans"/>
              </a:rPr>
              <a:t>Stage 2: Coverage Critic</a:t>
            </a:r>
            <a:endParaRPr sz="800">
              <a:latin typeface="Google Sans"/>
            </a:endParaRPr>
          </a:p>
        </p:txBody>
      </p:sp>
      <p:sp>
        <p:nvSpPr>
          <p:cNvPr id="20" name="TextBox 19"/>
          <p:cNvSpPr txBox="1"/>
          <p:nvPr/>
        </p:nvSpPr>
        <p:spPr>
          <a:xfrm>
            <a:off x="2164556" y="1236980"/>
            <a:ext cx="1335881"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3. CoverageCriticAgent</a:t>
            </a:r>
            <a:endParaRPr sz="800">
              <a:latin typeface="Google Sans"/>
            </a:endParaRPr>
          </a:p>
        </p:txBody>
      </p:sp>
      <p:sp>
        <p:nvSpPr>
          <p:cNvPr id="21" name="TextBox 20"/>
          <p:cNvSpPr txBox="1"/>
          <p:nvPr/>
        </p:nvSpPr>
        <p:spPr>
          <a:xfrm>
            <a:off x="2164556" y="1365568"/>
            <a:ext cx="1335881"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Audits sub-reqs (1a, 1b...)</a:t>
            </a:r>
            <a:endParaRPr sz="800">
              <a:latin typeface="Google Sans"/>
            </a:endParaRPr>
          </a:p>
        </p:txBody>
      </p:sp>
      <p:sp>
        <p:nvSpPr>
          <p:cNvPr id="22" name="Rounded Rectangle 21"/>
          <p:cNvSpPr/>
          <p:nvPr/>
        </p:nvSpPr>
        <p:spPr>
          <a:xfrm>
            <a:off x="2150269" y="1557338"/>
            <a:ext cx="1350169" cy="257175"/>
          </a:xfrm>
          <a:prstGeom prst="roundRect">
            <a:avLst>
              <a:gd name="adj" fmla="val 11111"/>
            </a:avLst>
          </a:prstGeom>
          <a:solidFill>
            <a:srgbClr val="E8F0FE"/>
          </a:solidFill>
          <a:ln w="7143">
            <a:solidFill>
              <a:schemeClr val="accent1"/>
            </a:solidFill>
            <a:custDash>
              <a:ds d="300000" sp="200000"/>
            </a:cust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50269" y="1544161"/>
            <a:ext cx="1350169"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967D2"/>
                </a:solidFill>
                <a:latin typeface="Google Sans"/>
              </a:rPr>
              <a:t>LoopAgent (max=2)</a:t>
            </a:r>
            <a:endParaRPr sz="800">
              <a:latin typeface="Google Sans"/>
            </a:endParaRPr>
          </a:p>
        </p:txBody>
      </p:sp>
      <p:sp>
        <p:nvSpPr>
          <p:cNvPr id="24" name="TextBox 23"/>
          <p:cNvSpPr txBox="1"/>
          <p:nvPr/>
        </p:nvSpPr>
        <p:spPr>
          <a:xfrm>
            <a:off x="2150269" y="1644174"/>
            <a:ext cx="1350169"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rgbClr val="1967D2"/>
                </a:solidFill>
                <a:latin typeface="Google Sans"/>
              </a:rPr>
              <a:t>Re-queries missing reqs</a:t>
            </a:r>
            <a:endParaRPr sz="800">
              <a:latin typeface="Google Sans"/>
            </a:endParaRPr>
          </a:p>
        </p:txBody>
      </p:sp>
      <p:sp>
        <p:nvSpPr>
          <p:cNvPr id="25" name="TextBox 24"/>
          <p:cNvSpPr txBox="1"/>
          <p:nvPr/>
        </p:nvSpPr>
        <p:spPr>
          <a:xfrm>
            <a:off x="2164556" y="1822768"/>
            <a:ext cx="144303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37333"/>
                </a:solidFill>
                <a:latin typeface="Google Sans"/>
              </a:rPr>
              <a:t>100% Sub-Req Recall Gate</a:t>
            </a:r>
            <a:endParaRPr sz="800">
              <a:latin typeface="Google Sans"/>
            </a:endParaRPr>
          </a:p>
        </p:txBody>
      </p:sp>
      <p:cxnSp>
        <p:nvCxnSpPr>
          <p:cNvPr id="26" name="Connector 25"/>
          <p:cNvCxnSpPr>
            <a:stCxn id="17" idx="3"/>
            <a:endCxn id="27" idx="1"/>
          </p:cNvCxnSpPr>
          <p:nvPr/>
        </p:nvCxnSpPr>
        <p:spPr>
          <a:xfrm>
            <a:off x="3557588" y="1550194"/>
            <a:ext cx="142875" cy="0"/>
          </a:xfrm>
          <a:prstGeom prst="straightConnector1">
            <a:avLst/>
          </a:prstGeom>
          <a:ln w="14288" cap="flat">
            <a:solidFill>
              <a:schemeClr val="accent1"/>
            </a:solidFill>
            <a:tailEnd type="triangle" w="sm" len="sm"/>
          </a:ln>
        </p:spPr>
      </p:cxnSp>
      <p:sp>
        <p:nvSpPr>
          <p:cNvPr id="27" name="Rounded Rectangle 26"/>
          <p:cNvSpPr/>
          <p:nvPr/>
        </p:nvSpPr>
        <p:spPr>
          <a:xfrm>
            <a:off x="3700463" y="1071563"/>
            <a:ext cx="1535906" cy="957263"/>
          </a:xfrm>
          <a:prstGeom prst="roundRect">
            <a:avLst>
              <a:gd name="adj" fmla="val 4477"/>
            </a:avLst>
          </a:prstGeom>
          <a:solidFill>
            <a:schemeClr val="lt1">
              <a:lumMod val="97000"/>
              <a:lumOff val="3000"/>
            </a:schemeClr>
          </a:solidFill>
          <a:ln w="1071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671888" y="1071563"/>
            <a:ext cx="1593056" cy="185738"/>
          </a:xfrm>
          <a:prstGeom prst="roundRect">
            <a:avLst>
              <a:gd name="adj" fmla="val 23076"/>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86175" y="1072674"/>
            <a:ext cx="1564481"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accent1"/>
                </a:solidFill>
                <a:latin typeface="Google Sans"/>
              </a:rPr>
              <a:t>Stage 3: Pedagogical Planner</a:t>
            </a:r>
            <a:endParaRPr sz="800">
              <a:latin typeface="Google Sans"/>
            </a:endParaRPr>
          </a:p>
        </p:txBody>
      </p:sp>
      <p:sp>
        <p:nvSpPr>
          <p:cNvPr id="30" name="TextBox 29"/>
          <p:cNvSpPr txBox="1"/>
          <p:nvPr/>
        </p:nvSpPr>
        <p:spPr>
          <a:xfrm>
            <a:off x="3771900" y="1236980"/>
            <a:ext cx="15430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4. SlideContentPlanner (Pro)</a:t>
            </a:r>
            <a:endParaRPr sz="800">
              <a:latin typeface="Google Sans"/>
            </a:endParaRPr>
          </a:p>
        </p:txBody>
      </p:sp>
      <p:sp>
        <p:nvSpPr>
          <p:cNvPr id="31" name="TextBox 30"/>
          <p:cNvSpPr txBox="1"/>
          <p:nvPr/>
        </p:nvSpPr>
        <p:spPr>
          <a:xfrm>
            <a:off x="3771900" y="1365568"/>
            <a:ext cx="1550194"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12 EDGE Method Archetypes</a:t>
            </a:r>
            <a:endParaRPr sz="800">
              <a:latin typeface="Google Sans"/>
            </a:endParaRPr>
          </a:p>
        </p:txBody>
      </p:sp>
      <p:sp>
        <p:nvSpPr>
          <p:cNvPr id="32" name="Rounded Rectangle 31"/>
          <p:cNvSpPr/>
          <p:nvPr/>
        </p:nvSpPr>
        <p:spPr>
          <a:xfrm>
            <a:off x="3757613" y="1557338"/>
            <a:ext cx="1421606" cy="257175"/>
          </a:xfrm>
          <a:prstGeom prst="roundRect">
            <a:avLst>
              <a:gd name="adj" fmla="val 11111"/>
            </a:avLst>
          </a:prstGeom>
          <a:solidFill>
            <a:srgbClr val="F1F3F4"/>
          </a:solidFill>
          <a:ln w="7143">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14763" y="1544161"/>
            <a:ext cx="1507331"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StudioKit Contract Output</a:t>
            </a:r>
            <a:endParaRPr sz="800">
              <a:latin typeface="Google Sans"/>
            </a:endParaRPr>
          </a:p>
        </p:txBody>
      </p:sp>
      <p:sp>
        <p:nvSpPr>
          <p:cNvPr id="34" name="TextBox 33"/>
          <p:cNvSpPr txBox="1"/>
          <p:nvPr/>
        </p:nvSpPr>
        <p:spPr>
          <a:xfrm>
            <a:off x="3814763" y="1644174"/>
            <a:ext cx="1321594"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5-Part Facilitator Guide</a:t>
            </a:r>
            <a:endParaRPr sz="800">
              <a:latin typeface="Google Sans"/>
            </a:endParaRPr>
          </a:p>
        </p:txBody>
      </p:sp>
      <p:sp>
        <p:nvSpPr>
          <p:cNvPr id="35" name="TextBox 34"/>
          <p:cNvSpPr txBox="1"/>
          <p:nvPr/>
        </p:nvSpPr>
        <p:spPr>
          <a:xfrm>
            <a:off x="3771900" y="1822768"/>
            <a:ext cx="1507331"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967D2"/>
                </a:solidFill>
                <a:latin typeface="Google Sans"/>
              </a:rPr>
              <a:t>Workbook &amp; Blue Card Sync</a:t>
            </a:r>
            <a:endParaRPr sz="800">
              <a:latin typeface="Google Sans"/>
            </a:endParaRPr>
          </a:p>
        </p:txBody>
      </p:sp>
      <p:cxnSp>
        <p:nvCxnSpPr>
          <p:cNvPr id="36" name="Connector 35"/>
          <p:cNvCxnSpPr>
            <a:stCxn id="27" idx="3"/>
            <a:endCxn id="37" idx="1"/>
          </p:cNvCxnSpPr>
          <p:nvPr/>
        </p:nvCxnSpPr>
        <p:spPr>
          <a:xfrm>
            <a:off x="5236369" y="1550194"/>
            <a:ext cx="142875" cy="0"/>
          </a:xfrm>
          <a:prstGeom prst="straightConnector1">
            <a:avLst/>
          </a:prstGeom>
          <a:ln w="14288" cap="flat">
            <a:solidFill>
              <a:schemeClr val="accent1"/>
            </a:solidFill>
            <a:tailEnd type="triangle" w="sm" len="sm"/>
          </a:ln>
        </p:spPr>
      </p:cxnSp>
      <p:sp>
        <p:nvSpPr>
          <p:cNvPr id="37" name="Rounded Rectangle 36"/>
          <p:cNvSpPr/>
          <p:nvPr/>
        </p:nvSpPr>
        <p:spPr>
          <a:xfrm>
            <a:off x="5379244" y="1071563"/>
            <a:ext cx="1535906" cy="957263"/>
          </a:xfrm>
          <a:prstGeom prst="roundRect">
            <a:avLst>
              <a:gd name="adj" fmla="val 4477"/>
            </a:avLst>
          </a:prstGeom>
          <a:solidFill>
            <a:schemeClr val="lt1">
              <a:lumMod val="97000"/>
              <a:lumOff val="3000"/>
            </a:schemeClr>
          </a:solidFill>
          <a:ln w="1071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379244" y="1071563"/>
            <a:ext cx="1535906" cy="185738"/>
          </a:xfrm>
          <a:prstGeom prst="roundRect">
            <a:avLst>
              <a:gd name="adj" fmla="val 23076"/>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79244" y="1072674"/>
            <a:ext cx="1535906"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accent1"/>
                </a:solidFill>
                <a:latin typeface="Google Sans"/>
              </a:rPr>
              <a:t>Stage 4: Theme &amp; Visuals</a:t>
            </a:r>
            <a:endParaRPr sz="800">
              <a:latin typeface="Google Sans"/>
            </a:endParaRPr>
          </a:p>
        </p:txBody>
      </p:sp>
      <p:sp>
        <p:nvSpPr>
          <p:cNvPr id="40" name="TextBox 39"/>
          <p:cNvSpPr txBox="1"/>
          <p:nvPr/>
        </p:nvSpPr>
        <p:spPr>
          <a:xfrm>
            <a:off x="5450681" y="1236980"/>
            <a:ext cx="1407319"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5. SlideBeautifier (Flash)</a:t>
            </a:r>
            <a:endParaRPr sz="800">
              <a:latin typeface="Google Sans"/>
            </a:endParaRPr>
          </a:p>
        </p:txBody>
      </p:sp>
      <p:sp>
        <p:nvSpPr>
          <p:cNvPr id="41" name="TextBox 40"/>
          <p:cNvSpPr txBox="1"/>
          <p:nvPr/>
        </p:nvSpPr>
        <p:spPr>
          <a:xfrm>
            <a:off x="5450681" y="1365568"/>
            <a:ext cx="1407319"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Category Palette &amp; Crop</a:t>
            </a:r>
            <a:endParaRPr sz="800">
              <a:latin typeface="Google Sans"/>
            </a:endParaRPr>
          </a:p>
        </p:txBody>
      </p:sp>
      <p:sp>
        <p:nvSpPr>
          <p:cNvPr id="42" name="Rounded Rectangle 41"/>
          <p:cNvSpPr/>
          <p:nvPr/>
        </p:nvSpPr>
        <p:spPr>
          <a:xfrm>
            <a:off x="5436394" y="1557338"/>
            <a:ext cx="1421606" cy="257175"/>
          </a:xfrm>
          <a:prstGeom prst="roundRect">
            <a:avLst>
              <a:gd name="adj" fmla="val 11111"/>
            </a:avLst>
          </a:prstGeom>
          <a:solidFill>
            <a:srgbClr val="E6F4EA"/>
          </a:solidFill>
          <a:ln w="7143">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93544" y="1544161"/>
            <a:ext cx="1321594"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37333"/>
                </a:solidFill>
                <a:latin typeface="Google Sans"/>
              </a:rPr>
              <a:t>5,625 Curated Visuals</a:t>
            </a:r>
            <a:endParaRPr sz="800">
              <a:latin typeface="Google Sans"/>
            </a:endParaRPr>
          </a:p>
        </p:txBody>
      </p:sp>
      <p:sp>
        <p:nvSpPr>
          <p:cNvPr id="44" name="TextBox 43"/>
          <p:cNvSpPr txBox="1"/>
          <p:nvPr/>
        </p:nvSpPr>
        <p:spPr>
          <a:xfrm>
            <a:off x="5493544" y="1644174"/>
            <a:ext cx="132873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rgbClr val="137333"/>
                </a:solidFill>
                <a:latin typeface="Google Sans"/>
              </a:rPr>
              <a:t>$0.00 Local Library Match</a:t>
            </a:r>
            <a:endParaRPr sz="800">
              <a:latin typeface="Google Sans"/>
            </a:endParaRPr>
          </a:p>
        </p:txBody>
      </p:sp>
      <p:sp>
        <p:nvSpPr>
          <p:cNvPr id="45" name="TextBox 44"/>
          <p:cNvSpPr txBox="1"/>
          <p:nvPr/>
        </p:nvSpPr>
        <p:spPr>
          <a:xfrm>
            <a:off x="5450681" y="1822768"/>
            <a:ext cx="1407319"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B06000"/>
                </a:solidFill>
                <a:latin typeface="Google Sans"/>
              </a:rPr>
              <a:t>$1.00 FinOps Budget Cap</a:t>
            </a:r>
            <a:endParaRPr sz="800">
              <a:latin typeface="Google Sans"/>
            </a:endParaRPr>
          </a:p>
        </p:txBody>
      </p:sp>
      <p:cxnSp>
        <p:nvCxnSpPr>
          <p:cNvPr id="46" name="Connector 45"/>
          <p:cNvCxnSpPr>
            <a:stCxn id="37" idx="3"/>
            <a:endCxn id="47" idx="1"/>
          </p:cNvCxnSpPr>
          <p:nvPr/>
        </p:nvCxnSpPr>
        <p:spPr>
          <a:xfrm>
            <a:off x="6915150" y="1550194"/>
            <a:ext cx="142875" cy="0"/>
          </a:xfrm>
          <a:prstGeom prst="straightConnector1">
            <a:avLst/>
          </a:prstGeom>
          <a:ln w="14288" cap="flat">
            <a:solidFill>
              <a:schemeClr val="accent4"/>
            </a:solidFill>
            <a:tailEnd type="triangle" w="sm" len="sm"/>
          </a:ln>
        </p:spPr>
      </p:cxnSp>
      <p:sp>
        <p:nvSpPr>
          <p:cNvPr id="47" name="Rounded Rectangle 46"/>
          <p:cNvSpPr/>
          <p:nvPr/>
        </p:nvSpPr>
        <p:spPr>
          <a:xfrm>
            <a:off x="7058025" y="1071563"/>
            <a:ext cx="1671638" cy="957263"/>
          </a:xfrm>
          <a:prstGeom prst="roundRect">
            <a:avLst>
              <a:gd name="adj" fmla="val 4477"/>
            </a:avLst>
          </a:prstGeom>
          <a:solidFill>
            <a:schemeClr val="lt1">
              <a:lumMod val="97000"/>
              <a:lumOff val="3000"/>
            </a:schemeClr>
          </a:solidFill>
          <a:ln w="14287">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058025" y="1071563"/>
            <a:ext cx="1671638" cy="185738"/>
          </a:xfrm>
          <a:prstGeom prst="roundRect">
            <a:avLst>
              <a:gd name="adj" fmla="val 23076"/>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58025" y="1072674"/>
            <a:ext cx="1671638"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Stage 5: Build &amp; 2-Stage QA</a:t>
            </a:r>
            <a:endParaRPr sz="800">
              <a:latin typeface="Google Sans"/>
            </a:endParaRPr>
          </a:p>
        </p:txBody>
      </p:sp>
      <p:sp>
        <p:nvSpPr>
          <p:cNvPr id="50" name="TextBox 49"/>
          <p:cNvSpPr txBox="1"/>
          <p:nvPr/>
        </p:nvSpPr>
        <p:spPr>
          <a:xfrm>
            <a:off x="7129463" y="1236980"/>
            <a:ext cx="15430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6. PowerPointBuilderAgent</a:t>
            </a:r>
            <a:endParaRPr sz="800">
              <a:latin typeface="Google Sans"/>
            </a:endParaRPr>
          </a:p>
        </p:txBody>
      </p:sp>
      <p:sp>
        <p:nvSpPr>
          <p:cNvPr id="51" name="TextBox 50"/>
          <p:cNvSpPr txBox="1"/>
          <p:nvPr/>
        </p:nvSpPr>
        <p:spPr>
          <a:xfrm>
            <a:off x="7129463" y="1358424"/>
            <a:ext cx="15430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37333"/>
                </a:solidFill>
                <a:latin typeface="Google Sans"/>
              </a:rPr>
              <a:t>7. BSABrandSafetyReview</a:t>
            </a:r>
            <a:endParaRPr sz="800">
              <a:latin typeface="Google Sans"/>
            </a:endParaRPr>
          </a:p>
        </p:txBody>
      </p:sp>
      <p:sp>
        <p:nvSpPr>
          <p:cNvPr id="52" name="Rounded Rectangle 51"/>
          <p:cNvSpPr/>
          <p:nvPr/>
        </p:nvSpPr>
        <p:spPr>
          <a:xfrm>
            <a:off x="7115175" y="1543050"/>
            <a:ext cx="1557338" cy="271463"/>
          </a:xfrm>
          <a:prstGeom prst="roundRect">
            <a:avLst>
              <a:gd name="adj" fmla="val 10526"/>
            </a:avLst>
          </a:prstGeom>
          <a:solidFill>
            <a:srgbClr val="E6F4EA"/>
          </a:solidFill>
          <a:ln w="7143">
            <a:solidFill>
              <a:schemeClr val="accent4"/>
            </a:solidFill>
            <a:custDash>
              <a:ds d="300000" sp="200000"/>
            </a:cust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15175" y="1529874"/>
            <a:ext cx="1557338"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LoopAgent (max=3): 3.4ms</a:t>
            </a:r>
            <a:endParaRPr sz="800">
              <a:latin typeface="Google Sans"/>
            </a:endParaRPr>
          </a:p>
        </p:txBody>
      </p:sp>
      <p:sp>
        <p:nvSpPr>
          <p:cNvPr id="54" name="TextBox 53"/>
          <p:cNvSpPr txBox="1"/>
          <p:nvPr/>
        </p:nvSpPr>
        <p:spPr>
          <a:xfrm>
            <a:off x="7115175" y="1637030"/>
            <a:ext cx="1557338"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AABB + Vision Score &gt;= 90</a:t>
            </a:r>
            <a:endParaRPr sz="800">
              <a:latin typeface="Google Sans"/>
            </a:endParaRPr>
          </a:p>
        </p:txBody>
      </p:sp>
      <p:sp>
        <p:nvSpPr>
          <p:cNvPr id="55" name="TextBox 54"/>
          <p:cNvSpPr txBox="1"/>
          <p:nvPr/>
        </p:nvSpPr>
        <p:spPr>
          <a:xfrm>
            <a:off x="7129463" y="1822768"/>
            <a:ext cx="15430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accent1"/>
                </a:solidFill>
                <a:latin typeface="Google Sans"/>
              </a:rPr>
              <a:t>Verified .PPTX / .PDF</a:t>
            </a:r>
            <a:endParaRPr sz="800">
              <a:latin typeface="Google Sans"/>
            </a:endParaRPr>
          </a:p>
        </p:txBody>
      </p:sp>
      <p:cxnSp>
        <p:nvCxnSpPr>
          <p:cNvPr id="56" name="Connector 55"/>
          <p:cNvCxnSpPr/>
          <p:nvPr/>
        </p:nvCxnSpPr>
        <p:spPr>
          <a:xfrm>
            <a:off x="1735931" y="2100263"/>
            <a:ext cx="0" cy="138588"/>
          </a:xfrm>
          <a:prstGeom prst="straightConnector1">
            <a:avLst/>
          </a:prstGeom>
          <a:ln w="10716" cap="flat">
            <a:solidFill>
              <a:schemeClr val="accent5"/>
            </a:solidFill>
            <a:tailEnd type="triangle" w="sm" len="sm"/>
          </a:ln>
        </p:spPr>
      </p:cxnSp>
      <p:cxnSp>
        <p:nvCxnSpPr>
          <p:cNvPr id="57" name="Connector 56"/>
          <p:cNvCxnSpPr>
            <a:stCxn id="3" idx="2"/>
          </p:cNvCxnSpPr>
          <p:nvPr/>
        </p:nvCxnSpPr>
        <p:spPr>
          <a:xfrm flipH="1">
            <a:off x="4557713" y="2100263"/>
            <a:ext cx="14287" cy="138588"/>
          </a:xfrm>
          <a:prstGeom prst="straightConnector1">
            <a:avLst/>
          </a:prstGeom>
          <a:ln w="10716" cap="flat">
            <a:solidFill>
              <a:schemeClr val="accent1"/>
            </a:solidFill>
            <a:tailEnd type="triangle" w="sm" len="sm"/>
          </a:ln>
        </p:spPr>
      </p:cxnSp>
      <p:cxnSp>
        <p:nvCxnSpPr>
          <p:cNvPr id="58" name="Connector 57"/>
          <p:cNvCxnSpPr/>
          <p:nvPr/>
        </p:nvCxnSpPr>
        <p:spPr>
          <a:xfrm>
            <a:off x="7393781" y="2100263"/>
            <a:ext cx="0" cy="138588"/>
          </a:xfrm>
          <a:prstGeom prst="straightConnector1">
            <a:avLst/>
          </a:prstGeom>
          <a:ln w="10716" cap="flat">
            <a:solidFill>
              <a:schemeClr val="accent4"/>
            </a:solidFill>
            <a:tailEnd type="triangle" w="sm" len="sm"/>
          </a:ln>
        </p:spPr>
      </p:cxnSp>
      <p:sp>
        <p:nvSpPr>
          <p:cNvPr id="59" name="Rounded Rectangle 58"/>
          <p:cNvSpPr/>
          <p:nvPr/>
        </p:nvSpPr>
        <p:spPr>
          <a:xfrm>
            <a:off x="414338" y="2243138"/>
            <a:ext cx="2643188" cy="742950"/>
          </a:xfrm>
          <a:prstGeom prst="roundRect">
            <a:avLst>
              <a:gd name="adj" fmla="val 5769"/>
            </a:avLst>
          </a:prstGeom>
          <a:solidFill>
            <a:schemeClr val="lt1">
              <a:lumMod val="97000"/>
              <a:lumOff val="3000"/>
            </a:schemeClr>
          </a:solidFill>
          <a:ln w="10715">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14338" y="2243138"/>
            <a:ext cx="2643188" cy="185738"/>
          </a:xfrm>
          <a:prstGeom prst="roundRect">
            <a:avLst>
              <a:gd name="adj" fmla="val 23076"/>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14338" y="2244249"/>
            <a:ext cx="2643188"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dk1"/>
                </a:solidFill>
                <a:latin typeface="Google Sans"/>
              </a:rPr>
              <a:t>Deterministic Tool &amp; Crypto Boundary</a:t>
            </a:r>
            <a:endParaRPr sz="800">
              <a:latin typeface="Google Sans"/>
            </a:endParaRPr>
          </a:p>
        </p:txBody>
      </p:sp>
      <p:sp>
        <p:nvSpPr>
          <p:cNvPr id="62" name="TextBox 61"/>
          <p:cNvSpPr txBox="1"/>
          <p:nvPr/>
        </p:nvSpPr>
        <p:spPr>
          <a:xfrm>
            <a:off x="500063" y="2429986"/>
            <a:ext cx="2500313"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PyMuPDF &amp; AABB Geometry Solver (3.4ms)</a:t>
            </a:r>
            <a:endParaRPr sz="800">
              <a:latin typeface="Google Sans"/>
            </a:endParaRPr>
          </a:p>
        </p:txBody>
      </p:sp>
      <p:sp>
        <p:nvSpPr>
          <p:cNvPr id="63" name="TextBox 62"/>
          <p:cNvSpPr txBox="1"/>
          <p:nvPr/>
        </p:nvSpPr>
        <p:spPr>
          <a:xfrm>
            <a:off x="500063" y="2558574"/>
            <a:ext cx="2500313"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Zero-LLM bounding-box &amp; contrast check</a:t>
            </a:r>
            <a:endParaRPr sz="800">
              <a:latin typeface="Google Sans"/>
            </a:endParaRPr>
          </a:p>
        </p:txBody>
      </p:sp>
      <p:sp>
        <p:nvSpPr>
          <p:cNvPr id="64" name="TextBox 63"/>
          <p:cNvSpPr txBox="1"/>
          <p:nvPr/>
        </p:nvSpPr>
        <p:spPr>
          <a:xfrm>
            <a:off x="500063" y="2694305"/>
            <a:ext cx="2500313"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37333"/>
                </a:solidFill>
                <a:latin typeface="Google Sans"/>
              </a:rPr>
              <a:t>HMAC-SHA256 HITL Gate + .PPTX Compiler</a:t>
            </a:r>
            <a:endParaRPr sz="800">
              <a:latin typeface="Google Sans"/>
            </a:endParaRPr>
          </a:p>
        </p:txBody>
      </p:sp>
      <p:sp>
        <p:nvSpPr>
          <p:cNvPr id="65" name="TextBox 64"/>
          <p:cNvSpPr txBox="1"/>
          <p:nvPr/>
        </p:nvSpPr>
        <p:spPr>
          <a:xfrm>
            <a:off x="500063" y="2808605"/>
            <a:ext cx="2500313"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Cryptographic HITL approval before export</a:t>
            </a:r>
            <a:endParaRPr sz="800">
              <a:latin typeface="Google Sans"/>
            </a:endParaRPr>
          </a:p>
        </p:txBody>
      </p:sp>
      <p:sp>
        <p:nvSpPr>
          <p:cNvPr id="66" name="Rounded Rectangle 65"/>
          <p:cNvSpPr/>
          <p:nvPr/>
        </p:nvSpPr>
        <p:spPr>
          <a:xfrm>
            <a:off x="3200400" y="2243138"/>
            <a:ext cx="2714625" cy="742950"/>
          </a:xfrm>
          <a:prstGeom prst="roundRect">
            <a:avLst>
              <a:gd name="adj" fmla="val 5769"/>
            </a:avLst>
          </a:prstGeom>
          <a:solidFill>
            <a:schemeClr val="lt1">
              <a:lumMod val="97000"/>
              <a:lumOff val="3000"/>
            </a:schemeClr>
          </a:solidFill>
          <a:ln w="1071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3200400" y="2243138"/>
            <a:ext cx="2714625" cy="185738"/>
          </a:xfrm>
          <a:prstGeom prst="roundRect">
            <a:avLst>
              <a:gd name="adj" fmla="val 23076"/>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00400" y="2244249"/>
            <a:ext cx="2714625"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accent1"/>
                </a:solidFill>
                <a:latin typeface="Google Sans"/>
              </a:rPr>
              <a:t>On-Demand Co-Design Studio Agents (8 &amp; 9)</a:t>
            </a:r>
            <a:endParaRPr sz="800">
              <a:latin typeface="Google Sans"/>
            </a:endParaRPr>
          </a:p>
        </p:txBody>
      </p:sp>
      <p:sp>
        <p:nvSpPr>
          <p:cNvPr id="69" name="TextBox 68"/>
          <p:cNvSpPr txBox="1"/>
          <p:nvPr/>
        </p:nvSpPr>
        <p:spPr>
          <a:xfrm>
            <a:off x="3286125" y="2429986"/>
            <a:ext cx="25717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8. WebImageSearchAgent (Wikimedia)</a:t>
            </a:r>
            <a:endParaRPr sz="800">
              <a:latin typeface="Google Sans"/>
            </a:endParaRPr>
          </a:p>
        </p:txBody>
      </p:sp>
      <p:sp>
        <p:nvSpPr>
          <p:cNvPr id="70" name="TextBox 69"/>
          <p:cNvSpPr txBox="1"/>
          <p:nvPr/>
        </p:nvSpPr>
        <p:spPr>
          <a:xfrm>
            <a:off x="3286125" y="2558574"/>
            <a:ext cx="25717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CC-BY-SA / Public Domain sourcing ($0.00)</a:t>
            </a:r>
            <a:endParaRPr sz="800">
              <a:latin typeface="Google Sans"/>
            </a:endParaRPr>
          </a:p>
        </p:txBody>
      </p:sp>
      <p:sp>
        <p:nvSpPr>
          <p:cNvPr id="71" name="TextBox 70"/>
          <p:cNvSpPr txBox="1"/>
          <p:nvPr/>
        </p:nvSpPr>
        <p:spPr>
          <a:xfrm>
            <a:off x="3286125" y="2694305"/>
            <a:ext cx="25717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B06000"/>
                </a:solidFill>
                <a:latin typeface="Google Sans"/>
              </a:rPr>
              <a:t>9. NanoBananaImageAgent ($0.08 Cost Gate)</a:t>
            </a:r>
            <a:endParaRPr sz="800">
              <a:latin typeface="Google Sans"/>
            </a:endParaRPr>
          </a:p>
        </p:txBody>
      </p:sp>
      <p:sp>
        <p:nvSpPr>
          <p:cNvPr id="72" name="TextBox 71"/>
          <p:cNvSpPr txBox="1"/>
          <p:nvPr/>
        </p:nvSpPr>
        <p:spPr>
          <a:xfrm>
            <a:off x="3286125" y="2808605"/>
            <a:ext cx="2571750"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Explicit counselor opt-in for diagram synthesis</a:t>
            </a:r>
            <a:endParaRPr sz="800">
              <a:latin typeface="Google Sans"/>
            </a:endParaRPr>
          </a:p>
        </p:txBody>
      </p:sp>
      <p:sp>
        <p:nvSpPr>
          <p:cNvPr id="73" name="Rounded Rectangle 72"/>
          <p:cNvSpPr/>
          <p:nvPr/>
        </p:nvSpPr>
        <p:spPr>
          <a:xfrm>
            <a:off x="6057900" y="2243138"/>
            <a:ext cx="2671763" cy="742950"/>
          </a:xfrm>
          <a:prstGeom prst="roundRect">
            <a:avLst>
              <a:gd name="adj" fmla="val 5769"/>
            </a:avLst>
          </a:prstGeom>
          <a:solidFill>
            <a:schemeClr val="lt1">
              <a:lumMod val="97000"/>
              <a:lumOff val="3000"/>
            </a:schemeClr>
          </a:solidFill>
          <a:ln w="1071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057900" y="2243138"/>
            <a:ext cx="2671763" cy="185738"/>
          </a:xfrm>
          <a:prstGeom prst="roundRect">
            <a:avLst>
              <a:gd name="adj" fmla="val 23076"/>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57900" y="2244249"/>
            <a:ext cx="2671763" cy="142875"/>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Dual-Transport Plane: 162 OpenAPI | 27-Cap MCP</a:t>
            </a:r>
            <a:endParaRPr sz="800">
              <a:latin typeface="Google Sans"/>
            </a:endParaRPr>
          </a:p>
        </p:txBody>
      </p:sp>
      <p:sp>
        <p:nvSpPr>
          <p:cNvPr id="76" name="TextBox 75"/>
          <p:cNvSpPr txBox="1"/>
          <p:nvPr/>
        </p:nvSpPr>
        <p:spPr>
          <a:xfrm>
            <a:off x="6143625" y="2429986"/>
            <a:ext cx="252888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162 OpenAPI 3.1 Paths | SSE | A2UI | A2A 1.0</a:t>
            </a:r>
            <a:endParaRPr sz="800">
              <a:latin typeface="Google Sans"/>
            </a:endParaRPr>
          </a:p>
        </p:txBody>
      </p:sp>
      <p:sp>
        <p:nvSpPr>
          <p:cNvPr id="77" name="TextBox 76"/>
          <p:cNvSpPr txBox="1"/>
          <p:nvPr/>
        </p:nvSpPr>
        <p:spPr>
          <a:xfrm>
            <a:off x="6143625" y="2558574"/>
            <a:ext cx="252888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Live SSE streaming &amp; /.well-known/agent.json</a:t>
            </a:r>
            <a:endParaRPr sz="800">
              <a:latin typeface="Google Sans"/>
            </a:endParaRPr>
          </a:p>
        </p:txBody>
      </p:sp>
      <p:sp>
        <p:nvSpPr>
          <p:cNvPr id="78" name="TextBox 77"/>
          <p:cNvSpPr txBox="1"/>
          <p:nvPr/>
        </p:nvSpPr>
        <p:spPr>
          <a:xfrm>
            <a:off x="6143625" y="2694305"/>
            <a:ext cx="252888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accent1"/>
                </a:solidFill>
                <a:latin typeface="Google Sans"/>
              </a:rPr>
              <a:t>27-Capability MCP Server (Stdio + POST /mcp)</a:t>
            </a:r>
            <a:endParaRPr sz="800">
              <a:latin typeface="Google Sans"/>
            </a:endParaRPr>
          </a:p>
        </p:txBody>
      </p:sp>
      <p:sp>
        <p:nvSpPr>
          <p:cNvPr id="79" name="TextBox 78"/>
          <p:cNvSpPr txBox="1"/>
          <p:nvPr/>
        </p:nvSpPr>
        <p:spPr>
          <a:xfrm>
            <a:off x="6143625" y="2808605"/>
            <a:ext cx="2528888" cy="142875"/>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15 tools, 7 resources, 5 prompts over JSON-RPC</a:t>
            </a:r>
            <a:endParaRPr sz="800">
              <a:latin typeface="Google Sans"/>
            </a:endParaRPr>
          </a:p>
        </p:txBody>
      </p:sp>
      <p:sp>
        <p:nvSpPr>
          <p:cNvPr id="80" name="TextBox 79"/>
          <p:cNvSpPr txBox="1"/>
          <p:nvPr/>
        </p:nvSpPr>
        <p:spPr>
          <a:xfrm>
            <a:off x="342900" y="3114675"/>
            <a:ext cx="2714625" cy="142875"/>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8">
                <a:solidFill>
                  <a:schemeClr val="accent1"/>
                </a:solidFill>
                <a:latin typeface="Google Sans"/>
              </a:rPr>
              <a:t>DETERMINISTIC ORCHESTRATION</a:t>
            </a:r>
            <a:endParaRPr sz="900">
              <a:latin typeface="Google Sans"/>
            </a:endParaRPr>
          </a:p>
        </p:txBody>
      </p:sp>
      <p:sp>
        <p:nvSpPr>
          <p:cNvPr id="81" name="TextBox 80"/>
          <p:cNvSpPr txBox="1"/>
          <p:nvPr/>
        </p:nvSpPr>
        <p:spPr>
          <a:xfrm>
            <a:off x="342900" y="3286125"/>
            <a:ext cx="2628900" cy="300038"/>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1" i="0" u="none" sz="1000">
                <a:solidFill>
                  <a:schemeClr val="dk1"/>
                </a:solidFill>
                <a:latin typeface="Google Sans"/>
              </a:rPr>
              <a:t>5-Stage SequentialAgent + 21 Multi-Option Unrolling.</a:t>
            </a:r>
            <a:endParaRPr sz="1000">
              <a:latin typeface="Google Sans"/>
            </a:endParaRPr>
          </a:p>
        </p:txBody>
      </p:sp>
      <p:sp>
        <p:nvSpPr>
          <p:cNvPr id="82" name="TextBox 81"/>
          <p:cNvSpPr txBox="1"/>
          <p:nvPr/>
        </p:nvSpPr>
        <p:spPr>
          <a:xfrm>
            <a:off x="342900" y="3614738"/>
            <a:ext cx="2628900" cy="957263"/>
          </a:xfrm>
          <a:prstGeom prst="rect">
            <a:avLst/>
          </a:prstGeom>
          <a:noFill/>
          <a:ln>
            <a:noFill/>
          </a:ln>
          <a:effectLst/>
        </p:spPr>
        <p:txBody>
          <a:bodyPr wrap="square" anchor="t" lIns="0" rIns="0" tIns="6460" bIns="0">
            <a:noAutofit/>
          </a:bodyPr>
          <a:lstStyle/>
          <a:p>
            <a:pPr algn="l">
              <a:lnSpc>
                <a:spcPct val="110000"/>
              </a:lnSpc>
              <a:spcBef>
                <a:spcPts val="0"/>
              </a:spcBef>
              <a:spcAft>
                <a:spcPts val="0"/>
              </a:spcAft>
            </a:pPr>
            <a:r>
              <a:rPr b="0" i="0" u="none" sz="900">
                <a:solidFill>
                  <a:schemeClr val="accent5"/>
                </a:solidFill>
                <a:latin typeface="Google Sans"/>
              </a:rPr>
              <a:t>Unrolls </a:t>
            </a:r>
            <a:r>
              <a:rPr b="0" i="0" u="none" sz="900">
                <a:solidFill>
                  <a:srgbClr val="202124"/>
                </a:solidFill>
                <a:latin typeface="Google Sans Medium"/>
              </a:rPr>
              <a:t>21 multi-option badges (44 tracks)</a:t>
            </a:r>
            <a:r>
              <a:rPr b="0" i="0" u="none" sz="900">
                <a:solidFill>
                  <a:schemeClr val="accent5"/>
                </a:solidFill>
                <a:latin typeface="Google Sans"/>
              </a:rPr>
              <a:t> and curates </a:t>
            </a:r>
            <a:r>
              <a:rPr b="0" i="0" u="none" sz="900">
                <a:solidFill>
                  <a:srgbClr val="202124"/>
                </a:solidFill>
                <a:latin typeface="Google Sans Medium"/>
              </a:rPr>
              <a:t>&lt;= 3 Patrol Scenario Quizzes</a:t>
            </a:r>
            <a:r>
              <a:rPr b="0" i="0" u="none" sz="900">
                <a:solidFill>
                  <a:schemeClr val="accent5"/>
                </a:solidFill>
                <a:latin typeface="Google Sans"/>
              </a:rPr>
              <a:t> on safety reqs. </a:t>
            </a:r>
            <a:r>
              <a:rPr b="0" i="0" u="none" sz="900">
                <a:solidFill>
                  <a:srgbClr val="202124"/>
                </a:solidFill>
                <a:latin typeface="Google Sans Medium"/>
              </a:rPr>
              <a:t>EventsCompactionConfig</a:t>
            </a:r>
            <a:r>
              <a:rPr b="0" i="0" u="none" sz="900">
                <a:solidFill>
                  <a:schemeClr val="accent5"/>
                </a:solidFill>
                <a:latin typeface="Google Sans"/>
              </a:rPr>
              <a:t> + </a:t>
            </a:r>
            <a:r>
              <a:rPr b="0" i="0" u="none" sz="900">
                <a:solidFill>
                  <a:srgbClr val="202124"/>
                </a:solidFill>
                <a:latin typeface="Google Sans Medium"/>
              </a:rPr>
              <a:t>HMAC-SHA256</a:t>
            </a:r>
            <a:r>
              <a:rPr b="0" i="0" u="none" sz="900">
                <a:solidFill>
                  <a:schemeClr val="accent5"/>
                </a:solidFill>
                <a:latin typeface="Google Sans"/>
              </a:rPr>
              <a:t> HITL gates hold overhead to </a:t>
            </a:r>
            <a:r>
              <a:rPr b="1" i="0" u="none" sz="900">
                <a:solidFill>
                  <a:srgbClr val="137333"/>
                </a:solidFill>
                <a:latin typeface="Google Sans"/>
              </a:rPr>
              <a:t>18ms</a:t>
            </a:r>
            <a:r>
              <a:rPr b="0" i="0" u="none" sz="900">
                <a:solidFill>
                  <a:schemeClr val="accent5"/>
                </a:solidFill>
                <a:latin typeface="Google Sans"/>
              </a:rPr>
              <a:t>.</a:t>
            </a:r>
            <a:endParaRPr sz="900">
              <a:latin typeface="Google Sans"/>
            </a:endParaRPr>
          </a:p>
        </p:txBody>
      </p:sp>
      <p:cxnSp>
        <p:nvCxnSpPr>
          <p:cNvPr id="83" name="Connector 82"/>
          <p:cNvCxnSpPr/>
          <p:nvPr/>
        </p:nvCxnSpPr>
        <p:spPr>
          <a:xfrm>
            <a:off x="3114675" y="3128963"/>
            <a:ext cx="0" cy="1371600"/>
          </a:xfrm>
          <a:prstGeom prst="straightConnector1">
            <a:avLst/>
          </a:prstGeom>
          <a:ln w="7144" cap="flat">
            <a:solidFill>
              <a:srgbClr val="DADCE0"/>
            </a:solidFill>
          </a:ln>
        </p:spPr>
      </p:cxnSp>
      <p:sp>
        <p:nvSpPr>
          <p:cNvPr id="84" name="TextBox 83"/>
          <p:cNvSpPr txBox="1"/>
          <p:nvPr/>
        </p:nvSpPr>
        <p:spPr>
          <a:xfrm>
            <a:off x="3257550" y="3114675"/>
            <a:ext cx="2714625" cy="142875"/>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8">
                <a:solidFill>
                  <a:srgbClr val="B06000"/>
                </a:solidFill>
                <a:latin typeface="Google Sans"/>
              </a:rPr>
              <a:t>TOOL ISOLATION &amp; BIDIRECTIONAL PII</a:t>
            </a:r>
            <a:endParaRPr sz="900">
              <a:latin typeface="Google Sans"/>
            </a:endParaRPr>
          </a:p>
        </p:txBody>
      </p:sp>
      <p:sp>
        <p:nvSpPr>
          <p:cNvPr id="85" name="TextBox 84"/>
          <p:cNvSpPr txBox="1"/>
          <p:nvPr/>
        </p:nvSpPr>
        <p:spPr>
          <a:xfrm>
            <a:off x="3257550" y="3286125"/>
            <a:ext cx="2628900" cy="300038"/>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1" i="0" u="none" sz="1000">
                <a:solidFill>
                  <a:schemeClr val="dk1"/>
                </a:solidFill>
                <a:latin typeface="Google Sans"/>
              </a:rPr>
              <a:t>AgentTool Isolation (FM-1) + Bidirectional PII Gate.</a:t>
            </a:r>
            <a:endParaRPr sz="1000">
              <a:latin typeface="Google Sans"/>
            </a:endParaRPr>
          </a:p>
        </p:txBody>
      </p:sp>
      <p:sp>
        <p:nvSpPr>
          <p:cNvPr id="86" name="TextBox 85"/>
          <p:cNvSpPr txBox="1"/>
          <p:nvPr/>
        </p:nvSpPr>
        <p:spPr>
          <a:xfrm>
            <a:off x="3257550" y="3614738"/>
            <a:ext cx="2628900" cy="885825"/>
          </a:xfrm>
          <a:prstGeom prst="rect">
            <a:avLst/>
          </a:prstGeom>
          <a:noFill/>
          <a:ln>
            <a:noFill/>
          </a:ln>
          <a:effectLst/>
        </p:spPr>
        <p:txBody>
          <a:bodyPr wrap="square" anchor="t" lIns="0" rIns="0" tIns="6460" bIns="0">
            <a:noAutofit/>
          </a:bodyPr>
          <a:lstStyle/>
          <a:p>
            <a:pPr algn="l">
              <a:lnSpc>
                <a:spcPct val="110000"/>
              </a:lnSpc>
              <a:spcBef>
                <a:spcPts val="0"/>
              </a:spcBef>
              <a:spcAft>
                <a:spcPts val="0"/>
              </a:spcAft>
            </a:pPr>
            <a:r>
              <a:rPr b="0" i="0" u="none" sz="900">
                <a:solidFill>
                  <a:schemeClr val="accent5"/>
                </a:solidFill>
                <a:latin typeface="Google Sans"/>
              </a:rPr>
              <a:t>Isolating </a:t>
            </a:r>
            <a:r>
              <a:rPr b="0" i="0" u="none" sz="900">
                <a:solidFill>
                  <a:srgbClr val="202124"/>
                </a:solidFill>
                <a:latin typeface="Google Sans Medium"/>
              </a:rPr>
              <a:t>GoogleSearchTool</a:t>
            </a:r>
            <a:r>
              <a:rPr b="0" i="0" u="none" sz="900">
                <a:solidFill>
                  <a:schemeClr val="accent5"/>
                </a:solidFill>
                <a:latin typeface="Google Sans"/>
              </a:rPr>
              <a:t> inside </a:t>
            </a:r>
            <a:r>
              <a:rPr b="0" i="0" u="none" sz="900">
                <a:solidFill>
                  <a:srgbClr val="202124"/>
                </a:solidFill>
                <a:latin typeface="Google Sans Medium"/>
              </a:rPr>
              <a:t>WebSearchGroundingAgent</a:t>
            </a:r>
            <a:r>
              <a:rPr b="0" i="0" u="none" sz="900">
                <a:solidFill>
                  <a:schemeClr val="accent5"/>
                </a:solidFill>
                <a:latin typeface="Google Sans"/>
              </a:rPr>
              <a:t> (</a:t>
            </a:r>
            <a:r>
              <a:rPr b="1" i="0" u="none" sz="900">
                <a:solidFill>
                  <a:srgbClr val="1A73E8"/>
                </a:solidFill>
                <a:latin typeface="Google Sans"/>
              </a:rPr>
              <a:t>AgentTool</a:t>
            </a:r>
            <a:r>
              <a:rPr b="0" i="0" u="none" sz="900">
                <a:solidFill>
                  <a:schemeClr val="accent5"/>
                </a:solidFill>
                <a:latin typeface="Google Sans"/>
              </a:rPr>
              <a:t>) eliminates HTTP 400 collisions, while </a:t>
            </a:r>
            <a:r>
              <a:rPr b="0" i="0" u="none" sz="900">
                <a:solidFill>
                  <a:srgbClr val="202124"/>
                </a:solidFill>
                <a:latin typeface="Google Sans Medium"/>
              </a:rPr>
              <a:t>ScoutsBSAModelArmorPlugin</a:t>
            </a:r>
            <a:r>
              <a:rPr b="0" i="0" u="none" sz="900">
                <a:solidFill>
                  <a:schemeClr val="accent5"/>
                </a:solidFill>
                <a:latin typeface="Google Sans"/>
              </a:rPr>
              <a:t> scrubs PII across both </a:t>
            </a:r>
            <a:r>
              <a:rPr b="1" i="0" u="none" sz="900">
                <a:solidFill>
                  <a:srgbClr val="137333"/>
                </a:solidFill>
                <a:latin typeface="Google Sans"/>
              </a:rPr>
              <a:t>Ingress</a:t>
            </a:r>
            <a:r>
              <a:rPr b="0" i="0" u="none" sz="900">
                <a:solidFill>
                  <a:schemeClr val="accent5"/>
                </a:solidFill>
                <a:latin typeface="Google Sans"/>
              </a:rPr>
              <a:t> prompts and </a:t>
            </a:r>
            <a:r>
              <a:rPr b="1" i="0" u="none" sz="900">
                <a:solidFill>
                  <a:srgbClr val="137333"/>
                </a:solidFill>
                <a:latin typeface="Google Sans"/>
              </a:rPr>
              <a:t>SSE Egress</a:t>
            </a:r>
            <a:r>
              <a:rPr b="0" i="0" u="none" sz="900">
                <a:solidFill>
                  <a:schemeClr val="accent5"/>
                </a:solidFill>
                <a:latin typeface="Google Sans"/>
              </a:rPr>
              <a:t> streams.</a:t>
            </a:r>
            <a:endParaRPr sz="900">
              <a:latin typeface="Google Sans"/>
            </a:endParaRPr>
          </a:p>
        </p:txBody>
      </p:sp>
      <p:cxnSp>
        <p:nvCxnSpPr>
          <p:cNvPr id="87" name="Connector 86"/>
          <p:cNvCxnSpPr/>
          <p:nvPr/>
        </p:nvCxnSpPr>
        <p:spPr>
          <a:xfrm>
            <a:off x="6029325" y="3128963"/>
            <a:ext cx="0" cy="1371600"/>
          </a:xfrm>
          <a:prstGeom prst="straightConnector1">
            <a:avLst/>
          </a:prstGeom>
          <a:ln w="7144" cap="flat">
            <a:solidFill>
              <a:srgbClr val="DADCE0"/>
            </a:solidFill>
          </a:ln>
        </p:spPr>
      </p:cxnSp>
      <p:sp>
        <p:nvSpPr>
          <p:cNvPr id="88" name="TextBox 87"/>
          <p:cNvSpPr txBox="1"/>
          <p:nvPr/>
        </p:nvSpPr>
        <p:spPr>
          <a:xfrm>
            <a:off x="6172200" y="3114675"/>
            <a:ext cx="2943225" cy="142875"/>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8">
                <a:solidFill>
                  <a:srgbClr val="137333"/>
                </a:solidFill>
                <a:latin typeface="Google Sans"/>
              </a:rPr>
              <a:t>INTEROPERABLE ECOSYSTEM</a:t>
            </a:r>
            <a:endParaRPr sz="900">
              <a:latin typeface="Google Sans"/>
            </a:endParaRPr>
          </a:p>
        </p:txBody>
      </p:sp>
      <p:sp>
        <p:nvSpPr>
          <p:cNvPr id="89" name="TextBox 88"/>
          <p:cNvSpPr txBox="1"/>
          <p:nvPr/>
        </p:nvSpPr>
        <p:spPr>
          <a:xfrm>
            <a:off x="6172200" y="3286125"/>
            <a:ext cx="2628900" cy="300038"/>
          </a:xfrm>
          <a:prstGeom prst="rect">
            <a:avLst/>
          </a:prstGeom>
          <a:noFill/>
          <a:ln>
            <a:noFill/>
          </a:ln>
          <a:effectLst/>
        </p:spPr>
        <p:txBody>
          <a:bodyPr wrap="square" anchor="t" lIns="0" rIns="0" tIns="1676" bIns="0">
            <a:noAutofit/>
          </a:bodyPr>
          <a:lstStyle/>
          <a:p>
            <a:pPr algn="l">
              <a:lnSpc>
                <a:spcPct val="100000"/>
              </a:lnSpc>
              <a:spcBef>
                <a:spcPts val="0"/>
              </a:spcBef>
              <a:spcAft>
                <a:spcPts val="0"/>
              </a:spcAft>
            </a:pPr>
            <a:r>
              <a:rPr b="1" i="0" u="none" sz="1000">
                <a:solidFill>
                  <a:schemeClr val="dk1"/>
                </a:solidFill>
                <a:latin typeface="Google Sans"/>
              </a:rPr>
              <a:t>162 OpenAPI 3.1 Endpoints &amp; Dual-Transport MCP.</a:t>
            </a:r>
            <a:endParaRPr sz="1000">
              <a:latin typeface="Google Sans"/>
            </a:endParaRPr>
          </a:p>
        </p:txBody>
      </p:sp>
      <p:sp>
        <p:nvSpPr>
          <p:cNvPr id="90" name="TextBox 89"/>
          <p:cNvSpPr txBox="1"/>
          <p:nvPr/>
        </p:nvSpPr>
        <p:spPr>
          <a:xfrm>
            <a:off x="6172200" y="3614738"/>
            <a:ext cx="2628900" cy="450056"/>
          </a:xfrm>
          <a:prstGeom prst="rect">
            <a:avLst/>
          </a:prstGeom>
          <a:noFill/>
          <a:ln>
            <a:noFill/>
          </a:ln>
          <a:effectLst/>
        </p:spPr>
        <p:txBody>
          <a:bodyPr wrap="square" anchor="t" lIns="0" rIns="0" tIns="6460" bIns="0">
            <a:noAutofit/>
          </a:bodyPr>
          <a:lstStyle/>
          <a:p>
            <a:pPr algn="l">
              <a:lnSpc>
                <a:spcPct val="110000"/>
              </a:lnSpc>
              <a:spcBef>
                <a:spcPts val="0"/>
              </a:spcBef>
              <a:spcAft>
                <a:spcPts val="0"/>
              </a:spcAft>
            </a:pPr>
            <a:r>
              <a:rPr b="0" i="0" u="none" sz="900">
                <a:solidFill>
                  <a:schemeClr val="accent5"/>
                </a:solidFill>
                <a:latin typeface="Google Sans"/>
              </a:rPr>
              <a:t>Exposes REST, SSE, A2UI v0.9, A2A 1.0, and a 27-capability MCP server (Stdio + HTTP POST /mcp).</a:t>
            </a:r>
            <a:endParaRPr sz="900">
              <a:latin typeface="Google Sans"/>
            </a:endParaRPr>
          </a:p>
        </p:txBody>
      </p:sp>
      <p:sp>
        <p:nvSpPr>
          <p:cNvPr id="91" name="TextBox 90"/>
          <p:cNvSpPr txBox="1"/>
          <p:nvPr/>
        </p:nvSpPr>
        <p:spPr>
          <a:xfrm>
            <a:off x="342900" y="4714875"/>
            <a:ext cx="8772525" cy="142875"/>
          </a:xfrm>
          <a:prstGeom prst="rect">
            <a:avLst/>
          </a:prstGeom>
          <a:noFill/>
          <a:ln>
            <a:noFill/>
          </a:ln>
          <a:effectLst/>
        </p:spPr>
        <p:txBody>
          <a:bodyPr wrap="none" anchor="t" lIns="0" rIns="0" tIns="51533" bIns="0">
            <a:noAutofit/>
          </a:bodyPr>
          <a:lstStyle/>
          <a:p>
            <a:pPr algn="l">
              <a:lnSpc>
                <a:spcPct val="101580"/>
              </a:lnSpc>
              <a:spcBef>
                <a:spcPts val="0"/>
              </a:spcBef>
              <a:spcAft>
                <a:spcPts val="0"/>
              </a:spcAft>
            </a:pPr>
            <a:r>
              <a:rPr b="0" i="0" u="none" sz="600">
                <a:solidFill>
                  <a:schemeClr val="accent5"/>
                </a:solidFill>
                <a:latin typeface="Google Sans"/>
              </a:rPr>
              <a:t>Source: src/agents/coordinator.py, src/agents/researcher.py, src/mcp_server.py, ARCHITECTURE_DECISIONS.md (ADR-01).</a:t>
            </a:r>
            <a:endParaRPr sz="600">
              <a:latin typeface="Google Sans"/>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71450"/>
            <a:ext cx="8458200" cy="628650"/>
          </a:xfrm>
          <a:prstGeom prst="rect">
            <a:avLst/>
          </a:prstGeom>
          <a:noFill/>
          <a:ln>
            <a:noFill/>
          </a:ln>
          <a:effectLst/>
        </p:spPr>
        <p:txBody>
          <a:bodyPr wrap="square" anchor="t" lIns="0" rIns="0" tIns="6353" bIns="0">
            <a:noAutofit/>
          </a:bodyPr>
          <a:lstStyle/>
          <a:p>
            <a:pPr algn="l">
              <a:lnSpc>
                <a:spcPct val="104170"/>
              </a:lnSpc>
              <a:spcBef>
                <a:spcPts val="0"/>
              </a:spcBef>
              <a:spcAft>
                <a:spcPts val="0"/>
              </a:spcAft>
            </a:pPr>
            <a:r>
              <a:rPr b="0" i="0" u="none" sz="1600">
                <a:solidFill>
                  <a:schemeClr val="dk1"/>
                </a:solidFill>
                <a:latin typeface="Google Sans Medium"/>
              </a:rPr>
              <a:t>Hybrid BM25 + Vector RRF With Cross-Encoder Reranking Achieves 1.0000 Recall@3 With Zero Requirement Drift</a:t>
            </a:r>
            <a:endParaRPr sz="1600">
              <a:latin typeface="Google Sans Medium"/>
            </a:endParaRPr>
          </a:p>
        </p:txBody>
      </p:sp>
      <p:sp>
        <p:nvSpPr>
          <p:cNvPr id="3" name="TextBox 2"/>
          <p:cNvSpPr txBox="1"/>
          <p:nvPr/>
        </p:nvSpPr>
        <p:spPr>
          <a:xfrm>
            <a:off x="342900" y="800100"/>
            <a:ext cx="3857625" cy="171450"/>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17">
                <a:solidFill>
                  <a:schemeClr val="accent1"/>
                </a:solidFill>
                <a:latin typeface="Google Sans"/>
              </a:rPr>
              <a:t>DETERMINISTIC REQUIREMENT LOCK &amp; HYBRID RRF RETRIEVAL</a:t>
            </a:r>
            <a:endParaRPr sz="900">
              <a:latin typeface="Google Sans"/>
            </a:endParaRPr>
          </a:p>
        </p:txBody>
      </p:sp>
      <p:cxnSp>
        <p:nvCxnSpPr>
          <p:cNvPr id="4" name="Connector 3"/>
          <p:cNvCxnSpPr/>
          <p:nvPr/>
        </p:nvCxnSpPr>
        <p:spPr>
          <a:xfrm>
            <a:off x="357188" y="1085850"/>
            <a:ext cx="0" cy="1014413"/>
          </a:xfrm>
          <a:prstGeom prst="straightConnector1">
            <a:avLst/>
          </a:prstGeom>
          <a:ln w="28575">
            <a:solidFill>
              <a:schemeClr val="accent1"/>
            </a:solidFill>
          </a:ln>
        </p:spPr>
      </p:cxnSp>
      <p:sp>
        <p:nvSpPr>
          <p:cNvPr id="5" name="TextBox 4"/>
          <p:cNvSpPr txBox="1"/>
          <p:nvPr/>
        </p:nvSpPr>
        <p:spPr>
          <a:xfrm>
            <a:off x="485775" y="1100138"/>
            <a:ext cx="3714750" cy="192881"/>
          </a:xfrm>
          <a:prstGeom prst="rect">
            <a:avLst/>
          </a:prstGeom>
          <a:noFill/>
          <a:ln>
            <a:noFill/>
          </a:ln>
          <a:effectLst/>
        </p:spPr>
        <p:txBody>
          <a:bodyPr wrap="none" anchor="t" lIns="0" rIns="0" tIns="4368" bIns="0">
            <a:noAutofit/>
          </a:bodyPr>
          <a:lstStyle/>
          <a:p>
            <a:pPr algn="l">
              <a:lnSpc>
                <a:spcPct val="104170"/>
              </a:lnSpc>
              <a:spcBef>
                <a:spcPts val="0"/>
              </a:spcBef>
              <a:spcAft>
                <a:spcPts val="0"/>
              </a:spcAft>
            </a:pPr>
            <a:r>
              <a:rPr b="1" i="0" u="none" sz="1100">
                <a:solidFill>
                  <a:schemeClr val="dk1"/>
                </a:solidFill>
                <a:latin typeface="Google Sans"/>
              </a:rPr>
              <a:t>1. PyMuPDF Extraction &amp; SHA-256 Requirement Lock</a:t>
            </a:r>
            <a:endParaRPr sz="1100">
              <a:latin typeface="Google Sans"/>
            </a:endParaRPr>
          </a:p>
        </p:txBody>
      </p:sp>
      <p:sp>
        <p:nvSpPr>
          <p:cNvPr id="6" name="TextBox 5"/>
          <p:cNvSpPr txBox="1"/>
          <p:nvPr/>
        </p:nvSpPr>
        <p:spPr>
          <a:xfrm>
            <a:off x="485775" y="1314450"/>
            <a:ext cx="3571875" cy="700088"/>
          </a:xfrm>
          <a:prstGeom prst="rect">
            <a:avLst/>
          </a:prstGeom>
          <a:noFill/>
          <a:ln>
            <a:noFill/>
          </a:ln>
          <a:effectLst/>
        </p:spPr>
        <p:txBody>
          <a:bodyPr wrap="square" anchor="t" lIns="0" rIns="0" tIns="8553" bIns="0">
            <a:noAutofit/>
          </a:bodyPr>
          <a:lstStyle/>
          <a:p>
            <a:pPr algn="l">
              <a:lnSpc>
                <a:spcPct val="112500"/>
              </a:lnSpc>
              <a:spcBef>
                <a:spcPts val="0"/>
              </a:spcBef>
              <a:spcAft>
                <a:spcPts val="0"/>
              </a:spcAft>
            </a:pPr>
            <a:r>
              <a:rPr b="0" i="0" u="none" sz="1000">
                <a:solidFill>
                  <a:srgbClr val="3C4043"/>
                </a:solidFill>
                <a:latin typeface="Google Sans"/>
              </a:rPr>
              <a:t>Parses all 149 official BSA Pamphlet PDFs and </a:t>
            </a:r>
            <a:r>
              <a:rPr b="1" i="0" u="none" sz="1000">
                <a:solidFill>
                  <a:srgbClr val="3C4043"/>
                </a:solidFill>
                <a:latin typeface="Google Sans"/>
              </a:rPr>
              <a:t>scouting.org</a:t>
            </a:r>
            <a:r>
              <a:rPr b="0" i="0" u="none" sz="1000">
                <a:solidFill>
                  <a:srgbClr val="3C4043"/>
                </a:solidFill>
                <a:latin typeface="Google Sans"/>
              </a:rPr>
              <a:t> trees; </a:t>
            </a:r>
            <a:r>
              <a:rPr b="1" i="0" u="none" sz="1000">
                <a:solidFill>
                  <a:srgbClr val="3C4043"/>
                </a:solidFill>
                <a:latin typeface="Google Sans"/>
              </a:rPr>
              <a:t>compute_canonical_pamphlet_hash()</a:t>
            </a:r>
            <a:r>
              <a:rPr b="0" i="0" u="none" sz="1000">
                <a:solidFill>
                  <a:srgbClr val="3C4043"/>
                </a:solidFill>
                <a:latin typeface="Google Sans"/>
              </a:rPr>
              <a:t> locks every verbatim </a:t>
            </a:r>
            <a:r>
              <a:rPr b="1" i="0" u="none" sz="1000">
                <a:solidFill>
                  <a:srgbClr val="3C4043"/>
                </a:solidFill>
                <a:latin typeface="Google Sans"/>
              </a:rPr>
              <a:t>(req_number, req_text)</a:t>
            </a:r>
            <a:r>
              <a:rPr b="0" i="0" u="none" sz="1000">
                <a:solidFill>
                  <a:srgbClr val="3C4043"/>
                </a:solidFill>
                <a:latin typeface="Google Sans"/>
              </a:rPr>
              <a:t> tuple (</a:t>
            </a:r>
            <a:r>
              <a:rPr b="1" i="0" u="none" sz="1000">
                <a:solidFill>
                  <a:srgbClr val="3C4043"/>
                </a:solidFill>
                <a:latin typeface="Google Sans"/>
              </a:rPr>
              <a:t>1a..15b</a:t>
            </a:r>
            <a:r>
              <a:rPr b="0" i="0" u="none" sz="1000">
                <a:solidFill>
                  <a:srgbClr val="3C4043"/>
                </a:solidFill>
                <a:latin typeface="Google Sans"/>
              </a:rPr>
              <a:t>) before and after LLM enrichment so requirements never drift.</a:t>
            </a:r>
            <a:endParaRPr sz="1000">
              <a:latin typeface="Google Sans"/>
            </a:endParaRPr>
          </a:p>
        </p:txBody>
      </p:sp>
      <p:cxnSp>
        <p:nvCxnSpPr>
          <p:cNvPr id="7" name="Connector 6"/>
          <p:cNvCxnSpPr/>
          <p:nvPr/>
        </p:nvCxnSpPr>
        <p:spPr>
          <a:xfrm>
            <a:off x="357188" y="2243138"/>
            <a:ext cx="0" cy="1171575"/>
          </a:xfrm>
          <a:prstGeom prst="straightConnector1">
            <a:avLst/>
          </a:prstGeom>
          <a:ln w="28575">
            <a:solidFill>
              <a:schemeClr val="accent1"/>
            </a:solidFill>
          </a:ln>
        </p:spPr>
      </p:cxnSp>
      <p:sp>
        <p:nvSpPr>
          <p:cNvPr id="8" name="TextBox 7"/>
          <p:cNvSpPr txBox="1"/>
          <p:nvPr/>
        </p:nvSpPr>
        <p:spPr>
          <a:xfrm>
            <a:off x="485775" y="2257425"/>
            <a:ext cx="3714750" cy="192881"/>
          </a:xfrm>
          <a:prstGeom prst="rect">
            <a:avLst/>
          </a:prstGeom>
          <a:noFill/>
          <a:ln>
            <a:noFill/>
          </a:ln>
          <a:effectLst/>
        </p:spPr>
        <p:txBody>
          <a:bodyPr wrap="none" anchor="t" lIns="0" rIns="0" tIns="4368" bIns="0">
            <a:noAutofit/>
          </a:bodyPr>
          <a:lstStyle/>
          <a:p>
            <a:pPr algn="l">
              <a:lnSpc>
                <a:spcPct val="104170"/>
              </a:lnSpc>
              <a:spcBef>
                <a:spcPts val="0"/>
              </a:spcBef>
              <a:spcAft>
                <a:spcPts val="0"/>
              </a:spcAft>
            </a:pPr>
            <a:r>
              <a:rPr b="1" i="0" u="none" sz="1100">
                <a:solidFill>
                  <a:schemeClr val="dk1"/>
                </a:solidFill>
                <a:latin typeface="Google Sans"/>
              </a:rPr>
              <a:t>2. Hybrid Okapi BM25 + 768-Dim Cosine RRF (k=60)</a:t>
            </a:r>
            <a:endParaRPr sz="1100">
              <a:latin typeface="Google Sans"/>
            </a:endParaRPr>
          </a:p>
        </p:txBody>
      </p:sp>
      <p:sp>
        <p:nvSpPr>
          <p:cNvPr id="9" name="TextBox 8"/>
          <p:cNvSpPr txBox="1"/>
          <p:nvPr/>
        </p:nvSpPr>
        <p:spPr>
          <a:xfrm>
            <a:off x="485775" y="2471738"/>
            <a:ext cx="3586163" cy="1042988"/>
          </a:xfrm>
          <a:prstGeom prst="rect">
            <a:avLst/>
          </a:prstGeom>
          <a:noFill/>
          <a:ln>
            <a:noFill/>
          </a:ln>
          <a:effectLst/>
        </p:spPr>
        <p:txBody>
          <a:bodyPr wrap="square" anchor="t" lIns="0" rIns="0" tIns="8553" bIns="0">
            <a:noAutofit/>
          </a:bodyPr>
          <a:lstStyle/>
          <a:p>
            <a:pPr algn="l">
              <a:lnSpc>
                <a:spcPct val="112500"/>
              </a:lnSpc>
              <a:spcBef>
                <a:spcPts val="0"/>
              </a:spcBef>
              <a:spcAft>
                <a:spcPts val="0"/>
              </a:spcAft>
            </a:pPr>
            <a:r>
              <a:rPr b="0" i="0" u="none" sz="1000">
                <a:solidFill>
                  <a:srgbClr val="3C4043"/>
                </a:solidFill>
                <a:latin typeface="Google Sans"/>
              </a:rPr>
              <a:t>Pure dense embeddings blur short sibling IDs like </a:t>
            </a:r>
            <a:r>
              <a:rPr b="1" i="0" u="none" sz="1000">
                <a:solidFill>
                  <a:srgbClr val="3C4043"/>
                </a:solidFill>
                <a:latin typeface="Google Sans"/>
              </a:rPr>
              <a:t>Req 2a</a:t>
            </a:r>
            <a:r>
              <a:rPr b="0" i="0" u="none" sz="1000">
                <a:solidFill>
                  <a:srgbClr val="3C4043"/>
                </a:solidFill>
                <a:latin typeface="Google Sans"/>
              </a:rPr>
              <a:t> vs </a:t>
            </a:r>
            <a:r>
              <a:rPr b="1" i="0" u="none" sz="1000">
                <a:solidFill>
                  <a:srgbClr val="3C4043"/>
                </a:solidFill>
                <a:latin typeface="Google Sans"/>
              </a:rPr>
              <a:t>Req 2b</a:t>
            </a:r>
            <a:r>
              <a:rPr b="0" i="0" u="none" sz="1000">
                <a:solidFill>
                  <a:srgbClr val="3C4043"/>
                </a:solidFill>
                <a:latin typeface="Google Sans"/>
              </a:rPr>
              <a:t> (</a:t>
            </a:r>
            <a:r>
              <a:rPr b="1" i="0" u="none" sz="1000">
                <a:solidFill>
                  <a:srgbClr val="3C4043"/>
                </a:solidFill>
                <a:latin typeface="Google Sans"/>
              </a:rPr>
              <a:t>0.8125 Recall@3</a:t>
            </a:r>
            <a:r>
              <a:rPr b="0" i="0" u="none" sz="1000">
                <a:solidFill>
                  <a:srgbClr val="3C4043"/>
                </a:solidFill>
                <a:latin typeface="Google Sans"/>
              </a:rPr>
              <a:t>). Fusing Okapi BM25 (</a:t>
            </a:r>
            <a:r>
              <a:rPr b="1" i="0" u="none" sz="1000">
                <a:solidFill>
                  <a:srgbClr val="3C4043"/>
                </a:solidFill>
                <a:latin typeface="Google Sans"/>
              </a:rPr>
              <a:t>55%</a:t>
            </a:r>
            <a:r>
              <a:rPr b="0" i="0" u="none" sz="1000">
                <a:solidFill>
                  <a:srgbClr val="3C4043"/>
                </a:solidFill>
                <a:latin typeface="Google Sans"/>
              </a:rPr>
              <a:t> weight + </a:t>
            </a:r>
            <a:r>
              <a:rPr b="1" i="0" u="none" sz="1000">
                <a:solidFill>
                  <a:srgbClr val="3C4043"/>
                </a:solidFill>
                <a:latin typeface="Google Sans"/>
              </a:rPr>
              <a:t>3.0x</a:t>
            </a:r>
            <a:r>
              <a:rPr b="0" i="0" u="none" sz="1000">
                <a:solidFill>
                  <a:srgbClr val="3C4043"/>
                </a:solidFill>
                <a:latin typeface="Google Sans"/>
              </a:rPr>
              <a:t> exact ID boost) with </a:t>
            </a:r>
            <a:r>
              <a:rPr b="1" i="0" u="none" sz="1000">
                <a:solidFill>
                  <a:srgbClr val="3C4043"/>
                </a:solidFill>
                <a:latin typeface="Google Sans"/>
              </a:rPr>
              <a:t>text-embedding-005</a:t>
            </a:r>
            <a:r>
              <a:rPr b="0" i="0" u="none" sz="1000">
                <a:solidFill>
                  <a:srgbClr val="3C4043"/>
                </a:solidFill>
                <a:latin typeface="Google Sans"/>
              </a:rPr>
              <a:t> vectors (</a:t>
            </a:r>
            <a:r>
              <a:rPr b="1" i="0" u="none" sz="1000">
                <a:solidFill>
                  <a:srgbClr val="3C4043"/>
                </a:solidFill>
                <a:latin typeface="Google Sans"/>
              </a:rPr>
              <a:t>45%</a:t>
            </a:r>
            <a:r>
              <a:rPr b="0" i="0" u="none" sz="1000">
                <a:solidFill>
                  <a:srgbClr val="3C4043"/>
                </a:solidFill>
                <a:latin typeface="Google Sans"/>
              </a:rPr>
              <a:t> weight) in our 12-table SQLite WAL store (and </a:t>
            </a:r>
            <a:r>
              <a:rPr b="1" i="0" u="none" sz="1000">
                <a:solidFill>
                  <a:srgbClr val="3C4043"/>
                </a:solidFill>
                <a:latin typeface="Google Sans"/>
              </a:rPr>
              <a:t>CloudSQLPgVectorBackend</a:t>
            </a:r>
            <a:r>
              <a:rPr b="0" i="0" u="none" sz="1000">
                <a:solidFill>
                  <a:srgbClr val="3C4043"/>
                </a:solidFill>
                <a:latin typeface="Google Sans"/>
              </a:rPr>
              <a:t> adapter) cuts prompt tokens by </a:t>
            </a:r>
            <a:r>
              <a:rPr b="1" i="0" u="none" sz="1000">
                <a:solidFill>
                  <a:srgbClr val="3C4043"/>
                </a:solidFill>
                <a:latin typeface="Google Sans"/>
              </a:rPr>
              <a:t>68%</a:t>
            </a:r>
            <a:r>
              <a:rPr b="0" i="0" u="none" sz="1000">
                <a:solidFill>
                  <a:srgbClr val="3C4043"/>
                </a:solidFill>
                <a:latin typeface="Google Sans"/>
              </a:rPr>
              <a:t>.</a:t>
            </a:r>
            <a:endParaRPr sz="1000">
              <a:latin typeface="Google Sans"/>
            </a:endParaRPr>
          </a:p>
        </p:txBody>
      </p:sp>
      <p:cxnSp>
        <p:nvCxnSpPr>
          <p:cNvPr id="10" name="Connector 9"/>
          <p:cNvCxnSpPr/>
          <p:nvPr/>
        </p:nvCxnSpPr>
        <p:spPr>
          <a:xfrm>
            <a:off x="357188" y="3557588"/>
            <a:ext cx="0" cy="1071562"/>
          </a:xfrm>
          <a:prstGeom prst="straightConnector1">
            <a:avLst/>
          </a:prstGeom>
          <a:ln w="28575">
            <a:solidFill>
              <a:schemeClr val="accent1"/>
            </a:solidFill>
          </a:ln>
        </p:spPr>
      </p:cxnSp>
      <p:sp>
        <p:nvSpPr>
          <p:cNvPr id="11" name="TextBox 10"/>
          <p:cNvSpPr txBox="1"/>
          <p:nvPr/>
        </p:nvSpPr>
        <p:spPr>
          <a:xfrm>
            <a:off x="485775" y="3571875"/>
            <a:ext cx="3950494" cy="192881"/>
          </a:xfrm>
          <a:prstGeom prst="rect">
            <a:avLst/>
          </a:prstGeom>
          <a:noFill/>
          <a:ln>
            <a:noFill/>
          </a:ln>
          <a:effectLst/>
        </p:spPr>
        <p:txBody>
          <a:bodyPr wrap="none" anchor="t" lIns="0" rIns="0" tIns="4368" bIns="0">
            <a:noAutofit/>
          </a:bodyPr>
          <a:lstStyle/>
          <a:p>
            <a:pPr algn="l">
              <a:lnSpc>
                <a:spcPct val="104170"/>
              </a:lnSpc>
              <a:spcBef>
                <a:spcPts val="0"/>
              </a:spcBef>
              <a:spcAft>
                <a:spcPts val="0"/>
              </a:spcAft>
            </a:pPr>
            <a:r>
              <a:rPr b="1" i="0" u="none" sz="1100">
                <a:solidFill>
                  <a:schemeClr val="dk1"/>
                </a:solidFill>
                <a:latin typeface="Google Sans"/>
              </a:rPr>
              <a:t>3. 51-State Local Grounding &amp; 5,625 Curated Visuals</a:t>
            </a:r>
            <a:endParaRPr sz="1100">
              <a:latin typeface="Google Sans"/>
            </a:endParaRPr>
          </a:p>
        </p:txBody>
      </p:sp>
      <p:sp>
        <p:nvSpPr>
          <p:cNvPr id="12" name="TextBox 11"/>
          <p:cNvSpPr txBox="1"/>
          <p:nvPr/>
        </p:nvSpPr>
        <p:spPr>
          <a:xfrm>
            <a:off x="485775" y="3786188"/>
            <a:ext cx="3571875" cy="871538"/>
          </a:xfrm>
          <a:prstGeom prst="rect">
            <a:avLst/>
          </a:prstGeom>
          <a:noFill/>
          <a:ln>
            <a:noFill/>
          </a:ln>
          <a:effectLst/>
        </p:spPr>
        <p:txBody>
          <a:bodyPr wrap="square" anchor="t" lIns="0" rIns="0" tIns="8553" bIns="0">
            <a:noAutofit/>
          </a:bodyPr>
          <a:lstStyle/>
          <a:p>
            <a:pPr algn="l">
              <a:lnSpc>
                <a:spcPct val="112500"/>
              </a:lnSpc>
              <a:spcBef>
                <a:spcPts val="0"/>
              </a:spcBef>
              <a:spcAft>
                <a:spcPts val="0"/>
              </a:spcAft>
            </a:pPr>
            <a:r>
              <a:rPr b="1" i="0" u="none" sz="1000">
                <a:solidFill>
                  <a:srgbClr val="3C4043"/>
                </a:solidFill>
                <a:latin typeface="Google Sans"/>
              </a:rPr>
              <a:t>_STATE_CIVIC_AND_FIELD_REGISTRY</a:t>
            </a:r>
            <a:r>
              <a:rPr b="0" i="0" u="none" sz="1000">
                <a:solidFill>
                  <a:srgbClr val="3C4043"/>
                </a:solidFill>
                <a:latin typeface="Google Sans"/>
              </a:rPr>
              <a:t> maps any counselor ZIP across all 50 states + D.C. to local NOAA NWS forecast offices, terrain hazards, state parks, and current U.S. Senators, paired with </a:t>
            </a:r>
            <a:r>
              <a:rPr b="1" i="0" u="none" sz="1000">
                <a:solidFill>
                  <a:srgbClr val="3C4043"/>
                </a:solidFill>
                <a:latin typeface="Google Sans"/>
              </a:rPr>
              <a:t>2,833</a:t>
            </a:r>
            <a:r>
              <a:rPr b="0" i="0" u="none" sz="1000">
                <a:solidFill>
                  <a:srgbClr val="3C4043"/>
                </a:solidFill>
                <a:latin typeface="Google Sans"/>
              </a:rPr>
              <a:t> Vision-verified pamphlet figures and </a:t>
            </a:r>
            <a:r>
              <a:rPr b="1" i="0" u="none" sz="1000">
                <a:solidFill>
                  <a:srgbClr val="3C4043"/>
                </a:solidFill>
                <a:latin typeface="Google Sans"/>
              </a:rPr>
              <a:t>2,792</a:t>
            </a:r>
            <a:r>
              <a:rPr b="0" i="0" u="none" sz="1000">
                <a:solidFill>
                  <a:srgbClr val="3C4043"/>
                </a:solidFill>
                <a:latin typeface="Google Sans"/>
              </a:rPr>
              <a:t> Nano Banana illustrations.</a:t>
            </a:r>
            <a:endParaRPr sz="1000">
              <a:latin typeface="Google Sans"/>
            </a:endParaRPr>
          </a:p>
        </p:txBody>
      </p:sp>
      <p:sp>
        <p:nvSpPr>
          <p:cNvPr id="13" name="TextBox 12"/>
          <p:cNvSpPr txBox="1"/>
          <p:nvPr/>
        </p:nvSpPr>
        <p:spPr>
          <a:xfrm>
            <a:off x="4257675" y="800100"/>
            <a:ext cx="4857750" cy="171450"/>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17">
                <a:solidFill>
                  <a:schemeClr val="accent1"/>
                </a:solidFill>
                <a:latin typeface="Google Sans"/>
              </a:rPr>
              <a:t>ADR-02: 20-BADGE GOLDEN RAG ABLATION BENCHMARK</a:t>
            </a:r>
            <a:endParaRPr sz="900">
              <a:latin typeface="Google Sans"/>
            </a:endParaRPr>
          </a:p>
        </p:txBody>
      </p:sp>
      <p:graphicFrame>
        <p:nvGraphicFramePr>
          <p:cNvPr id="14" name="Table 13"/>
          <p:cNvGraphicFramePr>
            <a:graphicFrameLocks noGrp="1"/>
          </p:cNvGraphicFramePr>
          <p:nvPr/>
        </p:nvGraphicFramePr>
        <p:xfrm>
          <a:off x="4257675" y="1042988"/>
          <a:ext cx="4543425" cy="1721197"/>
        </p:xfrm>
        <a:graphic>
          <a:graphicData uri="http://schemas.openxmlformats.org/drawingml/2006/table">
            <a:tbl>
              <a:tblPr firstRow="1" bandRow="0">
                <a:tableStyleId>{2D5ABB26-0587-4C30-8999-92F81FD0307C}</a:tableStyleId>
              </a:tblPr>
              <a:tblGrid>
                <a:gridCol w="1743075"/>
                <a:gridCol w="542925"/>
                <a:gridCol w="485775"/>
                <a:gridCol w="742950"/>
                <a:gridCol w="1028700"/>
              </a:tblGrid>
              <a:tr h="367010">
                <a:tc>
                  <a:txBody>
                    <a:bodyPr wrap="square"/>
                    <a:lstStyle/>
                    <a:p>
                      <a:pPr algn="l">
                        <a:lnSpc>
                          <a:spcPct val="100000"/>
                        </a:lnSpc>
                        <a:spcBef>
                          <a:spcPts val="0"/>
                        </a:spcBef>
                        <a:spcAft>
                          <a:spcPts val="0"/>
                        </a:spcAft>
                      </a:pPr>
                      <a:r>
                        <a:rPr b="1" i="0" u="none" sz="900">
                          <a:solidFill>
                            <a:schemeClr val="dk1"/>
                          </a:solidFill>
                          <a:latin typeface="Google Sans"/>
                        </a:rPr>
                        <a:t>Retrieval Strategy</a:t>
                      </a:r>
                      <a:endParaRPr sz="900">
                        <a:latin typeface="Google Sans"/>
                      </a:endParaRPr>
                    </a:p>
                  </a:txBody>
                  <a:tcPr anchor="ctr" marL="42863" marR="42863" marT="42863" marB="50006">
                    <a:lnB w="14288" cap="flat" cmpd="sng" algn="ctr">
                      <a:solidFill>
                        <a:srgbClr val="DADCE0"/>
                      </a:solidFill>
                      <a:prstDash val="solid"/>
                    </a:lnB>
                    <a:solidFill>
                      <a:srgbClr val="F1F3F4"/>
                    </a:solidFill>
                  </a:tcPr>
                </a:tc>
                <a:tc>
                  <a:txBody>
                    <a:bodyPr wrap="none"/>
                    <a:lstStyle/>
                    <a:p>
                      <a:pPr algn="r">
                        <a:lnSpc>
                          <a:spcPct val="100000"/>
                        </a:lnSpc>
                        <a:spcBef>
                          <a:spcPts val="0"/>
                        </a:spcBef>
                        <a:spcAft>
                          <a:spcPts val="0"/>
                        </a:spcAft>
                      </a:pPr>
                      <a:r>
                        <a:rPr b="1" i="0" u="none" sz="900">
                          <a:solidFill>
                            <a:schemeClr val="dk1"/>
                          </a:solidFill>
                          <a:latin typeface="Google Sans"/>
                        </a:rPr>
                        <a:t>Recall@3</a:t>
                      </a:r>
                      <a:endParaRPr sz="900">
                        <a:latin typeface="Google Sans"/>
                      </a:endParaRPr>
                    </a:p>
                  </a:txBody>
                  <a:tcPr anchor="ctr" marL="35002" marR="7144" marT="42863" marB="50006">
                    <a:lnB w="14288" cap="flat" cmpd="sng" algn="ctr">
                      <a:solidFill>
                        <a:srgbClr val="DADCE0"/>
                      </a:solidFill>
                      <a:prstDash val="solid"/>
                    </a:lnB>
                    <a:solidFill>
                      <a:srgbClr val="F1F3F4"/>
                    </a:solidFill>
                  </a:tcPr>
                </a:tc>
                <a:tc>
                  <a:txBody>
                    <a:bodyPr wrap="none"/>
                    <a:lstStyle/>
                    <a:p>
                      <a:pPr algn="r">
                        <a:lnSpc>
                          <a:spcPct val="100000"/>
                        </a:lnSpc>
                        <a:spcBef>
                          <a:spcPts val="0"/>
                        </a:spcBef>
                        <a:spcAft>
                          <a:spcPts val="0"/>
                        </a:spcAft>
                      </a:pPr>
                      <a:r>
                        <a:rPr b="1" i="0" u="none" sz="900">
                          <a:solidFill>
                            <a:schemeClr val="dk1"/>
                          </a:solidFill>
                          <a:latin typeface="Google Sans"/>
                        </a:rPr>
                        <a:t>MRR</a:t>
                      </a:r>
                      <a:endParaRPr sz="900">
                        <a:latin typeface="Google Sans"/>
                      </a:endParaRPr>
                    </a:p>
                  </a:txBody>
                  <a:tcPr anchor="ctr" marL="42863" marR="42863" marT="42863" marB="50006">
                    <a:lnB w="14288" cap="flat" cmpd="sng" algn="ctr">
                      <a:solidFill>
                        <a:srgbClr val="DADCE0"/>
                      </a:solidFill>
                      <a:prstDash val="solid"/>
                    </a:lnB>
                    <a:solidFill>
                      <a:srgbClr val="F1F3F4"/>
                    </a:solidFill>
                  </a:tcPr>
                </a:tc>
                <a:tc>
                  <a:txBody>
                    <a:bodyPr wrap="square"/>
                    <a:lstStyle/>
                    <a:p>
                      <a:pPr algn="r">
                        <a:lnSpc>
                          <a:spcPct val="100000"/>
                        </a:lnSpc>
                        <a:spcBef>
                          <a:spcPts val="0"/>
                        </a:spcBef>
                        <a:spcAft>
                          <a:spcPts val="0"/>
                        </a:spcAft>
                      </a:pPr>
                      <a:r>
                        <a:rPr b="1" i="0" u="none" sz="900">
                          <a:solidFill>
                            <a:schemeClr val="dk1"/>
                          </a:solidFill>
                          <a:latin typeface="Google Sans"/>
                        </a:rPr>
                        <a:t>Latency (p50)</a:t>
                      </a:r>
                      <a:endParaRPr sz="900">
                        <a:latin typeface="Google Sans"/>
                      </a:endParaRPr>
                    </a:p>
                  </a:txBody>
                  <a:tcPr anchor="ctr" marL="42863" marR="42863" marT="42863" marB="50006">
                    <a:lnB w="14288" cap="flat" cmpd="sng" algn="ctr">
                      <a:solidFill>
                        <a:srgbClr val="DADCE0"/>
                      </a:solidFill>
                      <a:prstDash val="solid"/>
                    </a:lnB>
                    <a:solidFill>
                      <a:srgbClr val="F1F3F4"/>
                    </a:solidFill>
                  </a:tcPr>
                </a:tc>
                <a:tc>
                  <a:txBody>
                    <a:bodyPr wrap="square"/>
                    <a:lstStyle/>
                    <a:p>
                      <a:pPr algn="l">
                        <a:lnSpc>
                          <a:spcPct val="100000"/>
                        </a:lnSpc>
                        <a:spcBef>
                          <a:spcPts val="0"/>
                        </a:spcBef>
                        <a:spcAft>
                          <a:spcPts val="0"/>
                        </a:spcAft>
                      </a:pPr>
                      <a:r>
                        <a:rPr b="1" i="0" u="none" sz="900">
                          <a:solidFill>
                            <a:schemeClr val="dk1"/>
                          </a:solidFill>
                          <a:latin typeface="Google Sans"/>
                        </a:rPr>
                        <a:t>Token Reduction</a:t>
                      </a:r>
                      <a:endParaRPr sz="900">
                        <a:latin typeface="Google Sans"/>
                      </a:endParaRPr>
                    </a:p>
                  </a:txBody>
                  <a:tcPr anchor="ctr" marL="42863" marR="42863" marT="42863" marB="50006">
                    <a:lnB w="14288" cap="flat" cmpd="sng" algn="ctr">
                      <a:solidFill>
                        <a:srgbClr val="DADCE0"/>
                      </a:solidFill>
                      <a:prstDash val="solid"/>
                    </a:lnB>
                    <a:solidFill>
                      <a:srgbClr val="F1F3F4"/>
                    </a:solidFill>
                  </a:tcPr>
                </a:tc>
              </a:tr>
              <a:tr h="371475">
                <a:tc>
                  <a:txBody>
                    <a:bodyPr wrap="square"/>
                    <a:lstStyle/>
                    <a:p>
                      <a:pPr algn="l">
                        <a:lnSpc>
                          <a:spcPct val="100000"/>
                        </a:lnSpc>
                        <a:spcBef>
                          <a:spcPts val="0"/>
                        </a:spcBef>
                        <a:spcAft>
                          <a:spcPts val="0"/>
                        </a:spcAft>
                      </a:pPr>
                      <a:r>
                        <a:rPr b="0" i="0" u="none" sz="900">
                          <a:solidFill>
                            <a:srgbClr val="3C4043"/>
                          </a:solidFill>
                          <a:latin typeface="Google Sans"/>
                        </a:rPr>
                        <a:t>Full-PDF Prompt Stuffing (Baseline)</a:t>
                      </a:r>
                      <a:endParaRPr sz="900">
                        <a:latin typeface="Google Sans"/>
                      </a:endParaRPr>
                    </a:p>
                  </a:txBody>
                  <a:tcPr anchor="ctr" marL="42863" marR="42863" marT="50006" marB="46434">
                    <a:lnT w="14288" cap="flat" cmpd="sng" algn="ctr">
                      <a:solidFill>
                        <a:srgbClr val="DADCE0"/>
                      </a:solidFill>
                      <a:prstDash val="solid"/>
                    </a:lnT>
                    <a:lnB w="7144" cap="flat" cmpd="sng" algn="ctr">
                      <a:solidFill>
                        <a:srgbClr val="E8EAED"/>
                      </a:solidFill>
                      <a:prstDash val="solid"/>
                    </a:lnB>
                    <a:noFill/>
                  </a:tcPr>
                </a:tc>
                <a:tc>
                  <a:txBody>
                    <a:bodyPr wrap="none"/>
                    <a:lstStyle/>
                    <a:p>
                      <a:pPr algn="r">
                        <a:lnSpc>
                          <a:spcPct val="100000"/>
                        </a:lnSpc>
                        <a:spcBef>
                          <a:spcPts val="0"/>
                        </a:spcBef>
                        <a:spcAft>
                          <a:spcPts val="0"/>
                        </a:spcAft>
                      </a:pPr>
                      <a:r>
                        <a:rPr b="0" i="0" u="none" sz="900">
                          <a:solidFill>
                            <a:srgbClr val="3C4043"/>
                          </a:solidFill>
                          <a:latin typeface="Google Sans"/>
                        </a:rPr>
                        <a:t>0.9375</a:t>
                      </a:r>
                      <a:endParaRPr sz="900">
                        <a:latin typeface="Google Sans"/>
                      </a:endParaRPr>
                    </a:p>
                  </a:txBody>
                  <a:tcPr anchor="ctr" marL="42863" marR="42863" marT="50006" marB="46434">
                    <a:lnT w="14288" cap="flat" cmpd="sng" algn="ctr">
                      <a:solidFill>
                        <a:srgbClr val="DADCE0"/>
                      </a:solidFill>
                      <a:prstDash val="solid"/>
                    </a:lnT>
                    <a:lnB w="7144" cap="flat" cmpd="sng" algn="ctr">
                      <a:solidFill>
                        <a:srgbClr val="E8EAED"/>
                      </a:solidFill>
                      <a:prstDash val="solid"/>
                    </a:lnB>
                    <a:noFill/>
                  </a:tcPr>
                </a:tc>
                <a:tc>
                  <a:txBody>
                    <a:bodyPr wrap="none"/>
                    <a:lstStyle/>
                    <a:p>
                      <a:pPr algn="r">
                        <a:lnSpc>
                          <a:spcPct val="100000"/>
                        </a:lnSpc>
                        <a:spcBef>
                          <a:spcPts val="0"/>
                        </a:spcBef>
                        <a:spcAft>
                          <a:spcPts val="0"/>
                        </a:spcAft>
                      </a:pPr>
                      <a:r>
                        <a:rPr b="0" i="0" u="none" sz="900">
                          <a:solidFill>
                            <a:srgbClr val="3C4043"/>
                          </a:solidFill>
                          <a:latin typeface="Google Sans"/>
                        </a:rPr>
                        <a:t>0.8958</a:t>
                      </a:r>
                      <a:endParaRPr sz="900">
                        <a:latin typeface="Google Sans"/>
                      </a:endParaRPr>
                    </a:p>
                  </a:txBody>
                  <a:tcPr anchor="ctr" marL="42863" marR="42863" marT="50006" marB="46434">
                    <a:lnT w="14288" cap="flat" cmpd="sng" algn="ctr">
                      <a:solidFill>
                        <a:srgbClr val="DADCE0"/>
                      </a:solidFill>
                      <a:prstDash val="solid"/>
                    </a:lnT>
                    <a:lnB w="7144" cap="flat" cmpd="sng" algn="ctr">
                      <a:solidFill>
                        <a:srgbClr val="E8EAED"/>
                      </a:solidFill>
                      <a:prstDash val="solid"/>
                    </a:lnB>
                    <a:noFill/>
                  </a:tcPr>
                </a:tc>
                <a:tc>
                  <a:txBody>
                    <a:bodyPr wrap="square"/>
                    <a:lstStyle/>
                    <a:p>
                      <a:pPr algn="r">
                        <a:lnSpc>
                          <a:spcPct val="100000"/>
                        </a:lnSpc>
                        <a:spcBef>
                          <a:spcPts val="0"/>
                        </a:spcBef>
                        <a:spcAft>
                          <a:spcPts val="0"/>
                        </a:spcAft>
                      </a:pPr>
                      <a:r>
                        <a:rPr b="0" i="0" u="none" sz="900">
                          <a:solidFill>
                            <a:srgbClr val="3C4043"/>
                          </a:solidFill>
                          <a:latin typeface="Google Sans"/>
                        </a:rPr>
                        <a:t>4,200 ms</a:t>
                      </a:r>
                      <a:endParaRPr sz="900">
                        <a:latin typeface="Google Sans"/>
                      </a:endParaRPr>
                    </a:p>
                  </a:txBody>
                  <a:tcPr anchor="ctr" marL="42863" marR="42863" marT="50006" marB="46434">
                    <a:lnT w="14288" cap="flat" cmpd="sng" algn="ctr">
                      <a:solidFill>
                        <a:srgbClr val="DADCE0"/>
                      </a:solidFill>
                      <a:prstDash val="solid"/>
                    </a:lnT>
                    <a:lnB w="7144" cap="flat" cmpd="sng" algn="ctr">
                      <a:solidFill>
                        <a:srgbClr val="E8EAED"/>
                      </a:solidFill>
                      <a:prstDash val="solid"/>
                    </a:lnB>
                    <a:noFill/>
                  </a:tcPr>
                </a:tc>
                <a:tc>
                  <a:txBody>
                    <a:bodyPr wrap="square"/>
                    <a:lstStyle/>
                    <a:p>
                      <a:pPr algn="l">
                        <a:lnSpc>
                          <a:spcPct val="100000"/>
                        </a:lnSpc>
                        <a:spcBef>
                          <a:spcPts val="0"/>
                        </a:spcBef>
                        <a:spcAft>
                          <a:spcPts val="0"/>
                        </a:spcAft>
                      </a:pPr>
                      <a:r>
                        <a:rPr b="0" i="0" u="none" sz="900">
                          <a:solidFill>
                            <a:srgbClr val="3C4043"/>
                          </a:solidFill>
                          <a:latin typeface="Google Sans"/>
                        </a:rPr>
                        <a:t>0% (65k tokens)</a:t>
                      </a:r>
                      <a:endParaRPr sz="900">
                        <a:latin typeface="Google Sans"/>
                      </a:endParaRPr>
                    </a:p>
                  </a:txBody>
                  <a:tcPr anchor="ctr" marL="42863" marR="42863" marT="50006" marB="46434">
                    <a:lnT w="14288" cap="flat" cmpd="sng" algn="ctr">
                      <a:solidFill>
                        <a:srgbClr val="DADCE0"/>
                      </a:solidFill>
                      <a:prstDash val="solid"/>
                    </a:lnT>
                    <a:lnB w="7144" cap="flat" cmpd="sng" algn="ctr">
                      <a:solidFill>
                        <a:srgbClr val="E8EAED"/>
                      </a:solidFill>
                      <a:prstDash val="solid"/>
                    </a:lnB>
                    <a:noFill/>
                  </a:tcPr>
                </a:tc>
              </a:tr>
              <a:tr h="367010">
                <a:tc>
                  <a:txBody>
                    <a:bodyPr wrap="square"/>
                    <a:lstStyle/>
                    <a:p>
                      <a:pPr algn="l">
                        <a:lnSpc>
                          <a:spcPct val="100000"/>
                        </a:lnSpc>
                        <a:spcBef>
                          <a:spcPts val="0"/>
                        </a:spcBef>
                        <a:spcAft>
                          <a:spcPts val="0"/>
                        </a:spcAft>
                      </a:pPr>
                      <a:r>
                        <a:rPr b="0" i="0" u="none" sz="900">
                          <a:solidFill>
                            <a:srgbClr val="3C4043"/>
                          </a:solidFill>
                          <a:latin typeface="Google Sans"/>
                        </a:rPr>
                        <a:t>Dense Vector Only (text-embedding-005)</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none"/>
                    <a:lstStyle/>
                    <a:p>
                      <a:pPr algn="r">
                        <a:lnSpc>
                          <a:spcPct val="100000"/>
                        </a:lnSpc>
                        <a:spcBef>
                          <a:spcPts val="0"/>
                        </a:spcBef>
                        <a:spcAft>
                          <a:spcPts val="0"/>
                        </a:spcAft>
                      </a:pPr>
                      <a:r>
                        <a:rPr b="0" i="0" u="none" sz="900">
                          <a:solidFill>
                            <a:srgbClr val="3C4043"/>
                          </a:solidFill>
                          <a:latin typeface="Google Sans"/>
                        </a:rPr>
                        <a:t>0.8125</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none"/>
                    <a:lstStyle/>
                    <a:p>
                      <a:pPr algn="r">
                        <a:lnSpc>
                          <a:spcPct val="100000"/>
                        </a:lnSpc>
                        <a:spcBef>
                          <a:spcPts val="0"/>
                        </a:spcBef>
                        <a:spcAft>
                          <a:spcPts val="0"/>
                        </a:spcAft>
                      </a:pPr>
                      <a:r>
                        <a:rPr b="0" i="0" u="none" sz="900">
                          <a:solidFill>
                            <a:srgbClr val="3C4043"/>
                          </a:solidFill>
                          <a:latin typeface="Google Sans"/>
                        </a:rPr>
                        <a:t>0.7708</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square"/>
                    <a:lstStyle/>
                    <a:p>
                      <a:pPr algn="r">
                        <a:lnSpc>
                          <a:spcPct val="100000"/>
                        </a:lnSpc>
                        <a:spcBef>
                          <a:spcPts val="0"/>
                        </a:spcBef>
                        <a:spcAft>
                          <a:spcPts val="0"/>
                        </a:spcAft>
                      </a:pPr>
                      <a:r>
                        <a:rPr b="0" i="0" u="none" sz="900">
                          <a:solidFill>
                            <a:srgbClr val="3C4043"/>
                          </a:solidFill>
                          <a:latin typeface="Google Sans"/>
                        </a:rPr>
                        <a:t>1.4 ms</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none"/>
                    <a:lstStyle/>
                    <a:p>
                      <a:pPr algn="l">
                        <a:lnSpc>
                          <a:spcPct val="100000"/>
                        </a:lnSpc>
                        <a:spcBef>
                          <a:spcPts val="0"/>
                        </a:spcBef>
                        <a:spcAft>
                          <a:spcPts val="0"/>
                        </a:spcAft>
                      </a:pPr>
                      <a:r>
                        <a:rPr b="0" i="0" u="none" sz="900">
                          <a:solidFill>
                            <a:srgbClr val="3C4043"/>
                          </a:solidFill>
                          <a:latin typeface="Google Sans"/>
                        </a:rPr>
                        <a:t>-68%</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r>
              <a:tr h="229939">
                <a:tc>
                  <a:txBody>
                    <a:bodyPr wrap="square"/>
                    <a:lstStyle/>
                    <a:p>
                      <a:pPr algn="l">
                        <a:lnSpc>
                          <a:spcPct val="100000"/>
                        </a:lnSpc>
                        <a:spcBef>
                          <a:spcPts val="0"/>
                        </a:spcBef>
                        <a:spcAft>
                          <a:spcPts val="0"/>
                        </a:spcAft>
                      </a:pPr>
                      <a:r>
                        <a:rPr b="0" i="0" u="none" sz="900">
                          <a:solidFill>
                            <a:srgbClr val="3C4043"/>
                          </a:solidFill>
                          <a:latin typeface="Google Sans"/>
                        </a:rPr>
                        <a:t>Lexical Okapi BM25 Only</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none"/>
                    <a:lstStyle/>
                    <a:p>
                      <a:pPr algn="r">
                        <a:lnSpc>
                          <a:spcPct val="100000"/>
                        </a:lnSpc>
                        <a:spcBef>
                          <a:spcPts val="0"/>
                        </a:spcBef>
                        <a:spcAft>
                          <a:spcPts val="0"/>
                        </a:spcAft>
                      </a:pPr>
                      <a:r>
                        <a:rPr b="0" i="0" u="none" sz="900">
                          <a:solidFill>
                            <a:srgbClr val="3C4043"/>
                          </a:solidFill>
                          <a:latin typeface="Google Sans"/>
                        </a:rPr>
                        <a:t>0.8750</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none"/>
                    <a:lstStyle/>
                    <a:p>
                      <a:pPr algn="r">
                        <a:lnSpc>
                          <a:spcPct val="100000"/>
                        </a:lnSpc>
                        <a:spcBef>
                          <a:spcPts val="0"/>
                        </a:spcBef>
                        <a:spcAft>
                          <a:spcPts val="0"/>
                        </a:spcAft>
                      </a:pPr>
                      <a:r>
                        <a:rPr b="0" i="0" u="none" sz="900">
                          <a:solidFill>
                            <a:srgbClr val="3C4043"/>
                          </a:solidFill>
                          <a:latin typeface="Google Sans"/>
                        </a:rPr>
                        <a:t>0.8333</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square"/>
                    <a:lstStyle/>
                    <a:p>
                      <a:pPr algn="r">
                        <a:lnSpc>
                          <a:spcPct val="100000"/>
                        </a:lnSpc>
                        <a:spcBef>
                          <a:spcPts val="0"/>
                        </a:spcBef>
                        <a:spcAft>
                          <a:spcPts val="0"/>
                        </a:spcAft>
                      </a:pPr>
                      <a:r>
                        <a:rPr b="0" i="0" u="none" sz="900">
                          <a:solidFill>
                            <a:srgbClr val="3C4043"/>
                          </a:solidFill>
                          <a:latin typeface="Google Sans"/>
                        </a:rPr>
                        <a:t>0.9 ms</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c>
                  <a:txBody>
                    <a:bodyPr wrap="none"/>
                    <a:lstStyle/>
                    <a:p>
                      <a:pPr algn="l">
                        <a:lnSpc>
                          <a:spcPct val="100000"/>
                        </a:lnSpc>
                        <a:spcBef>
                          <a:spcPts val="0"/>
                        </a:spcBef>
                        <a:spcAft>
                          <a:spcPts val="0"/>
                        </a:spcAft>
                      </a:pPr>
                      <a:r>
                        <a:rPr b="0" i="0" u="none" sz="900">
                          <a:solidFill>
                            <a:srgbClr val="3C4043"/>
                          </a:solidFill>
                          <a:latin typeface="Google Sans"/>
                        </a:rPr>
                        <a:t>-68%</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E8EAED"/>
                      </a:solidFill>
                      <a:prstDash val="solid"/>
                    </a:lnB>
                    <a:noFill/>
                  </a:tcPr>
                </a:tc>
              </a:tr>
              <a:tr h="385763">
                <a:tc>
                  <a:txBody>
                    <a:bodyPr wrap="square"/>
                    <a:lstStyle/>
                    <a:p>
                      <a:pPr algn="l">
                        <a:lnSpc>
                          <a:spcPct val="100000"/>
                        </a:lnSpc>
                        <a:spcBef>
                          <a:spcPts val="0"/>
                        </a:spcBef>
                        <a:spcAft>
                          <a:spcPts val="0"/>
                        </a:spcAft>
                      </a:pPr>
                      <a:r>
                        <a:rPr b="1" i="0" u="none" sz="900">
                          <a:solidFill>
                            <a:srgbClr val="174EA6"/>
                          </a:solidFill>
                          <a:latin typeface="Google Sans"/>
                        </a:rPr>
                        <a:t>Hybrid BM25 + Vector RRF (k=60, Production)</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1A73E8"/>
                      </a:solidFill>
                      <a:prstDash val="solid"/>
                    </a:lnB>
                    <a:solidFill>
                      <a:srgbClr val="E8F0FE"/>
                    </a:solidFill>
                  </a:tcPr>
                </a:tc>
                <a:tc>
                  <a:txBody>
                    <a:bodyPr wrap="none"/>
                    <a:lstStyle/>
                    <a:p>
                      <a:pPr algn="r">
                        <a:lnSpc>
                          <a:spcPct val="100000"/>
                        </a:lnSpc>
                        <a:spcBef>
                          <a:spcPts val="0"/>
                        </a:spcBef>
                        <a:spcAft>
                          <a:spcPts val="0"/>
                        </a:spcAft>
                      </a:pPr>
                      <a:r>
                        <a:rPr b="1" i="0" u="none" sz="900">
                          <a:solidFill>
                            <a:srgbClr val="174EA6"/>
                          </a:solidFill>
                          <a:latin typeface="Google Sans"/>
                        </a:rPr>
                        <a:t>1.0000</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1A73E8"/>
                      </a:solidFill>
                      <a:prstDash val="solid"/>
                    </a:lnB>
                    <a:solidFill>
                      <a:srgbClr val="E8F0FE"/>
                    </a:solidFill>
                  </a:tcPr>
                </a:tc>
                <a:tc>
                  <a:txBody>
                    <a:bodyPr wrap="none"/>
                    <a:lstStyle/>
                    <a:p>
                      <a:pPr algn="r">
                        <a:lnSpc>
                          <a:spcPct val="100000"/>
                        </a:lnSpc>
                        <a:spcBef>
                          <a:spcPts val="0"/>
                        </a:spcBef>
                        <a:spcAft>
                          <a:spcPts val="0"/>
                        </a:spcAft>
                      </a:pPr>
                      <a:r>
                        <a:rPr b="1" i="0" u="none" sz="900">
                          <a:solidFill>
                            <a:srgbClr val="174EA6"/>
                          </a:solidFill>
                          <a:latin typeface="Google Sans"/>
                        </a:rPr>
                        <a:t>1.0000</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1A73E8"/>
                      </a:solidFill>
                      <a:prstDash val="solid"/>
                    </a:lnB>
                    <a:solidFill>
                      <a:srgbClr val="E8F0FE"/>
                    </a:solidFill>
                  </a:tcPr>
                </a:tc>
                <a:tc>
                  <a:txBody>
                    <a:bodyPr wrap="square"/>
                    <a:lstStyle/>
                    <a:p>
                      <a:pPr algn="r">
                        <a:lnSpc>
                          <a:spcPct val="100000"/>
                        </a:lnSpc>
                        <a:spcBef>
                          <a:spcPts val="0"/>
                        </a:spcBef>
                        <a:spcAft>
                          <a:spcPts val="0"/>
                        </a:spcAft>
                      </a:pPr>
                      <a:r>
                        <a:rPr b="1" i="0" u="none" sz="900">
                          <a:solidFill>
                            <a:srgbClr val="174EA6"/>
                          </a:solidFill>
                          <a:latin typeface="Google Sans"/>
                        </a:rPr>
                        <a:t>1.8 ms</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1A73E8"/>
                      </a:solidFill>
                      <a:prstDash val="solid"/>
                    </a:lnB>
                    <a:solidFill>
                      <a:srgbClr val="E8F0FE"/>
                    </a:solidFill>
                  </a:tcPr>
                </a:tc>
                <a:tc>
                  <a:txBody>
                    <a:bodyPr wrap="square"/>
                    <a:lstStyle/>
                    <a:p>
                      <a:pPr algn="l">
                        <a:lnSpc>
                          <a:spcPct val="100000"/>
                        </a:lnSpc>
                        <a:spcBef>
                          <a:spcPts val="0"/>
                        </a:spcBef>
                        <a:spcAft>
                          <a:spcPts val="0"/>
                        </a:spcAft>
                      </a:pPr>
                      <a:r>
                        <a:rPr b="1" i="0" u="none" sz="900">
                          <a:solidFill>
                            <a:srgbClr val="174EA6"/>
                          </a:solidFill>
                          <a:latin typeface="Google Sans"/>
                        </a:rPr>
                        <a:t>-68% (+76% Cache Hit)</a:t>
                      </a:r>
                      <a:endParaRPr sz="900">
                        <a:latin typeface="Google Sans"/>
                      </a:endParaRPr>
                    </a:p>
                  </a:txBody>
                  <a:tcPr anchor="ctr" marL="42863" marR="42863" marT="46434" marB="46434">
                    <a:lnT w="7144" cap="flat" cmpd="sng" algn="ctr">
                      <a:solidFill>
                        <a:srgbClr val="E8EAED"/>
                      </a:solidFill>
                      <a:prstDash val="solid"/>
                    </a:lnT>
                    <a:lnB w="7144" cap="flat" cmpd="sng" algn="ctr">
                      <a:solidFill>
                        <a:srgbClr val="1A73E8"/>
                      </a:solidFill>
                      <a:prstDash val="solid"/>
                    </a:lnB>
                    <a:solidFill>
                      <a:srgbClr val="E8F0FE"/>
                    </a:solidFill>
                  </a:tcPr>
                </a:tc>
              </a:tr>
            </a:tbl>
          </a:graphicData>
        </a:graphic>
      </p:graphicFrame>
      <p:sp>
        <p:nvSpPr>
          <p:cNvPr id="15" name="TextBox 14"/>
          <p:cNvSpPr txBox="1"/>
          <p:nvPr/>
        </p:nvSpPr>
        <p:spPr>
          <a:xfrm>
            <a:off x="4257675" y="2886075"/>
            <a:ext cx="4857750" cy="171450"/>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spc="17">
                <a:solidFill>
                  <a:schemeClr val="accent1"/>
                </a:solidFill>
                <a:latin typeface="Google Sans"/>
              </a:rPr>
              <a:t>149-BADGE VISUAL PATCH GALLERY (400x400 SCOUT SHOP EMBLEMS)</a:t>
            </a:r>
            <a:endParaRPr sz="900">
              <a:latin typeface="Google Sans"/>
            </a:endParaRPr>
          </a:p>
        </p:txBody>
      </p:sp>
      <p:pic>
        <p:nvPicPr>
          <p:cNvPr id="16" name="Picture 15" descr="f48f8dff3bae02795268159f0780a9d80ea072e07250561ed870a77105feb99f.png"/>
          <p:cNvPicPr>
            <a:picLocks noChangeAspect="1"/>
          </p:cNvPicPr>
          <p:nvPr/>
        </p:nvPicPr>
        <p:blipFill>
          <a:blip r:embed="rId2"/>
          <a:stretch>
            <a:fillRect/>
          </a:stretch>
        </p:blipFill>
        <p:spPr>
          <a:xfrm>
            <a:off x="4494642" y="3157538"/>
            <a:ext cx="1669190" cy="1471613"/>
          </a:xfrm>
          <a:prstGeom prst="rect">
            <a:avLst/>
          </a:prstGeom>
        </p:spPr>
      </p:pic>
      <p:cxnSp>
        <p:nvCxnSpPr>
          <p:cNvPr id="17" name="Connector 16"/>
          <p:cNvCxnSpPr/>
          <p:nvPr/>
        </p:nvCxnSpPr>
        <p:spPr>
          <a:xfrm>
            <a:off x="6554391" y="3157538"/>
            <a:ext cx="0" cy="1357312"/>
          </a:xfrm>
          <a:prstGeom prst="straightConnector1">
            <a:avLst/>
          </a:prstGeom>
          <a:ln w="21431">
            <a:solidFill>
              <a:srgbClr val="DADCE0"/>
            </a:solidFill>
          </a:ln>
        </p:spPr>
      </p:cxnSp>
      <p:sp>
        <p:nvSpPr>
          <p:cNvPr id="18" name="TextBox 17"/>
          <p:cNvSpPr txBox="1"/>
          <p:nvPr/>
        </p:nvSpPr>
        <p:spPr>
          <a:xfrm>
            <a:off x="6665119" y="3171825"/>
            <a:ext cx="2450306"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chemeClr val="dk1"/>
                </a:solidFill>
                <a:latin typeface="Google Sans"/>
              </a:rPr>
              <a:t>Grounded Patch Catalog</a:t>
            </a:r>
            <a:endParaRPr sz="1000">
              <a:latin typeface="Google Sans"/>
            </a:endParaRPr>
          </a:p>
        </p:txBody>
      </p:sp>
      <p:sp>
        <p:nvSpPr>
          <p:cNvPr id="19" name="TextBox 18"/>
          <p:cNvSpPr txBox="1"/>
          <p:nvPr/>
        </p:nvSpPr>
        <p:spPr>
          <a:xfrm>
            <a:off x="6665119" y="3364706"/>
            <a:ext cx="2135981" cy="314325"/>
          </a:xfrm>
          <a:prstGeom prst="rect">
            <a:avLst/>
          </a:prstGeom>
          <a:noFill/>
          <a:ln>
            <a:noFill/>
          </a:ln>
          <a:effectLst/>
        </p:spPr>
        <p:txBody>
          <a:bodyPr wrap="square" anchor="t" lIns="0" rIns="0" tIns="5633" bIns="0">
            <a:noAutofit/>
          </a:bodyPr>
          <a:lstStyle/>
          <a:p>
            <a:pPr algn="l">
              <a:lnSpc>
                <a:spcPct val="108330"/>
              </a:lnSpc>
              <a:spcBef>
                <a:spcPts val="0"/>
              </a:spcBef>
              <a:spcAft>
                <a:spcPts val="0"/>
              </a:spcAft>
            </a:pPr>
            <a:r>
              <a:rPr b="1" i="0" u="none" sz="900">
                <a:solidFill>
                  <a:srgbClr val="3C4043"/>
                </a:solidFill>
                <a:latin typeface="Google Sans"/>
              </a:rPr>
              <a:t>400x400 Emblems:</a:t>
            </a:r>
            <a:r>
              <a:rPr b="0" i="0" u="none" sz="900">
                <a:solidFill>
                  <a:srgbClr val="3C4043"/>
                </a:solidFill>
                <a:latin typeface="Google Sans"/>
              </a:rPr>
              <a:t> Official Scout Shop patches for all 149 Merit Badges.</a:t>
            </a:r>
            <a:endParaRPr sz="900">
              <a:latin typeface="Google Sans"/>
            </a:endParaRPr>
          </a:p>
        </p:txBody>
      </p:sp>
      <p:sp>
        <p:nvSpPr>
          <p:cNvPr id="20" name="TextBox 19"/>
          <p:cNvSpPr txBox="1"/>
          <p:nvPr/>
        </p:nvSpPr>
        <p:spPr>
          <a:xfrm>
            <a:off x="6665119" y="3707606"/>
            <a:ext cx="2135981" cy="314325"/>
          </a:xfrm>
          <a:prstGeom prst="rect">
            <a:avLst/>
          </a:prstGeom>
          <a:noFill/>
          <a:ln>
            <a:noFill/>
          </a:ln>
          <a:effectLst/>
        </p:spPr>
        <p:txBody>
          <a:bodyPr wrap="square" anchor="t" lIns="0" rIns="0" tIns="5633" bIns="0">
            <a:noAutofit/>
          </a:bodyPr>
          <a:lstStyle/>
          <a:p>
            <a:pPr algn="l">
              <a:lnSpc>
                <a:spcPct val="108330"/>
              </a:lnSpc>
              <a:spcBef>
                <a:spcPts val="0"/>
              </a:spcBef>
              <a:spcAft>
                <a:spcPts val="0"/>
              </a:spcAft>
            </a:pPr>
            <a:r>
              <a:rPr b="1" i="0" u="none" sz="900">
                <a:solidFill>
                  <a:srgbClr val="3C4043"/>
                </a:solidFill>
                <a:latin typeface="Google Sans"/>
              </a:rPr>
              <a:t>14 Categories:</a:t>
            </a:r>
            <a:r>
              <a:rPr b="0" i="0" u="none" sz="900">
                <a:solidFill>
                  <a:srgbClr val="3C4043"/>
                </a:solidFill>
                <a:latin typeface="Google Sans"/>
              </a:rPr>
              <a:t> Filter by Outdoors, STEM, Trades, and Public Service.</a:t>
            </a:r>
            <a:endParaRPr sz="900">
              <a:latin typeface="Google Sans"/>
            </a:endParaRPr>
          </a:p>
        </p:txBody>
      </p:sp>
      <p:sp>
        <p:nvSpPr>
          <p:cNvPr id="21" name="TextBox 20"/>
          <p:cNvSpPr txBox="1"/>
          <p:nvPr/>
        </p:nvSpPr>
        <p:spPr>
          <a:xfrm>
            <a:off x="6665119" y="4050506"/>
            <a:ext cx="2150269" cy="314325"/>
          </a:xfrm>
          <a:prstGeom prst="rect">
            <a:avLst/>
          </a:prstGeom>
          <a:noFill/>
          <a:ln>
            <a:noFill/>
          </a:ln>
          <a:effectLst/>
        </p:spPr>
        <p:txBody>
          <a:bodyPr wrap="square" anchor="t" lIns="0" rIns="0" tIns="5633" bIns="0">
            <a:noAutofit/>
          </a:bodyPr>
          <a:lstStyle/>
          <a:p>
            <a:pPr algn="l">
              <a:lnSpc>
                <a:spcPct val="108330"/>
              </a:lnSpc>
              <a:spcBef>
                <a:spcPts val="0"/>
              </a:spcBef>
              <a:spcAft>
                <a:spcPts val="0"/>
              </a:spcAft>
            </a:pPr>
            <a:r>
              <a:rPr b="1" i="0" u="none" sz="900">
                <a:solidFill>
                  <a:srgbClr val="3C4043"/>
                </a:solidFill>
                <a:latin typeface="Google Sans"/>
              </a:rPr>
              <a:t>Eagle &amp; Favorites:</a:t>
            </a:r>
            <a:r>
              <a:rPr b="0" i="0" u="none" sz="900">
                <a:solidFill>
                  <a:srgbClr val="3C4043"/>
                </a:solidFill>
                <a:latin typeface="Google Sans"/>
              </a:rPr>
              <a:t> 1-click Eagle-Required and starred counselor filters.</a:t>
            </a:r>
            <a:endParaRPr sz="900">
              <a:latin typeface="Google Sans"/>
            </a:endParaRPr>
          </a:p>
        </p:txBody>
      </p:sp>
      <p:sp>
        <p:nvSpPr>
          <p:cNvPr id="22" name="TextBox 21"/>
          <p:cNvSpPr txBox="1"/>
          <p:nvPr/>
        </p:nvSpPr>
        <p:spPr>
          <a:xfrm>
            <a:off x="342900" y="4929188"/>
            <a:ext cx="8772525" cy="142875"/>
          </a:xfrm>
          <a:prstGeom prst="rect">
            <a:avLst/>
          </a:prstGeom>
          <a:noFill/>
          <a:ln>
            <a:noFill/>
          </a:ln>
          <a:effectLst/>
        </p:spPr>
        <p:txBody>
          <a:bodyPr wrap="none" anchor="t" lIns="0" rIns="0" tIns="51533" bIns="0">
            <a:noAutofit/>
          </a:bodyPr>
          <a:lstStyle/>
          <a:p>
            <a:pPr algn="l">
              <a:lnSpc>
                <a:spcPct val="101580"/>
              </a:lnSpc>
              <a:spcBef>
                <a:spcPts val="0"/>
              </a:spcBef>
              <a:spcAft>
                <a:spcPts val="0"/>
              </a:spcAft>
            </a:pPr>
            <a:r>
              <a:rPr b="0" i="0" u="none" sz="600">
                <a:solidFill>
                  <a:schemeClr val="accent5"/>
                </a:solidFill>
                <a:latin typeface="Google Sans"/>
              </a:rPr>
              <a:t>Source: src/memory/session_store.py, src/tools/local_grounding_engine.py, tests/data/golden_badges.json (20 badges: 1.0000 Recall@3, ROUGE-L 0.892, 4.92/5.0 LLM-as-a-Judge).</a:t>
            </a:r>
            <a:endParaRPr sz="600">
              <a:latin typeface="Google Sans"/>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71450"/>
            <a:ext cx="8458200" cy="628650"/>
          </a:xfrm>
          <a:prstGeom prst="rect">
            <a:avLst/>
          </a:prstGeom>
          <a:noFill/>
          <a:ln>
            <a:noFill/>
          </a:ln>
          <a:effectLst/>
        </p:spPr>
        <p:txBody>
          <a:bodyPr wrap="square" anchor="t" lIns="0" rIns="0" tIns="3683" bIns="0">
            <a:noAutofit/>
          </a:bodyPr>
          <a:lstStyle/>
          <a:p>
            <a:pPr algn="l">
              <a:lnSpc>
                <a:spcPct val="87500"/>
              </a:lnSpc>
              <a:spcBef>
                <a:spcPts val="0"/>
              </a:spcBef>
              <a:spcAft>
                <a:spcPts val="0"/>
              </a:spcAft>
            </a:pPr>
            <a:r>
              <a:rPr b="0" i="0" u="none" sz="1600">
                <a:solidFill>
                  <a:schemeClr val="dk1"/>
                </a:solidFill>
                <a:latin typeface="Google Sans Medium"/>
              </a:rPr>
              <a:t>Global Layout Style Engine &amp; 2-Stage Visual Auditor Lift Body Text by +2.5pt and Image Area by +22%</a:t>
            </a:r>
            <a:endParaRPr sz="1600">
              <a:latin typeface="Google Sans Medium"/>
            </a:endParaRPr>
          </a:p>
        </p:txBody>
      </p:sp>
      <p:cxnSp>
        <p:nvCxnSpPr>
          <p:cNvPr id="3" name="Connector 2"/>
          <p:cNvCxnSpPr/>
          <p:nvPr/>
        </p:nvCxnSpPr>
        <p:spPr>
          <a:xfrm>
            <a:off x="342900" y="1614488"/>
            <a:ext cx="2786063" cy="0"/>
          </a:xfrm>
          <a:prstGeom prst="straightConnector1">
            <a:avLst/>
          </a:prstGeom>
          <a:ln w="7144" cap="flat">
            <a:solidFill>
              <a:srgbClr val="DADCE0"/>
            </a:solidFill>
          </a:ln>
        </p:spPr>
      </p:cxnSp>
      <p:cxnSp>
        <p:nvCxnSpPr>
          <p:cNvPr id="4" name="Connector 3"/>
          <p:cNvCxnSpPr/>
          <p:nvPr/>
        </p:nvCxnSpPr>
        <p:spPr>
          <a:xfrm>
            <a:off x="342900" y="2528888"/>
            <a:ext cx="2786063" cy="0"/>
          </a:xfrm>
          <a:prstGeom prst="straightConnector1">
            <a:avLst/>
          </a:prstGeom>
          <a:ln w="7144" cap="flat">
            <a:solidFill>
              <a:srgbClr val="DADCE0"/>
            </a:solidFill>
          </a:ln>
        </p:spPr>
      </p:cxnSp>
      <p:cxnSp>
        <p:nvCxnSpPr>
          <p:cNvPr id="5" name="Connector 4"/>
          <p:cNvCxnSpPr/>
          <p:nvPr/>
        </p:nvCxnSpPr>
        <p:spPr>
          <a:xfrm>
            <a:off x="342900" y="3600450"/>
            <a:ext cx="8458200" cy="0"/>
          </a:xfrm>
          <a:prstGeom prst="straightConnector1">
            <a:avLst/>
          </a:prstGeom>
          <a:ln w="14288" cap="flat">
            <a:solidFill>
              <a:schemeClr val="accent4"/>
            </a:solidFill>
          </a:ln>
        </p:spPr>
      </p:cxnSp>
      <p:cxnSp>
        <p:nvCxnSpPr>
          <p:cNvPr id="6" name="Connector 5"/>
          <p:cNvCxnSpPr/>
          <p:nvPr/>
        </p:nvCxnSpPr>
        <p:spPr>
          <a:xfrm>
            <a:off x="2400300" y="3714750"/>
            <a:ext cx="0" cy="914400"/>
          </a:xfrm>
          <a:prstGeom prst="straightConnector1">
            <a:avLst/>
          </a:prstGeom>
          <a:ln w="7144" cap="flat">
            <a:solidFill>
              <a:srgbClr val="DADCE0"/>
            </a:solidFill>
          </a:ln>
        </p:spPr>
      </p:cxnSp>
      <p:cxnSp>
        <p:nvCxnSpPr>
          <p:cNvPr id="7" name="Connector 6"/>
          <p:cNvCxnSpPr/>
          <p:nvPr/>
        </p:nvCxnSpPr>
        <p:spPr>
          <a:xfrm>
            <a:off x="4572000" y="3714750"/>
            <a:ext cx="0" cy="914400"/>
          </a:xfrm>
          <a:prstGeom prst="straightConnector1">
            <a:avLst/>
          </a:prstGeom>
          <a:ln w="7144" cap="flat">
            <a:solidFill>
              <a:srgbClr val="DADCE0"/>
            </a:solidFill>
          </a:ln>
        </p:spPr>
      </p:cxnSp>
      <p:cxnSp>
        <p:nvCxnSpPr>
          <p:cNvPr id="8" name="Connector 7"/>
          <p:cNvCxnSpPr/>
          <p:nvPr/>
        </p:nvCxnSpPr>
        <p:spPr>
          <a:xfrm>
            <a:off x="6743700" y="3714750"/>
            <a:ext cx="0" cy="914400"/>
          </a:xfrm>
          <a:prstGeom prst="straightConnector1">
            <a:avLst/>
          </a:prstGeom>
          <a:ln w="7144" cap="flat">
            <a:solidFill>
              <a:srgbClr val="DADCE0"/>
            </a:solidFill>
          </a:ln>
        </p:spPr>
      </p:cxnSp>
      <p:sp>
        <p:nvSpPr>
          <p:cNvPr id="9" name="TextBox 8"/>
          <p:cNvSpPr txBox="1"/>
          <p:nvPr/>
        </p:nvSpPr>
        <p:spPr>
          <a:xfrm>
            <a:off x="342900" y="821531"/>
            <a:ext cx="2800350" cy="6858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900">
                <a:solidFill>
                  <a:srgbClr val="1A73E8"/>
                </a:solidFill>
                <a:latin typeface="Google Sans"/>
              </a:rPr>
              <a:t>1. 29 Templates Across 9 Style Families &amp; 26 Backdrops.</a:t>
            </a:r>
            <a:r>
              <a:rPr b="0" i="0" u="none" sz="900">
                <a:solidFill>
                  <a:schemeClr val="dk1"/>
                </a:solidFill>
                <a:latin typeface="Google Sans"/>
              </a:rPr>
              <a:t> Sets </a:t>
            </a:r>
            <a:r>
              <a:rPr b="1" i="0" u="none" sz="900">
                <a:solidFill>
                  <a:schemeClr val="dk1"/>
                </a:solidFill>
                <a:latin typeface="Google Sans"/>
              </a:rPr>
              <a:t>BSA Scouting America (Green)</a:t>
            </a:r>
            <a:r>
              <a:rPr b="0" i="0" u="none" sz="900">
                <a:solidFill>
                  <a:schemeClr val="dk1"/>
                </a:solidFill>
                <a:latin typeface="Google Sans"/>
              </a:rPr>
              <a:t> default with Outdoor Adventure, Forest Sunrise, Topographic, Fleur-de-Lis, America 250, Camp Hidden Valley Sunset Dock &amp; Safe-Zone X-Ray (y &lt;= 6.54").</a:t>
            </a:r>
            <a:endParaRPr sz="900">
              <a:latin typeface="Google Sans"/>
            </a:endParaRPr>
          </a:p>
        </p:txBody>
      </p:sp>
      <p:sp>
        <p:nvSpPr>
          <p:cNvPr id="10" name="TextBox 9"/>
          <p:cNvSpPr txBox="1"/>
          <p:nvPr/>
        </p:nvSpPr>
        <p:spPr>
          <a:xfrm>
            <a:off x="342900" y="1707356"/>
            <a:ext cx="2786063" cy="6858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900">
                <a:solidFill>
                  <a:srgbClr val="1A73E8"/>
                </a:solidFill>
                <a:latin typeface="Google Sans"/>
              </a:rPr>
              <a:t>2. 4-Tier DeckStyleConfig &amp; Unboxed Compiler.</a:t>
            </a:r>
            <a:r>
              <a:rPr b="0" i="0" u="none" sz="900">
                <a:solidFill>
                  <a:schemeClr val="dk1"/>
                </a:solidFill>
                <a:latin typeface="Google Sans"/>
              </a:rPr>
              <a:t> Resolves </a:t>
            </a:r>
            <a:r>
              <a:rPr b="1" i="0" u="none" sz="900">
                <a:solidFill>
                  <a:schemeClr val="dk1"/>
                </a:solidFill>
                <a:latin typeface="Google Sans"/>
              </a:rPr>
              <a:t>CLEAN_OPEN</a:t>
            </a:r>
            <a:r>
              <a:rPr b="0" i="0" u="none" sz="900">
                <a:solidFill>
                  <a:schemeClr val="dk1"/>
                </a:solidFill>
                <a:latin typeface="Google Sans"/>
              </a:rPr>
              <a:t> (borderless on 28 BSA templates), </a:t>
            </a:r>
            <a:r>
              <a:rPr b="1" i="0" u="none" sz="900">
                <a:solidFill>
                  <a:schemeClr val="dk1"/>
                </a:solidFill>
                <a:latin typeface="Google Sans"/>
              </a:rPr>
              <a:t>LEFT_ACCENT_LINE</a:t>
            </a:r>
            <a:r>
              <a:rPr b="0" i="0" u="none" sz="900">
                <a:solidFill>
                  <a:schemeClr val="dk1"/>
                </a:solidFill>
                <a:latin typeface="Google Sans"/>
              </a:rPr>
              <a:t> (3.2pt rule), </a:t>
            </a:r>
            <a:r>
              <a:rPr b="1" i="0" u="none" sz="900">
                <a:solidFill>
                  <a:schemeClr val="dk1"/>
                </a:solidFill>
                <a:latin typeface="Google Sans"/>
              </a:rPr>
              <a:t>BOXED_CARDS</a:t>
            </a:r>
            <a:r>
              <a:rPr b="0" i="0" u="none" sz="900">
                <a:solidFill>
                  <a:schemeClr val="dk1"/>
                </a:solidFill>
                <a:latin typeface="Google Sans"/>
              </a:rPr>
              <a:t> (Workbench Classic), Default Style prefs (user_preferences) &amp; step pills.</a:t>
            </a:r>
            <a:endParaRPr sz="900">
              <a:latin typeface="Google Sans"/>
            </a:endParaRPr>
          </a:p>
        </p:txBody>
      </p:sp>
      <p:sp>
        <p:nvSpPr>
          <p:cNvPr id="11" name="TextBox 10"/>
          <p:cNvSpPr txBox="1"/>
          <p:nvPr/>
        </p:nvSpPr>
        <p:spPr>
          <a:xfrm>
            <a:off x="342900" y="2621756"/>
            <a:ext cx="2800350" cy="6858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900">
                <a:solidFill>
                  <a:srgbClr val="34A853"/>
                </a:solidFill>
                <a:latin typeface="Google Sans"/>
              </a:rPr>
              <a:t>3. 2-Stage &lt;10ms AABB + Visual Quality Gate.</a:t>
            </a:r>
            <a:r>
              <a:rPr b="0" i="0" u="none" sz="900">
                <a:solidFill>
                  <a:schemeClr val="dk1"/>
                </a:solidFill>
                <a:latin typeface="Google Sans"/>
              </a:rPr>
              <a:t> Stage 1 checks python-pptx AABB collisions and the 12.0pt floor in 3.4ms ($0.00); Stage 2 audit_deck_visual_quality() verifies shape density, font scale, and visual area (score &gt;= 90/100).</a:t>
            </a:r>
            <a:endParaRPr sz="900">
              <a:latin typeface="Google Sans"/>
            </a:endParaRPr>
          </a:p>
        </p:txBody>
      </p:sp>
      <p:sp>
        <p:nvSpPr>
          <p:cNvPr id="12" name="TextBox 11"/>
          <p:cNvSpPr txBox="1"/>
          <p:nvPr/>
        </p:nvSpPr>
        <p:spPr>
          <a:xfrm>
            <a:off x="3257550" y="814388"/>
            <a:ext cx="2757488" cy="157163"/>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900">
                <a:solidFill>
                  <a:schemeClr val="accent4"/>
                </a:solidFill>
                <a:latin typeface="Google Sans"/>
              </a:rPr>
              <a:t>LIGHT MODE WORKBENCH: FIRST AID SLIDE #1</a:t>
            </a:r>
            <a:endParaRPr sz="900">
              <a:latin typeface="Google Sans"/>
            </a:endParaRPr>
          </a:p>
        </p:txBody>
      </p:sp>
      <p:pic>
        <p:nvPicPr>
          <p:cNvPr id="13" name="Picture 12" descr="image.png"/>
          <p:cNvPicPr>
            <a:picLocks noChangeAspect="1"/>
          </p:cNvPicPr>
          <p:nvPr/>
        </p:nvPicPr>
        <p:blipFill>
          <a:blip r:embed="rId2"/>
          <a:stretch>
            <a:fillRect/>
          </a:stretch>
        </p:blipFill>
        <p:spPr>
          <a:xfrm>
            <a:off x="3257550" y="1114913"/>
            <a:ext cx="2686050" cy="1577792"/>
          </a:xfrm>
          <a:prstGeom prst="roundRect">
            <a:avLst>
              <a:gd name="adj" fmla="val 2717"/>
            </a:avLst>
          </a:prstGeom>
          <a:ln w="7143">
            <a:solidFill>
              <a:srgbClr val="DADCE0"/>
            </a:solidFill>
          </a:ln>
        </p:spPr>
      </p:pic>
      <p:sp>
        <p:nvSpPr>
          <p:cNvPr id="14" name="TextBox 13"/>
          <p:cNvSpPr txBox="1"/>
          <p:nvPr/>
        </p:nvSpPr>
        <p:spPr>
          <a:xfrm>
            <a:off x="3257550" y="2893219"/>
            <a:ext cx="2686050" cy="564356"/>
          </a:xfrm>
          <a:prstGeom prst="rect">
            <a:avLst/>
          </a:prstGeom>
          <a:noFill/>
          <a:ln>
            <a:noFill/>
          </a:ln>
          <a:effectLst/>
        </p:spPr>
        <p:txBody>
          <a:bodyPr wrap="square" anchor="t" lIns="0" rIns="0" tIns="682" bIns="0">
            <a:noAutofit/>
          </a:bodyPr>
          <a:lstStyle/>
          <a:p>
            <a:pPr algn="l">
              <a:lnSpc>
                <a:spcPct val="98330"/>
              </a:lnSpc>
              <a:spcBef>
                <a:spcPts val="0"/>
              </a:spcBef>
              <a:spcAft>
                <a:spcPts val="0"/>
              </a:spcAft>
            </a:pPr>
            <a:r>
              <a:rPr b="1" i="0" u="none" sz="900">
                <a:solidFill>
                  <a:srgbClr val="202124"/>
                </a:solidFill>
                <a:latin typeface="Google Sans"/>
              </a:rPr>
              <a:t>Light Mode Workbench (BSA Scouting America):</a:t>
            </a:r>
            <a:r>
              <a:rPr b="0" i="0" u="none" sz="900">
                <a:solidFill>
                  <a:schemeClr val="accent5"/>
                </a:solidFill>
                <a:latin typeface="Google Sans"/>
              </a:rPr>
              <a:t> Full Counselor Workbench displaying First Aid Slide #1 (Warm Cream theme, Clean &amp; Open layout, 0 card boxes).</a:t>
            </a:r>
            <a:endParaRPr sz="900">
              <a:latin typeface="Google Sans"/>
            </a:endParaRPr>
          </a:p>
        </p:txBody>
      </p:sp>
      <p:sp>
        <p:nvSpPr>
          <p:cNvPr id="15" name="TextBox 14"/>
          <p:cNvSpPr txBox="1"/>
          <p:nvPr/>
        </p:nvSpPr>
        <p:spPr>
          <a:xfrm>
            <a:off x="6072188" y="814388"/>
            <a:ext cx="3043238" cy="157163"/>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900">
                <a:solidFill>
                  <a:schemeClr val="accent1"/>
                </a:solidFill>
                <a:latin typeface="Google Sans"/>
              </a:rPr>
              <a:t>TEMPLATE STUDIO: 9 FAMILIES &amp; STYLE BAR</a:t>
            </a:r>
            <a:endParaRPr sz="900">
              <a:latin typeface="Google Sans"/>
            </a:endParaRPr>
          </a:p>
        </p:txBody>
      </p:sp>
      <p:pic>
        <p:nvPicPr>
          <p:cNvPr id="16" name="Picture 15" descr="image.png"/>
          <p:cNvPicPr>
            <a:picLocks noChangeAspect="1"/>
          </p:cNvPicPr>
          <p:nvPr/>
        </p:nvPicPr>
        <p:blipFill>
          <a:blip r:embed="rId3"/>
          <a:stretch>
            <a:fillRect/>
          </a:stretch>
        </p:blipFill>
        <p:spPr>
          <a:xfrm>
            <a:off x="6173629" y="1114425"/>
            <a:ext cx="2526030" cy="1578769"/>
          </a:xfrm>
          <a:prstGeom prst="rect">
            <a:avLst/>
          </a:prstGeom>
        </p:spPr>
      </p:pic>
      <p:sp>
        <p:nvSpPr>
          <p:cNvPr id="17" name="TextBox 16"/>
          <p:cNvSpPr txBox="1"/>
          <p:nvPr/>
        </p:nvSpPr>
        <p:spPr>
          <a:xfrm>
            <a:off x="6072188" y="2893219"/>
            <a:ext cx="2728913" cy="428625"/>
          </a:xfrm>
          <a:prstGeom prst="rect">
            <a:avLst/>
          </a:prstGeom>
          <a:noFill/>
          <a:ln>
            <a:noFill/>
          </a:ln>
          <a:effectLst/>
        </p:spPr>
        <p:txBody>
          <a:bodyPr wrap="square" anchor="t" lIns="0" rIns="0" tIns="682" bIns="0">
            <a:noAutofit/>
          </a:bodyPr>
          <a:lstStyle/>
          <a:p>
            <a:pPr algn="l">
              <a:lnSpc>
                <a:spcPct val="98330"/>
              </a:lnSpc>
              <a:spcBef>
                <a:spcPts val="0"/>
              </a:spcBef>
              <a:spcAft>
                <a:spcPts val="0"/>
              </a:spcAft>
            </a:pPr>
            <a:r>
              <a:rPr b="1" i="0" u="none" sz="900">
                <a:solidFill>
                  <a:srgbClr val="202124"/>
                </a:solidFill>
                <a:latin typeface="Google Sans"/>
              </a:rPr>
              <a:t>PowerPoint Template Studio:</a:t>
            </a:r>
            <a:r>
              <a:rPr b="0" i="0" u="none" sz="900">
                <a:solidFill>
                  <a:schemeClr val="accent5"/>
                </a:solidFill>
                <a:latin typeface="Google Sans"/>
              </a:rPr>
              <a:t> 29 Templates (9 Families), 26 Backdrops, Swatches &amp; Global Style Bar.</a:t>
            </a:r>
            <a:endParaRPr sz="900">
              <a:latin typeface="Google Sans"/>
            </a:endParaRPr>
          </a:p>
        </p:txBody>
      </p:sp>
      <p:sp>
        <p:nvSpPr>
          <p:cNvPr id="18" name="TextBox 17"/>
          <p:cNvSpPr txBox="1"/>
          <p:nvPr/>
        </p:nvSpPr>
        <p:spPr>
          <a:xfrm>
            <a:off x="342900" y="3686175"/>
            <a:ext cx="1971675" cy="264319"/>
          </a:xfrm>
          <a:prstGeom prst="rect">
            <a:avLst/>
          </a:prstGeom>
          <a:noFill/>
          <a:ln>
            <a:noFill/>
          </a:ln>
          <a:effectLst/>
        </p:spPr>
        <p:txBody>
          <a:bodyPr wrap="none" anchor="t" lIns="0" rIns="0" tIns="6606" bIns="0">
            <a:noAutofit/>
          </a:bodyPr>
          <a:lstStyle/>
          <a:p>
            <a:pPr algn="l">
              <a:lnSpc>
                <a:spcPct val="83330"/>
              </a:lnSpc>
              <a:spcBef>
                <a:spcPts val="0"/>
              </a:spcBef>
              <a:spcAft>
                <a:spcPts val="0"/>
              </a:spcAft>
            </a:pPr>
            <a:r>
              <a:rPr b="1" i="0" u="none" sz="1600">
                <a:solidFill>
                  <a:schemeClr val="accent4"/>
                </a:solidFill>
                <a:latin typeface="Google Sans"/>
              </a:rPr>
              <a:t>+2.97pt to +3.28pt</a:t>
            </a:r>
            <a:endParaRPr sz="1600">
              <a:latin typeface="Google Sans"/>
            </a:endParaRPr>
          </a:p>
        </p:txBody>
      </p:sp>
      <p:sp>
        <p:nvSpPr>
          <p:cNvPr id="19" name="TextBox 18"/>
          <p:cNvSpPr txBox="1"/>
          <p:nvPr/>
        </p:nvSpPr>
        <p:spPr>
          <a:xfrm>
            <a:off x="342900" y="4021931"/>
            <a:ext cx="1943100" cy="564356"/>
          </a:xfrm>
          <a:prstGeom prst="rect">
            <a:avLst/>
          </a:prstGeom>
          <a:noFill/>
          <a:ln>
            <a:noFill/>
          </a:ln>
          <a:effectLst/>
        </p:spPr>
        <p:txBody>
          <a:bodyPr wrap="square" anchor="t" lIns="0" rIns="0" tIns="682" bIns="0">
            <a:noAutofit/>
          </a:bodyPr>
          <a:lstStyle/>
          <a:p>
            <a:pPr algn="l">
              <a:lnSpc>
                <a:spcPct val="98330"/>
              </a:lnSpc>
              <a:spcBef>
                <a:spcPts val="0"/>
              </a:spcBef>
              <a:spcAft>
                <a:spcPts val="0"/>
              </a:spcAft>
            </a:pPr>
            <a:r>
              <a:rPr b="1" i="0" u="none" sz="900">
                <a:solidFill>
                  <a:srgbClr val="202124"/>
                </a:solidFill>
                <a:latin typeface="Google Sans"/>
              </a:rPr>
              <a:t>Larger Body Font Size:</a:t>
            </a:r>
            <a:r>
              <a:rPr b="0" i="0" u="none" sz="900">
                <a:solidFill>
                  <a:schemeClr val="accent5"/>
                </a:solidFill>
                <a:latin typeface="Google Sans"/>
              </a:rPr>
              <a:t> First Aid (83 slides) jumps from 12.63pt boxed to 15.91pt in CLEAN_OPEN; 0 slides at 12.5pt floor.</a:t>
            </a:r>
            <a:endParaRPr sz="900">
              <a:latin typeface="Google Sans"/>
            </a:endParaRPr>
          </a:p>
        </p:txBody>
      </p:sp>
      <p:sp>
        <p:nvSpPr>
          <p:cNvPr id="20" name="TextBox 19"/>
          <p:cNvSpPr txBox="1"/>
          <p:nvPr/>
        </p:nvSpPr>
        <p:spPr>
          <a:xfrm>
            <a:off x="2514600" y="3686175"/>
            <a:ext cx="1728788" cy="264319"/>
          </a:xfrm>
          <a:prstGeom prst="rect">
            <a:avLst/>
          </a:prstGeom>
          <a:noFill/>
          <a:ln>
            <a:noFill/>
          </a:ln>
          <a:effectLst/>
        </p:spPr>
        <p:txBody>
          <a:bodyPr wrap="none" anchor="t" lIns="0" rIns="0" tIns="6606" bIns="0">
            <a:noAutofit/>
          </a:bodyPr>
          <a:lstStyle/>
          <a:p>
            <a:pPr algn="l">
              <a:lnSpc>
                <a:spcPct val="83330"/>
              </a:lnSpc>
              <a:spcBef>
                <a:spcPts val="0"/>
              </a:spcBef>
              <a:spcAft>
                <a:spcPts val="0"/>
              </a:spcAft>
            </a:pPr>
            <a:r>
              <a:rPr b="1" i="0" u="none" sz="1600">
                <a:solidFill>
                  <a:schemeClr val="accent1"/>
                </a:solidFill>
                <a:latin typeface="Google Sans"/>
              </a:rPr>
              <a:t>+21.7% Larger</a:t>
            </a:r>
            <a:endParaRPr sz="1600">
              <a:latin typeface="Google Sans"/>
            </a:endParaRPr>
          </a:p>
        </p:txBody>
      </p:sp>
      <p:sp>
        <p:nvSpPr>
          <p:cNvPr id="21" name="TextBox 20"/>
          <p:cNvSpPr txBox="1"/>
          <p:nvPr/>
        </p:nvSpPr>
        <p:spPr>
          <a:xfrm>
            <a:off x="2514600" y="4021931"/>
            <a:ext cx="1943100" cy="564356"/>
          </a:xfrm>
          <a:prstGeom prst="rect">
            <a:avLst/>
          </a:prstGeom>
          <a:noFill/>
          <a:ln>
            <a:noFill/>
          </a:ln>
          <a:effectLst/>
        </p:spPr>
        <p:txBody>
          <a:bodyPr wrap="square" anchor="t" lIns="0" rIns="0" tIns="682" bIns="0">
            <a:noAutofit/>
          </a:bodyPr>
          <a:lstStyle/>
          <a:p>
            <a:pPr algn="l">
              <a:lnSpc>
                <a:spcPct val="98330"/>
              </a:lnSpc>
              <a:spcBef>
                <a:spcPts val="0"/>
              </a:spcBef>
              <a:spcAft>
                <a:spcPts val="0"/>
              </a:spcAft>
            </a:pPr>
            <a:r>
              <a:rPr b="1" i="0" u="none" sz="900">
                <a:solidFill>
                  <a:srgbClr val="202124"/>
                </a:solidFill>
                <a:latin typeface="Google Sans"/>
              </a:rPr>
              <a:t>Right-Hand Visual Area:</a:t>
            </a:r>
            <a:r>
              <a:rPr b="0" i="0" u="none" sz="900">
                <a:solidFill>
                  <a:schemeClr val="accent5"/>
                </a:solidFill>
                <a:latin typeface="Google Sans"/>
              </a:rPr>
              <a:t> FRAMELESS_CLEAN expands diagrams from 19.81 sq in to 24.10 sq in with de-boxed alpha.</a:t>
            </a:r>
            <a:endParaRPr sz="900">
              <a:latin typeface="Google Sans"/>
            </a:endParaRPr>
          </a:p>
        </p:txBody>
      </p:sp>
      <p:sp>
        <p:nvSpPr>
          <p:cNvPr id="22" name="TextBox 21"/>
          <p:cNvSpPr txBox="1"/>
          <p:nvPr/>
        </p:nvSpPr>
        <p:spPr>
          <a:xfrm>
            <a:off x="4686300" y="3686175"/>
            <a:ext cx="1671638" cy="264319"/>
          </a:xfrm>
          <a:prstGeom prst="rect">
            <a:avLst/>
          </a:prstGeom>
          <a:noFill/>
          <a:ln>
            <a:noFill/>
          </a:ln>
          <a:effectLst/>
        </p:spPr>
        <p:txBody>
          <a:bodyPr wrap="none" anchor="t" lIns="0" rIns="0" tIns="6606" bIns="0">
            <a:noAutofit/>
          </a:bodyPr>
          <a:lstStyle/>
          <a:p>
            <a:pPr algn="l">
              <a:lnSpc>
                <a:spcPct val="83330"/>
              </a:lnSpc>
              <a:spcBef>
                <a:spcPts val="0"/>
              </a:spcBef>
              <a:spcAft>
                <a:spcPts val="0"/>
              </a:spcAft>
            </a:pPr>
            <a:r>
              <a:rPr b="1" i="0" u="none" sz="1600">
                <a:solidFill>
                  <a:schemeClr val="accent1"/>
                </a:solidFill>
                <a:latin typeface="Google Sans"/>
              </a:rPr>
              <a:t>-55% to -68%</a:t>
            </a:r>
            <a:endParaRPr sz="1600">
              <a:latin typeface="Google Sans"/>
            </a:endParaRPr>
          </a:p>
        </p:txBody>
      </p:sp>
      <p:sp>
        <p:nvSpPr>
          <p:cNvPr id="23" name="TextBox 22"/>
          <p:cNvSpPr txBox="1"/>
          <p:nvPr/>
        </p:nvSpPr>
        <p:spPr>
          <a:xfrm>
            <a:off x="4686300" y="4021931"/>
            <a:ext cx="1943100" cy="564356"/>
          </a:xfrm>
          <a:prstGeom prst="rect">
            <a:avLst/>
          </a:prstGeom>
          <a:noFill/>
          <a:ln>
            <a:noFill/>
          </a:ln>
          <a:effectLst/>
        </p:spPr>
        <p:txBody>
          <a:bodyPr wrap="square" anchor="t" lIns="0" rIns="0" tIns="682" bIns="0">
            <a:noAutofit/>
          </a:bodyPr>
          <a:lstStyle/>
          <a:p>
            <a:pPr algn="l">
              <a:lnSpc>
                <a:spcPct val="98330"/>
              </a:lnSpc>
              <a:spcBef>
                <a:spcPts val="0"/>
              </a:spcBef>
              <a:spcAft>
                <a:spcPts val="0"/>
              </a:spcAft>
            </a:pPr>
            <a:r>
              <a:rPr b="1" i="0" u="none" sz="900">
                <a:solidFill>
                  <a:srgbClr val="202124"/>
                </a:solidFill>
                <a:latin typeface="Google Sans"/>
              </a:rPr>
              <a:t>Fewer OpenXML Shapes:</a:t>
            </a:r>
            <a:r>
              <a:rPr b="0" i="0" u="none" sz="900">
                <a:solidFill>
                  <a:schemeClr val="accent5"/>
                </a:solidFill>
                <a:latin typeface="Google Sans"/>
              </a:rPr>
              <a:t> First Aid drops from 1,892 shapes (22.8/slide) to 748 shapes (9.0/slide); Weather drops -68%.</a:t>
            </a:r>
            <a:endParaRPr sz="900">
              <a:latin typeface="Google Sans"/>
            </a:endParaRPr>
          </a:p>
        </p:txBody>
      </p:sp>
      <p:sp>
        <p:nvSpPr>
          <p:cNvPr id="24" name="TextBox 23"/>
          <p:cNvSpPr txBox="1"/>
          <p:nvPr/>
        </p:nvSpPr>
        <p:spPr>
          <a:xfrm>
            <a:off x="6858000" y="3686175"/>
            <a:ext cx="1200150" cy="264319"/>
          </a:xfrm>
          <a:prstGeom prst="rect">
            <a:avLst/>
          </a:prstGeom>
          <a:noFill/>
          <a:ln>
            <a:noFill/>
          </a:ln>
          <a:effectLst/>
        </p:spPr>
        <p:txBody>
          <a:bodyPr wrap="none" anchor="t" lIns="0" rIns="0" tIns="6606" bIns="0">
            <a:noAutofit/>
          </a:bodyPr>
          <a:lstStyle/>
          <a:p>
            <a:pPr algn="l">
              <a:lnSpc>
                <a:spcPct val="83330"/>
              </a:lnSpc>
              <a:spcBef>
                <a:spcPts val="0"/>
              </a:spcBef>
              <a:spcAft>
                <a:spcPts val="0"/>
              </a:spcAft>
            </a:pPr>
            <a:r>
              <a:rPr b="1" i="0" u="none" sz="1600">
                <a:solidFill>
                  <a:schemeClr val="accent4"/>
                </a:solidFill>
                <a:latin typeface="Google Sans"/>
              </a:rPr>
              <a:t>96.5 / 100</a:t>
            </a:r>
            <a:endParaRPr sz="1600">
              <a:latin typeface="Google Sans"/>
            </a:endParaRPr>
          </a:p>
        </p:txBody>
      </p:sp>
      <p:sp>
        <p:nvSpPr>
          <p:cNvPr id="25" name="TextBox 24"/>
          <p:cNvSpPr txBox="1"/>
          <p:nvPr/>
        </p:nvSpPr>
        <p:spPr>
          <a:xfrm>
            <a:off x="6858000" y="4021931"/>
            <a:ext cx="1957388" cy="564356"/>
          </a:xfrm>
          <a:prstGeom prst="rect">
            <a:avLst/>
          </a:prstGeom>
          <a:noFill/>
          <a:ln>
            <a:noFill/>
          </a:ln>
          <a:effectLst/>
        </p:spPr>
        <p:txBody>
          <a:bodyPr wrap="square" anchor="t" lIns="0" rIns="0" tIns="682" bIns="0">
            <a:noAutofit/>
          </a:bodyPr>
          <a:lstStyle/>
          <a:p>
            <a:pPr algn="l">
              <a:lnSpc>
                <a:spcPct val="98330"/>
              </a:lnSpc>
              <a:spcBef>
                <a:spcPts val="0"/>
              </a:spcBef>
              <a:spcAft>
                <a:spcPts val="0"/>
              </a:spcAft>
            </a:pPr>
            <a:r>
              <a:rPr b="1" i="0" u="none" sz="900">
                <a:solidFill>
                  <a:srgbClr val="202124"/>
                </a:solidFill>
                <a:latin typeface="Google Sans"/>
              </a:rPr>
              <a:t>Stage-2 Visual Quality Score:</a:t>
            </a:r>
            <a:r>
              <a:rPr b="0" i="0" u="none" sz="900">
                <a:solidFill>
                  <a:schemeClr val="accent5"/>
                </a:solidFill>
                <a:latin typeface="Google Sans"/>
              </a:rPr>
              <a:t> Up from 68.4 / 100 in legacy boxed mode across First Aid &amp; Weather; 0 AABB overlaps in 3.4ms.</a:t>
            </a:r>
            <a:endParaRPr sz="900">
              <a:latin typeface="Google Sans"/>
            </a:endParaRPr>
          </a:p>
        </p:txBody>
      </p:sp>
      <p:sp>
        <p:nvSpPr>
          <p:cNvPr id="26" name="TextBox 25"/>
          <p:cNvSpPr txBox="1"/>
          <p:nvPr/>
        </p:nvSpPr>
        <p:spPr>
          <a:xfrm>
            <a:off x="342900" y="4743450"/>
            <a:ext cx="6600825" cy="107156"/>
          </a:xfrm>
          <a:prstGeom prst="rect">
            <a:avLst/>
          </a:prstGeom>
          <a:noFill/>
          <a:ln>
            <a:noFill/>
          </a:ln>
          <a:effectLst/>
        </p:spPr>
        <p:txBody>
          <a:bodyPr wrap="none" anchor="t" lIns="0" rIns="0" tIns="31052" bIns="0">
            <a:noAutofit/>
          </a:bodyPr>
          <a:lstStyle/>
          <a:p>
            <a:pPr algn="l">
              <a:lnSpc>
                <a:spcPct val="83330"/>
              </a:lnSpc>
              <a:spcBef>
                <a:spcPts val="0"/>
              </a:spcBef>
              <a:spcAft>
                <a:spcPts val="0"/>
              </a:spcAft>
            </a:pPr>
            <a:r>
              <a:rPr b="0" i="0" u="none" sz="600">
                <a:solidFill>
                  <a:schemeClr val="accent5"/>
                </a:solidFill>
                <a:latin typeface="Google Sans"/>
              </a:rPr>
              <a:t>Source: src/tools/template_engine.py, src/tools/pptx_builder.py, src/agents/reviewer.py (audit_deck_visual_quality), tests/test_conformance_and_a2ui.py.</a:t>
            </a:r>
            <a:endParaRPr sz="600">
              <a:latin typeface="Google Sans"/>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85738"/>
            <a:ext cx="8458200" cy="628650"/>
          </a:xfrm>
          <a:prstGeom prst="rect">
            <a:avLst/>
          </a:prstGeom>
          <a:noFill/>
          <a:ln>
            <a:noFill/>
          </a:ln>
          <a:effectLst/>
        </p:spPr>
        <p:txBody>
          <a:bodyPr wrap="square" anchor="t" lIns="0" rIns="0" tIns="7147" bIns="0">
            <a:noAutofit/>
          </a:bodyPr>
          <a:lstStyle/>
          <a:p>
            <a:pPr algn="l">
              <a:lnSpc>
                <a:spcPct val="104170"/>
              </a:lnSpc>
              <a:spcBef>
                <a:spcPts val="0"/>
              </a:spcBef>
              <a:spcAft>
                <a:spcPts val="0"/>
              </a:spcAft>
            </a:pPr>
            <a:r>
              <a:rPr b="0" i="0" u="none" sz="1800">
                <a:solidFill>
                  <a:schemeClr val="dk1"/>
                </a:solidFill>
                <a:latin typeface="Google Sans Medium"/>
              </a:rPr>
              <a:t>Interactive Co-Design Studio &amp; 27-Capability MCP Server Connect Human Counselors and External AI Agents</a:t>
            </a:r>
            <a:endParaRPr sz="1800">
              <a:latin typeface="Google Sans Medium"/>
            </a:endParaRPr>
          </a:p>
        </p:txBody>
      </p:sp>
      <p:cxnSp>
        <p:nvCxnSpPr>
          <p:cNvPr id="3" name="Connector 2"/>
          <p:cNvCxnSpPr/>
          <p:nvPr/>
        </p:nvCxnSpPr>
        <p:spPr>
          <a:xfrm>
            <a:off x="342900" y="1985963"/>
            <a:ext cx="4029075" cy="0"/>
          </a:xfrm>
          <a:prstGeom prst="straightConnector1">
            <a:avLst/>
          </a:prstGeom>
          <a:ln w="7144" cap="flat">
            <a:solidFill>
              <a:srgbClr val="DADCE0"/>
            </a:solidFill>
          </a:ln>
        </p:spPr>
      </p:cxnSp>
      <p:cxnSp>
        <p:nvCxnSpPr>
          <p:cNvPr id="4" name="Connector 3"/>
          <p:cNvCxnSpPr/>
          <p:nvPr/>
        </p:nvCxnSpPr>
        <p:spPr>
          <a:xfrm>
            <a:off x="342900" y="3343275"/>
            <a:ext cx="4029075" cy="0"/>
          </a:xfrm>
          <a:prstGeom prst="straightConnector1">
            <a:avLst/>
          </a:prstGeom>
          <a:ln w="7144" cap="flat">
            <a:solidFill>
              <a:srgbClr val="DADCE0"/>
            </a:solidFill>
          </a:ln>
        </p:spPr>
      </p:cxnSp>
      <p:pic>
        <p:nvPicPr>
          <p:cNvPr id="5" name="Picture 4" descr="6_el-ri68uw.png"/>
          <p:cNvPicPr>
            <a:picLocks noChangeAspect="1"/>
          </p:cNvPicPr>
          <p:nvPr/>
        </p:nvPicPr>
        <p:blipFill>
          <a:blip r:embed="rId2"/>
          <a:stretch>
            <a:fillRect/>
          </a:stretch>
        </p:blipFill>
        <p:spPr>
          <a:xfrm>
            <a:off x="342900" y="814388"/>
            <a:ext cx="228600" cy="214313"/>
          </a:xfrm>
          <a:prstGeom prst="rect">
            <a:avLst/>
          </a:prstGeom>
        </p:spPr>
      </p:pic>
      <p:sp>
        <p:nvSpPr>
          <p:cNvPr id="6" name="TextBox 5"/>
          <p:cNvSpPr txBox="1"/>
          <p:nvPr/>
        </p:nvSpPr>
        <p:spPr>
          <a:xfrm>
            <a:off x="642938" y="814388"/>
            <a:ext cx="4329113" cy="185738"/>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1000">
                <a:solidFill>
                  <a:schemeClr val="dk1"/>
                </a:solidFill>
                <a:latin typeface="Google Sans"/>
              </a:rPr>
              <a:t>Zero-Cost In-Place Co-Design &amp; Active-Slide Micro-Pills</a:t>
            </a:r>
            <a:endParaRPr sz="1000">
              <a:latin typeface="Google Sans"/>
            </a:endParaRPr>
          </a:p>
        </p:txBody>
      </p:sp>
      <p:sp>
        <p:nvSpPr>
          <p:cNvPr id="7" name="TextBox 6"/>
          <p:cNvSpPr txBox="1"/>
          <p:nvPr/>
        </p:nvSpPr>
        <p:spPr>
          <a:xfrm>
            <a:off x="642938" y="1000125"/>
            <a:ext cx="3729038" cy="928688"/>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0" i="0" u="none" sz="1000">
                <a:solidFill>
                  <a:srgbClr val="3C4043"/>
                </a:solidFill>
                <a:latin typeface="Google Sans"/>
              </a:rPr>
              <a:t>Hover-revealed </a:t>
            </a:r>
            <a:r>
              <a:rPr b="1" i="0" u="none" sz="1000">
                <a:solidFill>
                  <a:srgbClr val="3C4043"/>
                </a:solidFill>
                <a:latin typeface="Google Sans"/>
              </a:rPr>
              <a:t>1/3</a:t>
            </a:r>
            <a:r>
              <a:rPr b="0" i="0" u="none" sz="1000">
                <a:solidFill>
                  <a:srgbClr val="3C4043"/>
                </a:solidFill>
                <a:latin typeface="Google Sans"/>
              </a:rPr>
              <a:t> on-stage switcher swaps primary and Vision-captioned pamphlet figures in </a:t>
            </a:r>
            <a:r>
              <a:rPr b="1" i="0" u="none" sz="1000">
                <a:solidFill>
                  <a:srgbClr val="3C4043"/>
                </a:solidFill>
                <a:latin typeface="Google Sans"/>
              </a:rPr>
              <a:t>&lt;50ms ($0.00)</a:t>
            </a:r>
            <a:r>
              <a:rPr b="0" i="0" u="none" sz="1000">
                <a:solidFill>
                  <a:srgbClr val="3C4043"/>
                </a:solidFill>
                <a:latin typeface="Google Sans"/>
              </a:rPr>
              <a:t>. Active filmstrip thumbnails expose </a:t>
            </a:r>
            <a:r>
              <a:rPr b="1" i="0" u="none" sz="1000">
                <a:solidFill>
                  <a:srgbClr val="3C4043"/>
                </a:solidFill>
                <a:latin typeface="Google Sans"/>
              </a:rPr>
              <a:t>+</a:t>
            </a:r>
            <a:r>
              <a:rPr b="0" i="0" u="none" sz="1000">
                <a:solidFill>
                  <a:srgbClr val="3C4043"/>
                </a:solidFill>
                <a:latin typeface="Google Sans"/>
              </a:rPr>
              <a:t> (insert), </a:t>
            </a:r>
            <a:r>
              <a:rPr b="1" i="0" u="none" sz="1000">
                <a:solidFill>
                  <a:srgbClr val="3C4043"/>
                </a:solidFill>
                <a:latin typeface="Google Sans"/>
              </a:rPr>
              <a:t>hide</a:t>
            </a:r>
            <a:r>
              <a:rPr b="0" i="0" u="none" sz="1000">
                <a:solidFill>
                  <a:srgbClr val="3C4043"/>
                </a:solidFill>
                <a:latin typeface="Google Sans"/>
              </a:rPr>
              <a:t>, </a:t>
            </a:r>
            <a:r>
              <a:rPr b="1" i="0" u="none" sz="1000">
                <a:solidFill>
                  <a:srgbClr val="3C4043"/>
                </a:solidFill>
                <a:latin typeface="Google Sans"/>
              </a:rPr>
              <a:t>up</a:t>
            </a:r>
            <a:r>
              <a:rPr b="0" i="0" u="none" sz="1000">
                <a:solidFill>
                  <a:srgbClr val="3C4043"/>
                </a:solidFill>
                <a:latin typeface="Google Sans"/>
              </a:rPr>
              <a:t>, and </a:t>
            </a:r>
            <a:r>
              <a:rPr b="1" i="0" u="none" sz="1000">
                <a:solidFill>
                  <a:srgbClr val="3C4043"/>
                </a:solidFill>
                <a:latin typeface="Google Sans"/>
              </a:rPr>
              <a:t>down</a:t>
            </a:r>
            <a:r>
              <a:rPr b="0" i="0" u="none" sz="1000">
                <a:solidFill>
                  <a:srgbClr val="3C4043"/>
                </a:solidFill>
                <a:latin typeface="Google Sans"/>
              </a:rPr>
              <a:t> micro-pills with </a:t>
            </a:r>
            <a:r>
              <a:rPr b="1" i="0" u="none" sz="1000">
                <a:solidFill>
                  <a:srgbClr val="3C4043"/>
                </a:solidFill>
                <a:latin typeface="Google Sans"/>
              </a:rPr>
              <a:t>0ms</a:t>
            </a:r>
            <a:r>
              <a:rPr b="0" i="0" u="none" sz="1000">
                <a:solidFill>
                  <a:srgbClr val="3C4043"/>
                </a:solidFill>
                <a:latin typeface="Google Sans"/>
              </a:rPr>
              <a:t> stationary scroll, Drawer Tab 2 style overrides (</a:t>
            </a:r>
            <a:r>
              <a:rPr b="1" i="0" u="none" sz="1000">
                <a:solidFill>
                  <a:srgbClr val="3C4043"/>
                </a:solidFill>
                <a:latin typeface="Google Sans"/>
              </a:rPr>
              <a:t>Auto</a:t>
            </a:r>
            <a:r>
              <a:rPr b="0" i="0" u="none" sz="1000">
                <a:solidFill>
                  <a:srgbClr val="3C4043"/>
                </a:solidFill>
                <a:latin typeface="Google Sans"/>
              </a:rPr>
              <a:t>, </a:t>
            </a:r>
            <a:r>
              <a:rPr b="1" i="0" u="none" sz="1000">
                <a:solidFill>
                  <a:srgbClr val="3C4043"/>
                </a:solidFill>
                <a:latin typeface="Google Sans"/>
              </a:rPr>
              <a:t>Clean</a:t>
            </a:r>
            <a:r>
              <a:rPr b="0" i="0" u="none" sz="1000">
                <a:solidFill>
                  <a:srgbClr val="3C4043"/>
                </a:solidFill>
                <a:latin typeface="Google Sans"/>
              </a:rPr>
              <a:t>, </a:t>
            </a:r>
            <a:r>
              <a:rPr b="1" i="0" u="none" sz="1000">
                <a:solidFill>
                  <a:srgbClr val="3C4043"/>
                </a:solidFill>
                <a:latin typeface="Google Sans"/>
              </a:rPr>
              <a:t>Line</a:t>
            </a:r>
            <a:r>
              <a:rPr b="0" i="0" u="none" sz="1000">
                <a:solidFill>
                  <a:srgbClr val="3C4043"/>
                </a:solidFill>
                <a:latin typeface="Google Sans"/>
              </a:rPr>
              <a:t>, </a:t>
            </a:r>
            <a:r>
              <a:rPr b="1" i="0" u="none" sz="1000">
                <a:solidFill>
                  <a:srgbClr val="3C4043"/>
                </a:solidFill>
                <a:latin typeface="Google Sans"/>
              </a:rPr>
              <a:t>Boxed</a:t>
            </a:r>
            <a:r>
              <a:rPr b="0" i="0" u="none" sz="1000">
                <a:solidFill>
                  <a:srgbClr val="3C4043"/>
                </a:solidFill>
                <a:latin typeface="Google Sans"/>
              </a:rPr>
              <a:t>), and </a:t>
            </a:r>
            <a:r>
              <a:rPr b="1" i="0" u="none" sz="1000">
                <a:solidFill>
                  <a:srgbClr val="3C4043"/>
                </a:solidFill>
                <a:latin typeface="Google Sans"/>
              </a:rPr>
              <a:t>$0.00</a:t>
            </a:r>
            <a:r>
              <a:rPr b="0" i="0" u="none" sz="1000">
                <a:solidFill>
                  <a:srgbClr val="3C4043"/>
                </a:solidFill>
                <a:latin typeface="Google Sans"/>
              </a:rPr>
              <a:t> net-zero </a:t>
            </a:r>
            <a:r>
              <a:rPr b="1" i="0" u="none" sz="1000">
                <a:solidFill>
                  <a:srgbClr val="3C4043"/>
                </a:solidFill>
                <a:latin typeface="Google Sans"/>
              </a:rPr>
              <a:t>.pptx</a:t>
            </a:r>
            <a:r>
              <a:rPr b="0" i="0" u="none" sz="1000">
                <a:solidFill>
                  <a:srgbClr val="3C4043"/>
                </a:solidFill>
                <a:latin typeface="Google Sans"/>
              </a:rPr>
              <a:t> rebuilds.</a:t>
            </a:r>
            <a:endParaRPr sz="1000">
              <a:latin typeface="Google Sans"/>
            </a:endParaRPr>
          </a:p>
        </p:txBody>
      </p:sp>
      <p:pic>
        <p:nvPicPr>
          <p:cNvPr id="8" name="Picture 7" descr="6_el-d53cyv.png"/>
          <p:cNvPicPr>
            <a:picLocks noChangeAspect="1"/>
          </p:cNvPicPr>
          <p:nvPr/>
        </p:nvPicPr>
        <p:blipFill>
          <a:blip r:embed="rId3"/>
          <a:stretch>
            <a:fillRect/>
          </a:stretch>
        </p:blipFill>
        <p:spPr>
          <a:xfrm>
            <a:off x="342900" y="2057400"/>
            <a:ext cx="228600" cy="214313"/>
          </a:xfrm>
          <a:prstGeom prst="rect">
            <a:avLst/>
          </a:prstGeom>
        </p:spPr>
      </p:pic>
      <p:sp>
        <p:nvSpPr>
          <p:cNvPr id="9" name="TextBox 8"/>
          <p:cNvSpPr txBox="1"/>
          <p:nvPr/>
        </p:nvSpPr>
        <p:spPr>
          <a:xfrm>
            <a:off x="642938" y="2057400"/>
            <a:ext cx="4279106" cy="185738"/>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1000">
                <a:solidFill>
                  <a:schemeClr val="dk1"/>
                </a:solidFill>
                <a:latin typeface="Google Sans"/>
              </a:rPr>
              <a:t>4-Tab Image Studio ($0.08 Gate) &amp; FinOps Note Polish</a:t>
            </a:r>
            <a:endParaRPr sz="1000">
              <a:latin typeface="Google Sans"/>
            </a:endParaRPr>
          </a:p>
        </p:txBody>
      </p:sp>
      <p:sp>
        <p:nvSpPr>
          <p:cNvPr id="10" name="TextBox 9"/>
          <p:cNvSpPr txBox="1"/>
          <p:nvPr/>
        </p:nvSpPr>
        <p:spPr>
          <a:xfrm>
            <a:off x="642938" y="2243138"/>
            <a:ext cx="3729038" cy="485775"/>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0" i="0" u="none" sz="1000">
                <a:solidFill>
                  <a:srgbClr val="3C4043"/>
                </a:solidFill>
                <a:latin typeface="Google Sans"/>
              </a:rPr>
              <a:t>4-Tab Image Studio (Catalog, Wikimedia, Nano Banana $0.08 consent gate across 10 styles, Upload) plus 5-Part Facilitator Guide with FinOps AI Polish (~$0.0008/slide &amp; Restore Default).</a:t>
            </a:r>
            <a:endParaRPr sz="1000">
              <a:latin typeface="Google Sans"/>
            </a:endParaRPr>
          </a:p>
        </p:txBody>
      </p:sp>
      <p:pic>
        <p:nvPicPr>
          <p:cNvPr id="11" name="Picture 10" descr="6_el-l1e8mh.png"/>
          <p:cNvPicPr>
            <a:picLocks noChangeAspect="1"/>
          </p:cNvPicPr>
          <p:nvPr/>
        </p:nvPicPr>
        <p:blipFill>
          <a:blip r:embed="rId4"/>
          <a:stretch>
            <a:fillRect/>
          </a:stretch>
        </p:blipFill>
        <p:spPr>
          <a:xfrm>
            <a:off x="342900" y="3414713"/>
            <a:ext cx="228600" cy="214313"/>
          </a:xfrm>
          <a:prstGeom prst="rect">
            <a:avLst/>
          </a:prstGeom>
        </p:spPr>
      </p:pic>
      <p:sp>
        <p:nvSpPr>
          <p:cNvPr id="12" name="TextBox 11"/>
          <p:cNvSpPr txBox="1"/>
          <p:nvPr/>
        </p:nvSpPr>
        <p:spPr>
          <a:xfrm>
            <a:off x="642938" y="3414713"/>
            <a:ext cx="4279106" cy="185738"/>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1000">
                <a:solidFill>
                  <a:schemeClr val="dk1"/>
                </a:solidFill>
                <a:latin typeface="Google Sans"/>
              </a:rPr>
              <a:t>27-Capability MCP Server &amp; Interactive Playground</a:t>
            </a:r>
            <a:endParaRPr sz="1000">
              <a:latin typeface="Google Sans"/>
            </a:endParaRPr>
          </a:p>
        </p:txBody>
      </p:sp>
      <p:sp>
        <p:nvSpPr>
          <p:cNvPr id="13" name="TextBox 12"/>
          <p:cNvSpPr txBox="1"/>
          <p:nvPr/>
        </p:nvSpPr>
        <p:spPr>
          <a:xfrm>
            <a:off x="642938" y="3600450"/>
            <a:ext cx="3729038" cy="1042988"/>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1000">
                <a:solidFill>
                  <a:srgbClr val="3C4043"/>
                </a:solidFill>
                <a:latin typeface="Google Sans"/>
              </a:rPr>
              <a:t>src/mcp_server.py</a:t>
            </a:r>
            <a:r>
              <a:rPr b="0" i="0" u="none" sz="1000">
                <a:solidFill>
                  <a:srgbClr val="3C4043"/>
                </a:solidFill>
                <a:latin typeface="Google Sans"/>
              </a:rPr>
              <a:t> (</a:t>
            </a:r>
            <a:r>
              <a:rPr b="1" i="0" u="none" sz="1000">
                <a:solidFill>
                  <a:srgbClr val="3C4043"/>
                </a:solidFill>
                <a:latin typeface="Google Sans"/>
              </a:rPr>
              <a:t>POST /mcp</a:t>
            </a:r>
            <a:r>
              <a:rPr b="0" i="0" u="none" sz="1000">
                <a:solidFill>
                  <a:srgbClr val="3C4043"/>
                </a:solidFill>
                <a:latin typeface="Google Sans"/>
              </a:rPr>
              <a:t> &amp; Stdio) exposes </a:t>
            </a:r>
            <a:r>
              <a:rPr b="1" i="0" u="none" sz="1000">
                <a:solidFill>
                  <a:srgbClr val="3C4043"/>
                </a:solidFill>
                <a:latin typeface="Google Sans"/>
              </a:rPr>
              <a:t>15</a:t>
            </a:r>
            <a:r>
              <a:rPr b="0" i="0" u="none" sz="1000">
                <a:solidFill>
                  <a:srgbClr val="3C4043"/>
                </a:solidFill>
                <a:latin typeface="Google Sans"/>
              </a:rPr>
              <a:t> tools (</a:t>
            </a:r>
            <a:r>
              <a:rPr b="1" i="0" u="none" sz="1000">
                <a:solidFill>
                  <a:srgbClr val="3C4043"/>
                </a:solidFill>
                <a:latin typeface="Google Sans"/>
              </a:rPr>
              <a:t>generate_merit_badge_slide_deck</a:t>
            </a:r>
            <a:r>
              <a:rPr b="0" i="0" u="none" sz="1000">
                <a:solidFill>
                  <a:srgbClr val="3C4043"/>
                </a:solidFill>
                <a:latin typeface="Google Sans"/>
              </a:rPr>
              <a:t>, </a:t>
            </a:r>
            <a:r>
              <a:rPr b="1" i="0" u="none" sz="1000">
                <a:solidFill>
                  <a:srgbClr val="3C4043"/>
                </a:solidFill>
                <a:latin typeface="Google Sans"/>
              </a:rPr>
              <a:t>generate_fillable_scout_workbook</a:t>
            </a:r>
            <a:r>
              <a:rPr b="0" i="0" u="none" sz="1000">
                <a:solidFill>
                  <a:srgbClr val="3C4043"/>
                </a:solidFill>
                <a:latin typeface="Google Sans"/>
              </a:rPr>
              <a:t>, </a:t>
            </a:r>
            <a:r>
              <a:rPr b="1" i="0" u="none" sz="1000">
                <a:solidFill>
                  <a:srgbClr val="3C4043"/>
                </a:solidFill>
                <a:latin typeface="Google Sans"/>
              </a:rPr>
              <a:t>apply_powerpoint_template</a:t>
            </a:r>
            <a:r>
              <a:rPr b="0" i="0" u="none" sz="1000">
                <a:solidFill>
                  <a:srgbClr val="3C4043"/>
                </a:solidFill>
                <a:latin typeface="Google Sans"/>
              </a:rPr>
              <a:t>), </a:t>
            </a:r>
            <a:r>
              <a:rPr b="1" i="0" u="none" sz="1000">
                <a:solidFill>
                  <a:srgbClr val="3C4043"/>
                </a:solidFill>
                <a:latin typeface="Google Sans"/>
              </a:rPr>
              <a:t>7 bsa://</a:t>
            </a:r>
            <a:r>
              <a:rPr b="0" i="0" u="none" sz="1000">
                <a:solidFill>
                  <a:srgbClr val="3C4043"/>
                </a:solidFill>
                <a:latin typeface="Google Sans"/>
              </a:rPr>
              <a:t> resources, and </a:t>
            </a:r>
            <a:r>
              <a:rPr b="1" i="0" u="none" sz="1000">
                <a:solidFill>
                  <a:srgbClr val="3C4043"/>
                </a:solidFill>
                <a:latin typeface="Google Sans"/>
              </a:rPr>
              <a:t>5</a:t>
            </a:r>
            <a:r>
              <a:rPr b="0" i="0" u="none" sz="1000">
                <a:solidFill>
                  <a:srgbClr val="3C4043"/>
                </a:solidFill>
                <a:latin typeface="Google Sans"/>
              </a:rPr>
              <a:t> guided prompts with an Interactive MCP Playground (</a:t>
            </a:r>
            <a:r>
              <a:rPr b="1" i="0" u="none" sz="1000">
                <a:solidFill>
                  <a:srgbClr val="3C4043"/>
                </a:solidFill>
                <a:latin typeface="Google Sans"/>
              </a:rPr>
              <a:t>Visual Card Preview</a:t>
            </a:r>
            <a:r>
              <a:rPr b="0" i="0" u="none" sz="1000">
                <a:solidFill>
                  <a:srgbClr val="3C4043"/>
                </a:solidFill>
                <a:latin typeface="Google Sans"/>
              </a:rPr>
              <a:t> + </a:t>
            </a:r>
            <a:r>
              <a:rPr b="1" i="0" u="none" sz="1000">
                <a:solidFill>
                  <a:srgbClr val="3C4043"/>
                </a:solidFill>
                <a:latin typeface="Google Sans"/>
              </a:rPr>
              <a:t>Raw JSON-RPC 2.0</a:t>
            </a:r>
            <a:r>
              <a:rPr b="0" i="0" u="none" sz="1000">
                <a:solidFill>
                  <a:srgbClr val="3C4043"/>
                </a:solidFill>
                <a:latin typeface="Google Sans"/>
              </a:rPr>
              <a:t>) and 1-click setup for Claude Desktop, Gemini CLI / AGY, and Cursor.</a:t>
            </a:r>
            <a:endParaRPr sz="1000">
              <a:latin typeface="Google Sans"/>
            </a:endParaRPr>
          </a:p>
        </p:txBody>
      </p:sp>
      <p:pic>
        <p:nvPicPr>
          <p:cNvPr id="14" name="Picture 13" descr="image.png"/>
          <p:cNvPicPr>
            <a:picLocks noChangeAspect="1"/>
          </p:cNvPicPr>
          <p:nvPr/>
        </p:nvPicPr>
        <p:blipFill>
          <a:blip r:embed="rId5"/>
          <a:stretch>
            <a:fillRect/>
          </a:stretch>
        </p:blipFill>
        <p:spPr>
          <a:xfrm>
            <a:off x="5436513" y="828675"/>
            <a:ext cx="2450067" cy="1500188"/>
          </a:xfrm>
          <a:prstGeom prst="rect">
            <a:avLst/>
          </a:prstGeom>
        </p:spPr>
      </p:pic>
      <p:sp>
        <p:nvSpPr>
          <p:cNvPr id="15" name="TextBox 14"/>
          <p:cNvSpPr txBox="1"/>
          <p:nvPr/>
        </p:nvSpPr>
        <p:spPr>
          <a:xfrm>
            <a:off x="4514850" y="2443163"/>
            <a:ext cx="4286250" cy="242888"/>
          </a:xfrm>
          <a:prstGeom prst="rect">
            <a:avLst/>
          </a:prstGeom>
          <a:noFill/>
          <a:ln>
            <a:noFill/>
          </a:ln>
          <a:effectLst/>
        </p:spPr>
        <p:txBody>
          <a:bodyPr wrap="square" anchor="t" lIns="0" rIns="0" tIns="1509" bIns="0">
            <a:noAutofit/>
          </a:bodyPr>
          <a:lstStyle/>
          <a:p>
            <a:pPr algn="ctr">
              <a:lnSpc>
                <a:spcPct val="100000"/>
              </a:lnSpc>
              <a:spcBef>
                <a:spcPts val="0"/>
              </a:spcBef>
              <a:spcAft>
                <a:spcPts val="0"/>
              </a:spcAft>
            </a:pPr>
            <a:r>
              <a:rPr b="1" i="0" u="none" sz="900">
                <a:solidFill>
                  <a:srgbClr val="202124"/>
                </a:solidFill>
                <a:latin typeface="Google Sans"/>
              </a:rPr>
              <a:t>In-App MCP Hub &amp; Interactive Playground:</a:t>
            </a:r>
            <a:r>
              <a:rPr b="0" i="0" u="none" sz="900">
                <a:solidFill>
                  <a:schemeClr val="accent5"/>
                </a:solidFill>
                <a:latin typeface="Google Sans"/>
              </a:rPr>
              <a:t> 15 Tools, 7 bsa:// Resources &amp; 5 Prompts with Visual Card Preview</a:t>
            </a:r>
            <a:endParaRPr sz="900">
              <a:latin typeface="Google Sans"/>
            </a:endParaRPr>
          </a:p>
        </p:txBody>
      </p:sp>
      <p:pic>
        <p:nvPicPr>
          <p:cNvPr id="16" name="Picture 15" descr="image.png"/>
          <p:cNvPicPr>
            <a:picLocks noChangeAspect="1"/>
          </p:cNvPicPr>
          <p:nvPr/>
        </p:nvPicPr>
        <p:blipFill>
          <a:blip r:embed="rId6"/>
          <a:stretch>
            <a:fillRect/>
          </a:stretch>
        </p:blipFill>
        <p:spPr>
          <a:xfrm>
            <a:off x="5457825" y="2800350"/>
            <a:ext cx="2400300" cy="1500188"/>
          </a:xfrm>
          <a:prstGeom prst="rect">
            <a:avLst/>
          </a:prstGeom>
        </p:spPr>
      </p:pic>
      <p:sp>
        <p:nvSpPr>
          <p:cNvPr id="17" name="TextBox 16"/>
          <p:cNvSpPr txBox="1"/>
          <p:nvPr/>
        </p:nvSpPr>
        <p:spPr>
          <a:xfrm>
            <a:off x="4514850" y="4400550"/>
            <a:ext cx="4286250" cy="242888"/>
          </a:xfrm>
          <a:prstGeom prst="rect">
            <a:avLst/>
          </a:prstGeom>
          <a:noFill/>
          <a:ln>
            <a:noFill/>
          </a:ln>
          <a:effectLst/>
        </p:spPr>
        <p:txBody>
          <a:bodyPr wrap="square" anchor="t" lIns="0" rIns="0" tIns="1509" bIns="0">
            <a:noAutofit/>
          </a:bodyPr>
          <a:lstStyle/>
          <a:p>
            <a:pPr algn="ctr">
              <a:lnSpc>
                <a:spcPct val="100000"/>
              </a:lnSpc>
              <a:spcBef>
                <a:spcPts val="0"/>
              </a:spcBef>
              <a:spcAft>
                <a:spcPts val="0"/>
              </a:spcAft>
            </a:pPr>
            <a:r>
              <a:rPr b="1" i="0" u="none" sz="900">
                <a:solidFill>
                  <a:srgbClr val="202124"/>
                </a:solidFill>
                <a:latin typeface="Google Sans"/>
              </a:rPr>
              <a:t>Active-Slide Filmstrip Micro-Pills (+, Hide, Up, Down):</a:t>
            </a:r>
            <a:r>
              <a:rPr b="0" i="0" u="none" sz="900">
                <a:solidFill>
                  <a:schemeClr val="accent5"/>
                </a:solidFill>
                <a:latin typeface="Google Sans"/>
              </a:rPr>
              <a:t> Hover Image Switcher &amp; Per-Slide Style Override</a:t>
            </a:r>
            <a:endParaRPr sz="900">
              <a:latin typeface="Google Sans"/>
            </a:endParaRPr>
          </a:p>
        </p:txBody>
      </p:sp>
      <p:sp>
        <p:nvSpPr>
          <p:cNvPr id="18" name="TextBox 17"/>
          <p:cNvSpPr txBox="1"/>
          <p:nvPr/>
        </p:nvSpPr>
        <p:spPr>
          <a:xfrm>
            <a:off x="342900" y="4757738"/>
            <a:ext cx="8772525" cy="128588"/>
          </a:xfrm>
          <a:prstGeom prst="rect">
            <a:avLst/>
          </a:prstGeom>
          <a:noFill/>
          <a:ln>
            <a:noFill/>
          </a:ln>
          <a:effectLst/>
        </p:spPr>
        <p:txBody>
          <a:bodyPr wrap="none" anchor="t" lIns="0" rIns="0" tIns="41119" bIns="0">
            <a:noAutofit/>
          </a:bodyPr>
          <a:lstStyle/>
          <a:p>
            <a:pPr algn="l">
              <a:lnSpc>
                <a:spcPct val="91670"/>
              </a:lnSpc>
              <a:spcBef>
                <a:spcPts val="0"/>
              </a:spcBef>
              <a:spcAft>
                <a:spcPts val="0"/>
              </a:spcAft>
            </a:pPr>
            <a:r>
              <a:rPr b="0" i="0" u="none" sz="600">
                <a:solidFill>
                  <a:schemeClr val="accent5"/>
                </a:solidFill>
                <a:latin typeface="Google Sans"/>
              </a:rPr>
              <a:t>Source: src/mcp_server.py, docs/MCP_SERVER_INTEGRATION_GUIDE.md, src/agents/image_studio.py, ui/app.js.</a:t>
            </a:r>
            <a:endParaRPr sz="600">
              <a:latin typeface="Google Sans"/>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28588"/>
            <a:ext cx="8458200" cy="628650"/>
          </a:xfrm>
          <a:prstGeom prst="rect">
            <a:avLst/>
          </a:prstGeom>
          <a:noFill/>
          <a:ln>
            <a:noFill/>
          </a:ln>
          <a:effectLst/>
        </p:spPr>
        <p:txBody>
          <a:bodyPr wrap="square" anchor="t" lIns="0" rIns="0" tIns="7147" bIns="0">
            <a:noAutofit/>
          </a:bodyPr>
          <a:lstStyle/>
          <a:p>
            <a:pPr algn="l">
              <a:lnSpc>
                <a:spcPct val="104170"/>
              </a:lnSpc>
              <a:spcBef>
                <a:spcPts val="0"/>
              </a:spcBef>
              <a:spcAft>
                <a:spcPts val="0"/>
              </a:spcAft>
            </a:pPr>
            <a:r>
              <a:rPr b="0" i="0" u="none" sz="1800">
                <a:solidFill>
                  <a:schemeClr val="dk1"/>
                </a:solidFill>
                <a:latin typeface="Google Sans Medium"/>
              </a:rPr>
              <a:t>Full-Size Presenter View, Multi-Badge Workspaces &amp; 1-Click Google Slides Export Power Troop Meetings</a:t>
            </a:r>
            <a:endParaRPr sz="1800">
              <a:latin typeface="Google Sans Medium"/>
            </a:endParaRPr>
          </a:p>
        </p:txBody>
      </p:sp>
      <p:cxnSp>
        <p:nvCxnSpPr>
          <p:cNvPr id="3" name="Connector 2"/>
          <p:cNvCxnSpPr/>
          <p:nvPr/>
        </p:nvCxnSpPr>
        <p:spPr>
          <a:xfrm>
            <a:off x="4543425" y="814388"/>
            <a:ext cx="0" cy="3757612"/>
          </a:xfrm>
          <a:prstGeom prst="straightConnector1">
            <a:avLst/>
          </a:prstGeom>
          <a:ln w="7144" cap="flat">
            <a:solidFill>
              <a:srgbClr val="DADCE0"/>
            </a:solidFill>
          </a:ln>
        </p:spPr>
      </p:cxnSp>
      <p:cxnSp>
        <p:nvCxnSpPr>
          <p:cNvPr id="4" name="Connector 3"/>
          <p:cNvCxnSpPr/>
          <p:nvPr/>
        </p:nvCxnSpPr>
        <p:spPr>
          <a:xfrm>
            <a:off x="342900" y="2700338"/>
            <a:ext cx="8458200" cy="0"/>
          </a:xfrm>
          <a:prstGeom prst="straightConnector1">
            <a:avLst/>
          </a:prstGeom>
          <a:ln w="7144" cap="flat">
            <a:solidFill>
              <a:srgbClr val="DADCE0"/>
            </a:solidFill>
          </a:ln>
        </p:spPr>
      </p:cxnSp>
      <p:sp>
        <p:nvSpPr>
          <p:cNvPr id="5" name="TextBox 4"/>
          <p:cNvSpPr txBox="1"/>
          <p:nvPr/>
        </p:nvSpPr>
        <p:spPr>
          <a:xfrm>
            <a:off x="342900" y="814388"/>
            <a:ext cx="4143375" cy="157163"/>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900" spc="22">
                <a:solidFill>
                  <a:schemeClr val="accent1"/>
                </a:solidFill>
                <a:latin typeface="Google Sans"/>
              </a:rPr>
              <a:t>16:9 STAGE &amp; PRESENTER CONSOLE (KEY: P)</a:t>
            </a:r>
            <a:endParaRPr sz="900">
              <a:latin typeface="Google Sans"/>
            </a:endParaRPr>
          </a:p>
        </p:txBody>
      </p:sp>
      <p:sp>
        <p:nvSpPr>
          <p:cNvPr id="6" name="TextBox 5"/>
          <p:cNvSpPr txBox="1"/>
          <p:nvPr/>
        </p:nvSpPr>
        <p:spPr>
          <a:xfrm>
            <a:off x="342900" y="971550"/>
            <a:ext cx="4143375" cy="200025"/>
          </a:xfrm>
          <a:prstGeom prst="rect">
            <a:avLst/>
          </a:prstGeom>
          <a:noFill/>
          <a:ln>
            <a:noFill/>
          </a:ln>
          <a:effectLst/>
        </p:spPr>
        <p:txBody>
          <a:bodyPr wrap="none" anchor="t" lIns="0" rIns="0" tIns="4765" bIns="0">
            <a:noAutofit/>
          </a:bodyPr>
          <a:lstStyle/>
          <a:p>
            <a:pPr algn="l">
              <a:lnSpc>
                <a:spcPct val="104170"/>
              </a:lnSpc>
              <a:spcBef>
                <a:spcPts val="0"/>
              </a:spcBef>
              <a:spcAft>
                <a:spcPts val="0"/>
              </a:spcAft>
            </a:pPr>
            <a:r>
              <a:rPr b="1" i="0" u="none" sz="1200">
                <a:solidFill>
                  <a:schemeClr val="dk1"/>
                </a:solidFill>
                <a:latin typeface="Google Sans"/>
              </a:rPr>
              <a:t>Full-Size Split-Screen &amp; Floating Presenter View</a:t>
            </a:r>
            <a:endParaRPr sz="1200">
              <a:latin typeface="Google Sans"/>
            </a:endParaRPr>
          </a:p>
        </p:txBody>
      </p:sp>
      <p:sp>
        <p:nvSpPr>
          <p:cNvPr id="7" name="TextBox 6"/>
          <p:cNvSpPr txBox="1"/>
          <p:nvPr/>
        </p:nvSpPr>
        <p:spPr>
          <a:xfrm>
            <a:off x="342900" y="1214438"/>
            <a:ext cx="2428875" cy="1328738"/>
          </a:xfrm>
          <a:prstGeom prst="rect">
            <a:avLst/>
          </a:prstGeom>
          <a:noFill/>
          <a:ln>
            <a:noFill/>
          </a:ln>
          <a:effectLst/>
        </p:spPr>
        <p:txBody>
          <a:bodyPr wrap="square" anchor="t" lIns="0" rIns="0" tIns="2595" bIns="0">
            <a:noAutofit/>
          </a:bodyPr>
          <a:lstStyle/>
          <a:p>
            <a:pPr marL="114300" indent="-114300" algn="l">
              <a:lnSpc>
                <a:spcPct val="101670"/>
              </a:lnSpc>
              <a:spcBef>
                <a:spcPts val="0"/>
              </a:spcBef>
              <a:spcAft>
                <a:spcPts val="0"/>
              </a:spcAft>
              <a:buClr>
                <a:srgbClr val="202124"/>
              </a:buClr>
              <a:buFont typeface="Arial"/>
              <a:buChar char="•"/>
            </a:pPr>
            <a:r>
              <a:rPr b="1" i="0" u="none" sz="1000">
                <a:solidFill>
                  <a:schemeClr val="dk1"/>
                </a:solidFill>
                <a:latin typeface="Google Sans"/>
              </a:rPr>
              <a:t>890px+ Stage (P):</a:t>
            </a:r>
            <a:r>
              <a:rPr b="0" i="0" u="none" sz="1000">
                <a:solidFill>
                  <a:schemeClr val="dk1"/>
                </a:solidFill>
                <a:latin typeface="Google Sans"/>
              </a:rPr>
              <a:t> Auto-collapses sidebar; 2-tier Float/Dock header.</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&lt;5ms 2nd Monitor Sync:</a:t>
            </a:r>
            <a:r>
              <a:rPr b="0" i="0" u="none" sz="1000">
                <a:solidFill>
                  <a:schemeClr val="dk1"/>
                </a:solidFill>
                <a:latin typeface="Google Sans"/>
              </a:rPr>
              <a:t> Dual-screen pop-out via BroadcastChannel.</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Externalized Scoreboard:</a:t>
            </a:r>
            <a:r>
              <a:rPr b="0" i="0" u="none" sz="1000">
                <a:solidFill>
                  <a:schemeClr val="dk1"/>
                </a:solidFill>
                <a:latin typeface="Google Sans"/>
              </a:rPr>
              <a:t> Patrol Quiz above stage (Space reveals).</a:t>
            </a:r>
            <a:endParaRPr sz="1000">
              <a:latin typeface="Google Sans"/>
            </a:endParaRPr>
          </a:p>
        </p:txBody>
      </p:sp>
      <p:pic>
        <p:nvPicPr>
          <p:cNvPr id="8" name="Picture 7" descr="image.png"/>
          <p:cNvPicPr>
            <a:picLocks noChangeAspect="1"/>
          </p:cNvPicPr>
          <p:nvPr/>
        </p:nvPicPr>
        <p:blipFill>
          <a:blip r:embed="rId2"/>
          <a:stretch>
            <a:fillRect/>
          </a:stretch>
        </p:blipFill>
        <p:spPr>
          <a:xfrm>
            <a:off x="2893219" y="1215036"/>
            <a:ext cx="1535906" cy="863197"/>
          </a:xfrm>
          <a:prstGeom prst="rect">
            <a:avLst/>
          </a:prstGeom>
        </p:spPr>
      </p:pic>
      <p:sp>
        <p:nvSpPr>
          <p:cNvPr id="9" name="TextBox 8"/>
          <p:cNvSpPr txBox="1"/>
          <p:nvPr/>
        </p:nvSpPr>
        <p:spPr>
          <a:xfrm>
            <a:off x="4686300" y="814388"/>
            <a:ext cx="4429125" cy="157163"/>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900" spc="22">
                <a:solidFill>
                  <a:schemeClr val="accent1"/>
                </a:solidFill>
                <a:latin typeface="Google Sans"/>
              </a:rPr>
              <a:t>SQLITE WORKSPACE MANAGER (MY DECKS)</a:t>
            </a:r>
            <a:endParaRPr sz="900">
              <a:latin typeface="Google Sans"/>
            </a:endParaRPr>
          </a:p>
        </p:txBody>
      </p:sp>
      <p:sp>
        <p:nvSpPr>
          <p:cNvPr id="10" name="TextBox 9"/>
          <p:cNvSpPr txBox="1"/>
          <p:nvPr/>
        </p:nvSpPr>
        <p:spPr>
          <a:xfrm>
            <a:off x="4686300" y="971550"/>
            <a:ext cx="4429125" cy="200025"/>
          </a:xfrm>
          <a:prstGeom prst="rect">
            <a:avLst/>
          </a:prstGeom>
          <a:noFill/>
          <a:ln>
            <a:noFill/>
          </a:ln>
          <a:effectLst/>
        </p:spPr>
        <p:txBody>
          <a:bodyPr wrap="none" anchor="t" lIns="0" rIns="0" tIns="4765" bIns="0">
            <a:noAutofit/>
          </a:bodyPr>
          <a:lstStyle/>
          <a:p>
            <a:pPr algn="l">
              <a:lnSpc>
                <a:spcPct val="104170"/>
              </a:lnSpc>
              <a:spcBef>
                <a:spcPts val="0"/>
              </a:spcBef>
              <a:spcAft>
                <a:spcPts val="0"/>
              </a:spcAft>
            </a:pPr>
            <a:r>
              <a:rPr b="1" i="0" u="none" sz="1200">
                <a:solidFill>
                  <a:schemeClr val="dk1"/>
                </a:solidFill>
                <a:latin typeface="Google Sans"/>
              </a:rPr>
              <a:t>Multi-Badge Counselor Workspaces &amp; Section Cloning</a:t>
            </a:r>
            <a:endParaRPr sz="1200">
              <a:latin typeface="Google Sans"/>
            </a:endParaRPr>
          </a:p>
        </p:txBody>
      </p:sp>
      <p:sp>
        <p:nvSpPr>
          <p:cNvPr id="11" name="TextBox 10"/>
          <p:cNvSpPr txBox="1"/>
          <p:nvPr/>
        </p:nvSpPr>
        <p:spPr>
          <a:xfrm>
            <a:off x="4686300" y="1214438"/>
            <a:ext cx="2457450" cy="1328738"/>
          </a:xfrm>
          <a:prstGeom prst="rect">
            <a:avLst/>
          </a:prstGeom>
          <a:noFill/>
          <a:ln>
            <a:noFill/>
          </a:ln>
          <a:effectLst/>
        </p:spPr>
        <p:txBody>
          <a:bodyPr wrap="square" anchor="t" lIns="0" rIns="0" tIns="2595" bIns="0">
            <a:noAutofit/>
          </a:bodyPr>
          <a:lstStyle/>
          <a:p>
            <a:pPr marL="114300" indent="-114300" algn="l">
              <a:lnSpc>
                <a:spcPct val="101670"/>
              </a:lnSpc>
              <a:spcBef>
                <a:spcPts val="0"/>
              </a:spcBef>
              <a:spcAft>
                <a:spcPts val="0"/>
              </a:spcAft>
              <a:buClr>
                <a:srgbClr val="202124"/>
              </a:buClr>
              <a:buFont typeface="Arial"/>
              <a:buChar char="•"/>
            </a:pPr>
            <a:r>
              <a:rPr b="1" i="0" u="none" sz="1000">
                <a:solidFill>
                  <a:schemeClr val="dk1"/>
                </a:solidFill>
                <a:latin typeface="Google Sans"/>
              </a:rPr>
              <a:t>&lt;80ms SQLite Hot-Swap:</a:t>
            </a:r>
            <a:r>
              <a:rPr b="0" i="0" u="none" sz="1000">
                <a:solidFill>
                  <a:schemeClr val="dk1"/>
                </a:solidFill>
                <a:latin typeface="Google Sans"/>
              </a:rPr>
              <a:t> counselor_workspaces via Quick-Select -&gt; Decks.</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Clone for New Section:</a:t>
            </a:r>
            <a:r>
              <a:rPr b="0" i="0" u="none" sz="1000">
                <a:solidFill>
                  <a:schemeClr val="dk1"/>
                </a:solidFill>
                <a:latin typeface="Google Sans"/>
              </a:rPr>
              <a:t> Split-button isolates troop Blue Card rosters.</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Portable Archives:</a:t>
            </a:r>
            <a:r>
              <a:rPr b="0" i="0" u="none" sz="1000">
                <a:solidFill>
                  <a:schemeClr val="dk1"/>
                </a:solidFill>
                <a:latin typeface="Google Sans"/>
              </a:rPr>
              <a:t> Exports and imports .bsadeck.json camp bundles.</a:t>
            </a:r>
            <a:endParaRPr sz="1000">
              <a:latin typeface="Google Sans"/>
            </a:endParaRPr>
          </a:p>
        </p:txBody>
      </p:sp>
      <p:pic>
        <p:nvPicPr>
          <p:cNvPr id="12" name="Picture 11" descr="image.png"/>
          <p:cNvPicPr>
            <a:picLocks noChangeAspect="1"/>
          </p:cNvPicPr>
          <p:nvPr/>
        </p:nvPicPr>
        <p:blipFill>
          <a:blip r:embed="rId3"/>
          <a:stretch>
            <a:fillRect/>
          </a:stretch>
        </p:blipFill>
        <p:spPr>
          <a:xfrm>
            <a:off x="7259554" y="1214438"/>
            <a:ext cx="1540042" cy="942975"/>
          </a:xfrm>
          <a:prstGeom prst="rect">
            <a:avLst/>
          </a:prstGeom>
        </p:spPr>
      </p:pic>
      <p:sp>
        <p:nvSpPr>
          <p:cNvPr id="13" name="TextBox 12"/>
          <p:cNvSpPr txBox="1"/>
          <p:nvPr/>
        </p:nvSpPr>
        <p:spPr>
          <a:xfrm>
            <a:off x="342900" y="2843213"/>
            <a:ext cx="4143375" cy="157163"/>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900" spc="22">
                <a:solidFill>
                  <a:schemeClr val="accent1"/>
                </a:solidFill>
                <a:latin typeface="Google Sans"/>
              </a:rPr>
              <a:t>ADVANCEMENT RECORDS &amp; FIELD PRINTABLES</a:t>
            </a:r>
            <a:endParaRPr sz="900">
              <a:latin typeface="Google Sans"/>
            </a:endParaRPr>
          </a:p>
        </p:txBody>
      </p:sp>
      <p:sp>
        <p:nvSpPr>
          <p:cNvPr id="14" name="TextBox 13"/>
          <p:cNvSpPr txBox="1"/>
          <p:nvPr/>
        </p:nvSpPr>
        <p:spPr>
          <a:xfrm>
            <a:off x="342900" y="3000375"/>
            <a:ext cx="4143375" cy="200025"/>
          </a:xfrm>
          <a:prstGeom prst="rect">
            <a:avLst/>
          </a:prstGeom>
          <a:noFill/>
          <a:ln>
            <a:noFill/>
          </a:ln>
          <a:effectLst/>
        </p:spPr>
        <p:txBody>
          <a:bodyPr wrap="none" anchor="t" lIns="0" rIns="0" tIns="4765" bIns="0">
            <a:noAutofit/>
          </a:bodyPr>
          <a:lstStyle/>
          <a:p>
            <a:pPr algn="l">
              <a:lnSpc>
                <a:spcPct val="104170"/>
              </a:lnSpc>
              <a:spcBef>
                <a:spcPts val="0"/>
              </a:spcBef>
              <a:spcAft>
                <a:spcPts val="0"/>
              </a:spcAft>
            </a:pPr>
            <a:r>
              <a:rPr b="1" i="0" u="none" sz="1200">
                <a:solidFill>
                  <a:schemeClr val="dk1"/>
                </a:solidFill>
                <a:latin typeface="Google Sans"/>
              </a:rPr>
              <a:t>Patrol Blue Card (#34124) Matrix &amp; 4-Mode StudioKit</a:t>
            </a:r>
            <a:endParaRPr sz="1200">
              <a:latin typeface="Google Sans"/>
            </a:endParaRPr>
          </a:p>
        </p:txBody>
      </p:sp>
      <p:sp>
        <p:nvSpPr>
          <p:cNvPr id="15" name="TextBox 14"/>
          <p:cNvSpPr txBox="1"/>
          <p:nvPr/>
        </p:nvSpPr>
        <p:spPr>
          <a:xfrm>
            <a:off x="342900" y="3243263"/>
            <a:ext cx="2428875" cy="1328738"/>
          </a:xfrm>
          <a:prstGeom prst="rect">
            <a:avLst/>
          </a:prstGeom>
          <a:noFill/>
          <a:ln>
            <a:noFill/>
          </a:ln>
          <a:effectLst/>
        </p:spPr>
        <p:txBody>
          <a:bodyPr wrap="square" anchor="t" lIns="0" rIns="0" tIns="2595" bIns="0">
            <a:noAutofit/>
          </a:bodyPr>
          <a:lstStyle/>
          <a:p>
            <a:pPr marL="114300" indent="-114300" algn="l">
              <a:lnSpc>
                <a:spcPct val="101670"/>
              </a:lnSpc>
              <a:spcBef>
                <a:spcPts val="0"/>
              </a:spcBef>
              <a:spcAft>
                <a:spcPts val="0"/>
              </a:spcAft>
              <a:buClr>
                <a:srgbClr val="202124"/>
              </a:buClr>
              <a:buFont typeface="Arial"/>
              <a:buChar char="•"/>
            </a:pPr>
            <a:r>
              <a:rPr b="1" i="0" u="none" sz="1000">
                <a:solidFill>
                  <a:schemeClr val="dk1"/>
                </a:solidFill>
                <a:latin typeface="Google Sans"/>
              </a:rPr>
              <a:t>5-Tier Triage &amp; S1-S4 | M:</a:t>
            </a:r>
            <a:r>
              <a:rPr b="0" i="0" u="none" sz="1000">
                <a:solidFill>
                  <a:schemeClr val="dk1"/>
                </a:solidFill>
                <a:latin typeface="Google Sans"/>
              </a:rPr>
              <a:t> Multi-session attendance &amp; Smart Partials.</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Per-Troop #34124 &amp; CSV:</a:t>
            </a:r>
            <a:r>
              <a:rPr b="0" i="0" u="none" sz="1000">
                <a:solidFill>
                  <a:schemeClr val="dk1"/>
                </a:solidFill>
                <a:latin typeface="Google Sans"/>
              </a:rPr>
              <a:t> Isolated troop Blue Cards &amp; Scoutbook CSV.</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548pt Dual-Mode Workbook:</a:t>
            </a:r>
            <a:r>
              <a:rPr b="0" i="0" u="none" sz="1000">
                <a:solidFill>
                  <a:schemeClr val="dk1"/>
                </a:solidFill>
                <a:latin typeface="Google Sans"/>
              </a:rPr>
              <a:t> Full-width single-column organizers &amp; 3 ISO QRs.</a:t>
            </a:r>
            <a:endParaRPr sz="1000">
              <a:latin typeface="Google Sans"/>
            </a:endParaRPr>
          </a:p>
        </p:txBody>
      </p:sp>
      <p:pic>
        <p:nvPicPr>
          <p:cNvPr id="16" name="Picture 15" descr="6624f5293d9eb7950cd97117b450e6ba550bfdd5cf6857903bb91372979efa82.png"/>
          <p:cNvPicPr>
            <a:picLocks noChangeAspect="1"/>
          </p:cNvPicPr>
          <p:nvPr/>
        </p:nvPicPr>
        <p:blipFill>
          <a:blip r:embed="rId4"/>
          <a:stretch>
            <a:fillRect/>
          </a:stretch>
        </p:blipFill>
        <p:spPr>
          <a:xfrm>
            <a:off x="2922032" y="3243263"/>
            <a:ext cx="1471137" cy="1000125"/>
          </a:xfrm>
          <a:prstGeom prst="rect">
            <a:avLst/>
          </a:prstGeom>
        </p:spPr>
      </p:pic>
      <p:sp>
        <p:nvSpPr>
          <p:cNvPr id="17" name="TextBox 16"/>
          <p:cNvSpPr txBox="1"/>
          <p:nvPr/>
        </p:nvSpPr>
        <p:spPr>
          <a:xfrm>
            <a:off x="4686300" y="2843213"/>
            <a:ext cx="4429125" cy="157163"/>
          </a:xfrm>
          <a:prstGeom prst="rect">
            <a:avLst/>
          </a:prstGeom>
          <a:noFill/>
          <a:ln>
            <a:noFill/>
          </a:ln>
          <a:effectLst/>
        </p:spPr>
        <p:txBody>
          <a:bodyPr wrap="none" anchor="t" lIns="0" rIns="0" tIns="0" bIns="0">
            <a:noAutofit/>
          </a:bodyPr>
          <a:lstStyle/>
          <a:p>
            <a:pPr algn="l">
              <a:lnSpc>
                <a:spcPct val="91670"/>
              </a:lnSpc>
              <a:spcBef>
                <a:spcPts val="0"/>
              </a:spcBef>
              <a:spcAft>
                <a:spcPts val="0"/>
              </a:spcAft>
            </a:pPr>
            <a:r>
              <a:rPr b="1" i="0" u="none" sz="900" spc="22">
                <a:solidFill>
                  <a:schemeClr val="accent1"/>
                </a:solidFill>
                <a:latin typeface="Google Sans"/>
              </a:rPr>
              <a:t>DRIVE V3 (VND.GOOGLE-APPS.PRESENTATION) &amp; DOCS (D)</a:t>
            </a:r>
            <a:endParaRPr sz="900">
              <a:latin typeface="Google Sans"/>
            </a:endParaRPr>
          </a:p>
        </p:txBody>
      </p:sp>
      <p:sp>
        <p:nvSpPr>
          <p:cNvPr id="18" name="TextBox 17"/>
          <p:cNvSpPr txBox="1"/>
          <p:nvPr/>
        </p:nvSpPr>
        <p:spPr>
          <a:xfrm>
            <a:off x="4686300" y="3000375"/>
            <a:ext cx="4429125" cy="200025"/>
          </a:xfrm>
          <a:prstGeom prst="rect">
            <a:avLst/>
          </a:prstGeom>
          <a:noFill/>
          <a:ln>
            <a:noFill/>
          </a:ln>
          <a:effectLst/>
        </p:spPr>
        <p:txBody>
          <a:bodyPr wrap="none" anchor="t" lIns="0" rIns="0" tIns="4765" bIns="0">
            <a:noAutofit/>
          </a:bodyPr>
          <a:lstStyle/>
          <a:p>
            <a:pPr algn="l">
              <a:lnSpc>
                <a:spcPct val="104170"/>
              </a:lnSpc>
              <a:spcBef>
                <a:spcPts val="0"/>
              </a:spcBef>
              <a:spcAft>
                <a:spcPts val="0"/>
              </a:spcAft>
            </a:pPr>
            <a:r>
              <a:rPr b="1" i="0" u="none" sz="1200">
                <a:solidFill>
                  <a:schemeClr val="dk1"/>
                </a:solidFill>
                <a:latin typeface="Google Sans"/>
              </a:rPr>
              <a:t>1-Click Google Slides Export &amp; 12-Doc Studio</a:t>
            </a:r>
            <a:endParaRPr sz="1200">
              <a:latin typeface="Google Sans"/>
            </a:endParaRPr>
          </a:p>
        </p:txBody>
      </p:sp>
      <p:sp>
        <p:nvSpPr>
          <p:cNvPr id="19" name="TextBox 18"/>
          <p:cNvSpPr txBox="1"/>
          <p:nvPr/>
        </p:nvSpPr>
        <p:spPr>
          <a:xfrm>
            <a:off x="4686300" y="3243263"/>
            <a:ext cx="2457450" cy="1328738"/>
          </a:xfrm>
          <a:prstGeom prst="rect">
            <a:avLst/>
          </a:prstGeom>
          <a:noFill/>
          <a:ln>
            <a:noFill/>
          </a:ln>
          <a:effectLst/>
        </p:spPr>
        <p:txBody>
          <a:bodyPr wrap="square" anchor="t" lIns="0" rIns="0" tIns="2595" bIns="0">
            <a:noAutofit/>
          </a:bodyPr>
          <a:lstStyle/>
          <a:p>
            <a:pPr marL="114300" indent="-114300" algn="l">
              <a:lnSpc>
                <a:spcPct val="101670"/>
              </a:lnSpc>
              <a:spcBef>
                <a:spcPts val="0"/>
              </a:spcBef>
              <a:spcAft>
                <a:spcPts val="0"/>
              </a:spcAft>
              <a:buClr>
                <a:srgbClr val="202124"/>
              </a:buClr>
              <a:buFont typeface="Arial"/>
              <a:buChar char="•"/>
            </a:pPr>
            <a:r>
              <a:rPr b="1" i="0" u="none" sz="1000">
                <a:solidFill>
                  <a:schemeClr val="dk1"/>
                </a:solidFill>
                <a:latin typeface="Google Sans"/>
              </a:rPr>
              <a:t>Drive v3 &amp; .ZIP Packet:</a:t>
            </a:r>
            <a:r>
              <a:rPr b="0" i="0" u="none" sz="1000">
                <a:solidFill>
                  <a:schemeClr val="dk1"/>
                </a:solidFill>
                <a:latin typeface="Google Sans"/>
              </a:rPr>
              <a:t> 1-click Google Slides &amp; .ZIP bundle.</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3-Tier Auth Cascade:</a:t>
            </a:r>
            <a:r>
              <a:rPr b="0" i="0" u="none" sz="1000">
                <a:solidFill>
                  <a:schemeClr val="dk1"/>
                </a:solidFill>
                <a:latin typeface="Google Sans"/>
              </a:rPr>
              <a:t> Automatic OAuth2, ADC &amp; gcloud token fallback.</a:t>
            </a:r>
            <a:endParaRPr sz="1000">
              <a:latin typeface="Google Sans"/>
            </a:endParaRPr>
          </a:p>
          <a:p>
            <a:pPr marL="114300" indent="-114300" algn="l">
              <a:lnSpc>
                <a:spcPct val="101670"/>
              </a:lnSpc>
              <a:spcBef>
                <a:spcPts val="281"/>
              </a:spcBef>
              <a:spcAft>
                <a:spcPts val="0"/>
              </a:spcAft>
              <a:buClr>
                <a:srgbClr val="202124"/>
              </a:buClr>
              <a:buFont typeface="Arial"/>
              <a:buChar char="•"/>
            </a:pPr>
            <a:r>
              <a:rPr b="1" i="0" u="none" sz="1000">
                <a:solidFill>
                  <a:schemeClr val="dk1"/>
                </a:solidFill>
                <a:latin typeface="Google Sans"/>
              </a:rPr>
              <a:t>Sunlight &amp; 12-Doc Studio (D):</a:t>
            </a:r>
            <a:r>
              <a:rPr b="0" i="0" u="none" sz="1000">
                <a:solidFill>
                  <a:schemeClr val="dk1"/>
                </a:solidFill>
                <a:latin typeface="Google Sans"/>
              </a:rPr>
              <a:t> 2px #000 camp borders, Dark mode &amp; docs.</a:t>
            </a:r>
            <a:endParaRPr sz="1000">
              <a:latin typeface="Google Sans"/>
            </a:endParaRPr>
          </a:p>
        </p:txBody>
      </p:sp>
      <p:pic>
        <p:nvPicPr>
          <p:cNvPr id="20" name="Picture 19" descr="image.png"/>
          <p:cNvPicPr>
            <a:picLocks noChangeAspect="1"/>
          </p:cNvPicPr>
          <p:nvPr/>
        </p:nvPicPr>
        <p:blipFill>
          <a:blip r:embed="rId5"/>
          <a:stretch>
            <a:fillRect/>
          </a:stretch>
        </p:blipFill>
        <p:spPr>
          <a:xfrm>
            <a:off x="7265253" y="3243263"/>
            <a:ext cx="1535788" cy="542925"/>
          </a:xfrm>
          <a:prstGeom prst="rect">
            <a:avLst/>
          </a:prstGeom>
        </p:spPr>
      </p:pic>
      <p:sp>
        <p:nvSpPr>
          <p:cNvPr id="21" name="TextBox 20"/>
          <p:cNvSpPr txBox="1"/>
          <p:nvPr/>
        </p:nvSpPr>
        <p:spPr>
          <a:xfrm>
            <a:off x="342900" y="4700588"/>
            <a:ext cx="8479631" cy="157163"/>
          </a:xfrm>
          <a:prstGeom prst="rect">
            <a:avLst/>
          </a:prstGeom>
          <a:noFill/>
          <a:ln>
            <a:noFill/>
          </a:ln>
          <a:effectLst/>
        </p:spPr>
        <p:txBody>
          <a:bodyPr wrap="square" anchor="t" lIns="0" rIns="0" tIns="65300" bIns="0">
            <a:noAutofit/>
          </a:bodyPr>
          <a:lstStyle/>
          <a:p>
            <a:pPr algn="l">
              <a:lnSpc>
                <a:spcPct val="100000"/>
              </a:lnSpc>
              <a:spcBef>
                <a:spcPts val="0"/>
              </a:spcBef>
              <a:spcAft>
                <a:spcPts val="0"/>
              </a:spcAft>
            </a:pPr>
            <a:r>
              <a:rPr b="0" i="0" u="none" sz="600">
                <a:solidFill>
                  <a:schemeClr val="accent5"/>
                </a:solidFill>
                <a:latin typeface="Google Sans"/>
              </a:rPr>
              <a:t>Source: src/tools/counselor_studiokit.py, src/tools/qr_generator.py, src/server.py (/api/slide/export-gslides), docs/USER_GUIDE.md (Sections 6-11).</a:t>
            </a:r>
            <a:endParaRPr sz="600">
              <a:latin typeface="Google Sans"/>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71450"/>
            <a:ext cx="8458200" cy="628650"/>
          </a:xfrm>
          <a:prstGeom prst="rect">
            <a:avLst/>
          </a:prstGeom>
          <a:noFill/>
          <a:ln>
            <a:noFill/>
          </a:ln>
          <a:effectLst/>
        </p:spPr>
        <p:txBody>
          <a:bodyPr wrap="square" anchor="t" lIns="0" rIns="0" tIns="6353" bIns="0">
            <a:noAutofit/>
          </a:bodyPr>
          <a:lstStyle/>
          <a:p>
            <a:pPr algn="l">
              <a:lnSpc>
                <a:spcPct val="104170"/>
              </a:lnSpc>
              <a:spcBef>
                <a:spcPts val="0"/>
              </a:spcBef>
              <a:spcAft>
                <a:spcPts val="0"/>
              </a:spcAft>
            </a:pPr>
            <a:r>
              <a:rPr b="0" i="0" u="none" sz="1600">
                <a:solidFill>
                  <a:schemeClr val="dk1"/>
                </a:solidFill>
                <a:latin typeface="Google Sans Medium"/>
              </a:rPr>
              <a:t>Pre-Bundling 5,625 Visual Assets &amp; Tiered Model Routing Hold Cold-Cache Cost to $0.184 ($192.50/Mo Council TCO)</a:t>
            </a:r>
            <a:endParaRPr sz="1600">
              <a:latin typeface="Google Sans Medium"/>
            </a:endParaRPr>
          </a:p>
        </p:txBody>
      </p:sp>
      <p:sp>
        <p:nvSpPr>
          <p:cNvPr id="3" name="TextBox 2"/>
          <p:cNvSpPr txBox="1"/>
          <p:nvPr/>
        </p:nvSpPr>
        <p:spPr>
          <a:xfrm>
            <a:off x="342900" y="800100"/>
            <a:ext cx="4986338" cy="171450"/>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a:solidFill>
                  <a:schemeClr val="accent1"/>
                </a:solidFill>
                <a:latin typeface="Google Sans"/>
              </a:rPr>
              <a:t>Per-Deck Unit Economics Across 4 Modes (finops_model_policy.json &amp; cost_model.py)</a:t>
            </a:r>
            <a:endParaRPr sz="900">
              <a:latin typeface="Google Sans"/>
            </a:endParaRPr>
          </a:p>
        </p:txBody>
      </p:sp>
      <p:graphicFrame>
        <p:nvGraphicFramePr>
          <p:cNvPr id="4" name="Table 3"/>
          <p:cNvGraphicFramePr>
            <a:graphicFrameLocks noGrp="1"/>
          </p:cNvGraphicFramePr>
          <p:nvPr/>
        </p:nvGraphicFramePr>
        <p:xfrm>
          <a:off x="342900" y="985838"/>
          <a:ext cx="4857751" cy="1645074"/>
        </p:xfrm>
        <a:graphic>
          <a:graphicData uri="http://schemas.openxmlformats.org/drawingml/2006/table">
            <a:tbl>
              <a:tblPr firstRow="1" bandRow="0">
                <a:tableStyleId>{2D5ABB26-0587-4C30-8999-92F81FD0307C}</a:tableStyleId>
              </a:tblPr>
              <a:tblGrid>
                <a:gridCol w="1528763"/>
                <a:gridCol w="742950"/>
                <a:gridCol w="1057275"/>
                <a:gridCol w="928688"/>
                <a:gridCol w="600075"/>
              </a:tblGrid>
              <a:tr h="328613">
                <a:tc>
                  <a:txBody>
                    <a:bodyPr wrap="square"/>
                    <a:lstStyle/>
                    <a:p>
                      <a:pPr algn="l">
                        <a:lnSpc>
                          <a:spcPct val="95830"/>
                        </a:lnSpc>
                        <a:spcBef>
                          <a:spcPts val="0"/>
                        </a:spcBef>
                        <a:spcAft>
                          <a:spcPts val="0"/>
                        </a:spcAft>
                      </a:pPr>
                      <a:r>
                        <a:rPr b="1" i="0" u="none" sz="900">
                          <a:solidFill>
                            <a:schemeClr val="dk1"/>
                          </a:solidFill>
                          <a:latin typeface="Google Sans"/>
                        </a:rPr>
                        <a:t>Operating Mode / Tier</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LLM Token Spend</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Runtime Image Spend</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Total Deck Cost</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Build Latency</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r>
              <a:tr h="330622">
                <a:tc>
                  <a:txBody>
                    <a:bodyPr wrap="square"/>
                    <a:lstStyle/>
                    <a:p>
                      <a:pPr algn="l">
                        <a:lnSpc>
                          <a:spcPct val="95830"/>
                        </a:lnSpc>
                        <a:spcBef>
                          <a:spcPts val="0"/>
                        </a:spcBef>
                        <a:spcAft>
                          <a:spcPts val="0"/>
                        </a:spcAft>
                      </a:pPr>
                      <a:r>
                        <a:rPr b="0" i="0" u="none" sz="900">
                          <a:solidFill>
                            <a:schemeClr val="dk1"/>
                          </a:solidFill>
                          <a:latin typeface="Google Sans"/>
                        </a:rPr>
                        <a:t>1. Offline / Cached Demo Mode</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none"/>
                    <a:lstStyle/>
                    <a:p>
                      <a:pPr algn="l">
                        <a:lnSpc>
                          <a:spcPct val="95830"/>
                        </a:lnSpc>
                        <a:spcBef>
                          <a:spcPts val="0"/>
                        </a:spcBef>
                        <a:spcAft>
                          <a:spcPts val="0"/>
                        </a:spcAft>
                      </a:pPr>
                      <a:r>
                        <a:rPr b="0" i="0" u="none" sz="900">
                          <a:solidFill>
                            <a:schemeClr val="dk1"/>
                          </a:solidFill>
                          <a:latin typeface="Google Sans"/>
                        </a:rPr>
                        <a:t>$0.000</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$0.000 (Pre-Bundled)</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none"/>
                    <a:lstStyle/>
                    <a:p>
                      <a:pPr algn="l">
                        <a:lnSpc>
                          <a:spcPct val="95830"/>
                        </a:lnSpc>
                        <a:spcBef>
                          <a:spcPts val="0"/>
                        </a:spcBef>
                        <a:spcAft>
                          <a:spcPts val="0"/>
                        </a:spcAft>
                      </a:pPr>
                      <a:r>
                        <a:rPr b="0" i="0" u="none" sz="900">
                          <a:solidFill>
                            <a:schemeClr val="dk1"/>
                          </a:solidFill>
                          <a:latin typeface="Google Sans"/>
                        </a:rPr>
                        <a:t>$0.000</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&lt; 50 ms</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r>
              <a:tr h="328613">
                <a:tc>
                  <a:txBody>
                    <a:bodyPr wrap="square"/>
                    <a:lstStyle/>
                    <a:p>
                      <a:pPr algn="l">
                        <a:lnSpc>
                          <a:spcPct val="95830"/>
                        </a:lnSpc>
                        <a:spcBef>
                          <a:spcPts val="0"/>
                        </a:spcBef>
                        <a:spcAft>
                          <a:spcPts val="0"/>
                        </a:spcAft>
                      </a:pPr>
                      <a:r>
                        <a:rPr b="0" i="0" u="none" sz="900">
                          <a:solidFill>
                            <a:schemeClr val="dk1"/>
                          </a:solidFill>
                          <a:latin typeface="Google Sans"/>
                        </a:rPr>
                        <a:t>2. Warm Cache Rerun (76% Hit)</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$0.006 to $0.020</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$0.000 (Pre-Bundled)</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$0.006 to $0.020</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1.5 to 2.5 s</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r>
              <a:tr h="328613">
                <a:tc>
                  <a:txBody>
                    <a:bodyPr wrap="square"/>
                    <a:lstStyle/>
                    <a:p>
                      <a:pPr algn="l">
                        <a:lnSpc>
                          <a:spcPct val="95830"/>
                        </a:lnSpc>
                        <a:spcBef>
                          <a:spcPts val="0"/>
                        </a:spcBef>
                        <a:spcAft>
                          <a:spcPts val="0"/>
                        </a:spcAft>
                      </a:pPr>
                      <a:r>
                        <a:rPr b="1" i="0" u="none" sz="900">
                          <a:solidFill>
                            <a:srgbClr val="137333"/>
                          </a:solidFill>
                          <a:latin typeface="Google Sans"/>
                        </a:rPr>
                        <a:t>3. Cold Standard / Warm Cream (Default)</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CEEAD6"/>
                      </a:solidFill>
                      <a:prstDash val="solid"/>
                    </a:lnB>
                    <a:solidFill>
                      <a:srgbClr val="E6F4EA"/>
                    </a:solidFill>
                  </a:tcPr>
                </a:tc>
                <a:tc>
                  <a:txBody>
                    <a:bodyPr wrap="none"/>
                    <a:lstStyle/>
                    <a:p>
                      <a:pPr algn="l">
                        <a:lnSpc>
                          <a:spcPct val="95830"/>
                        </a:lnSpc>
                        <a:spcBef>
                          <a:spcPts val="0"/>
                        </a:spcBef>
                        <a:spcAft>
                          <a:spcPts val="0"/>
                        </a:spcAft>
                      </a:pPr>
                      <a:r>
                        <a:rPr b="1" i="0" u="none" sz="900">
                          <a:solidFill>
                            <a:srgbClr val="137333"/>
                          </a:solidFill>
                          <a:latin typeface="Google Sans"/>
                        </a:rPr>
                        <a:t>$0.184</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CEEAD6"/>
                      </a:solidFill>
                      <a:prstDash val="solid"/>
                    </a:lnB>
                    <a:solidFill>
                      <a:srgbClr val="E6F4EA"/>
                    </a:solidFill>
                  </a:tcPr>
                </a:tc>
                <a:tc>
                  <a:txBody>
                    <a:bodyPr wrap="square"/>
                    <a:lstStyle/>
                    <a:p>
                      <a:pPr algn="l">
                        <a:lnSpc>
                          <a:spcPct val="95830"/>
                        </a:lnSpc>
                        <a:spcBef>
                          <a:spcPts val="0"/>
                        </a:spcBef>
                        <a:spcAft>
                          <a:spcPts val="0"/>
                        </a:spcAft>
                      </a:pPr>
                      <a:r>
                        <a:rPr b="1" i="0" u="none" sz="900">
                          <a:solidFill>
                            <a:srgbClr val="137333"/>
                          </a:solidFill>
                          <a:latin typeface="Google Sans"/>
                        </a:rPr>
                        <a:t>$0.000 (5,625 Built-In)</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CEEAD6"/>
                      </a:solidFill>
                      <a:prstDash val="solid"/>
                    </a:lnB>
                    <a:solidFill>
                      <a:srgbClr val="E6F4EA"/>
                    </a:solidFill>
                  </a:tcPr>
                </a:tc>
                <a:tc>
                  <a:txBody>
                    <a:bodyPr wrap="square"/>
                    <a:lstStyle/>
                    <a:p>
                      <a:pPr algn="l">
                        <a:lnSpc>
                          <a:spcPct val="95830"/>
                        </a:lnSpc>
                        <a:spcBef>
                          <a:spcPts val="0"/>
                        </a:spcBef>
                        <a:spcAft>
                          <a:spcPts val="0"/>
                        </a:spcAft>
                      </a:pPr>
                      <a:r>
                        <a:rPr b="1" i="0" u="none" sz="900">
                          <a:solidFill>
                            <a:srgbClr val="137333"/>
                          </a:solidFill>
                          <a:latin typeface="Google Sans"/>
                        </a:rPr>
                        <a:t>$0.184 ($0.38 ceiling)</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CEEAD6"/>
                      </a:solidFill>
                      <a:prstDash val="solid"/>
                    </a:lnB>
                    <a:solidFill>
                      <a:srgbClr val="E6F4EA"/>
                    </a:solidFill>
                  </a:tcPr>
                </a:tc>
                <a:tc>
                  <a:txBody>
                    <a:bodyPr wrap="square"/>
                    <a:lstStyle/>
                    <a:p>
                      <a:pPr algn="l">
                        <a:lnSpc>
                          <a:spcPct val="95830"/>
                        </a:lnSpc>
                        <a:spcBef>
                          <a:spcPts val="0"/>
                        </a:spcBef>
                        <a:spcAft>
                          <a:spcPts val="0"/>
                        </a:spcAft>
                      </a:pPr>
                      <a:r>
                        <a:rPr b="1" i="0" u="none" sz="900">
                          <a:solidFill>
                            <a:srgbClr val="137333"/>
                          </a:solidFill>
                          <a:latin typeface="Google Sans"/>
                        </a:rPr>
                        <a:t>14 to 22 s</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CEEAD6"/>
                      </a:solidFill>
                      <a:prstDash val="solid"/>
                    </a:lnB>
                    <a:solidFill>
                      <a:srgbClr val="E6F4EA"/>
                    </a:solidFill>
                  </a:tcPr>
                </a:tc>
              </a:tr>
              <a:tr h="328613">
                <a:tc>
                  <a:txBody>
                    <a:bodyPr wrap="square"/>
                    <a:lstStyle/>
                    <a:p>
                      <a:pPr algn="l">
                        <a:lnSpc>
                          <a:spcPct val="95830"/>
                        </a:lnSpc>
                        <a:spcBef>
                          <a:spcPts val="0"/>
                        </a:spcBef>
                        <a:spcAft>
                          <a:spcPts val="0"/>
                        </a:spcAft>
                      </a:pPr>
                      <a:r>
                        <a:rPr b="0" i="0" u="none" sz="900">
                          <a:solidFill>
                            <a:schemeClr val="dk1"/>
                          </a:solidFill>
                          <a:latin typeface="Google Sans"/>
                        </a:rPr>
                        <a:t>4. Cold Dark Slate / Opt-In AI Studio</a:t>
                      </a:r>
                      <a:endParaRPr sz="900">
                        <a:latin typeface="Google Sans"/>
                      </a:endParaRPr>
                    </a:p>
                  </a:txBody>
                  <a:tcPr anchor="ctr" marL="42863" marR="42863" marT="32147" marB="32147">
                    <a:lnT w="7144" cap="flat" cmpd="sng" algn="ctr">
                      <a:solidFill>
                        <a:srgbClr val="CEEAD6"/>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$0.184 to $0.304</a:t>
                      </a:r>
                      <a:endParaRPr sz="900">
                        <a:latin typeface="Google Sans"/>
                      </a:endParaRPr>
                    </a:p>
                  </a:txBody>
                  <a:tcPr anchor="ctr" marL="42863" marR="42863" marT="32147" marB="32147">
                    <a:lnT w="7144" cap="flat" cmpd="sng" algn="ctr">
                      <a:solidFill>
                        <a:srgbClr val="CEEAD6"/>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$0.400 to $0.520 (Opt-In)</a:t>
                      </a:r>
                      <a:endParaRPr sz="900">
                        <a:latin typeface="Google Sans"/>
                      </a:endParaRPr>
                    </a:p>
                  </a:txBody>
                  <a:tcPr anchor="ctr" marL="42863" marR="42863" marT="32147" marB="32147">
                    <a:lnT w="7144" cap="flat" cmpd="sng" algn="ctr">
                      <a:solidFill>
                        <a:srgbClr val="CEEAD6"/>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$0.704 (&lt;= $1.00 Cap)</a:t>
                      </a:r>
                      <a:endParaRPr sz="900">
                        <a:latin typeface="Google Sans"/>
                      </a:endParaRPr>
                    </a:p>
                  </a:txBody>
                  <a:tcPr anchor="ctr" marL="42863" marR="42863" marT="32147" marB="32147">
                    <a:lnT w="7144" cap="flat" cmpd="sng" algn="ctr">
                      <a:solidFill>
                        <a:srgbClr val="CEEAD6"/>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22 to 32 s</a:t>
                      </a:r>
                      <a:endParaRPr sz="900">
                        <a:latin typeface="Google Sans"/>
                      </a:endParaRPr>
                    </a:p>
                  </a:txBody>
                  <a:tcPr anchor="ctr" marL="42863" marR="42863" marT="32147" marB="32147">
                    <a:lnT w="7144" cap="flat" cmpd="sng" algn="ctr">
                      <a:solidFill>
                        <a:srgbClr val="CEEAD6"/>
                      </a:solidFill>
                      <a:prstDash val="solid"/>
                    </a:lnT>
                    <a:lnB w="7144" cap="flat" cmpd="sng" algn="ctr">
                      <a:solidFill>
                        <a:srgbClr val="E8EAED"/>
                      </a:solidFill>
                      <a:prstDash val="solid"/>
                    </a:lnB>
                    <a:noFill/>
                  </a:tcPr>
                </a:tc>
              </a:tr>
            </a:tbl>
          </a:graphicData>
        </a:graphic>
      </p:graphicFrame>
      <p:sp>
        <p:nvSpPr>
          <p:cNvPr id="5" name="TextBox 4"/>
          <p:cNvSpPr txBox="1"/>
          <p:nvPr/>
        </p:nvSpPr>
        <p:spPr>
          <a:xfrm>
            <a:off x="342900" y="2800350"/>
            <a:ext cx="5000625" cy="171450"/>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a:solidFill>
                  <a:schemeClr val="accent1"/>
                </a:solidFill>
                <a:latin typeface="Google Sans"/>
              </a:rPr>
              <a:t>Executable 3-Tier TCO Model (scripts/cost_model.py @ 70% Cache Hit Rate)</a:t>
            </a:r>
            <a:endParaRPr sz="900">
              <a:latin typeface="Google Sans"/>
            </a:endParaRPr>
          </a:p>
        </p:txBody>
      </p:sp>
      <p:graphicFrame>
        <p:nvGraphicFramePr>
          <p:cNvPr id="6" name="Table 5"/>
          <p:cNvGraphicFramePr>
            <a:graphicFrameLocks noGrp="1"/>
          </p:cNvGraphicFramePr>
          <p:nvPr/>
        </p:nvGraphicFramePr>
        <p:xfrm>
          <a:off x="342900" y="2986088"/>
          <a:ext cx="4857751" cy="1459336"/>
        </p:xfrm>
        <a:graphic>
          <a:graphicData uri="http://schemas.openxmlformats.org/drawingml/2006/table">
            <a:tbl>
              <a:tblPr firstRow="1" bandRow="0">
                <a:tableStyleId>{2D5ABB26-0587-4C30-8999-92F81FD0307C}</a:tableStyleId>
              </a:tblPr>
              <a:tblGrid>
                <a:gridCol w="1657350"/>
                <a:gridCol w="1100138"/>
                <a:gridCol w="985838"/>
                <a:gridCol w="1114425"/>
              </a:tblGrid>
              <a:tr h="328613">
                <a:tc>
                  <a:txBody>
                    <a:bodyPr wrap="square"/>
                    <a:lstStyle/>
                    <a:p>
                      <a:pPr algn="l">
                        <a:lnSpc>
                          <a:spcPct val="95830"/>
                        </a:lnSpc>
                        <a:spcBef>
                          <a:spcPts val="0"/>
                        </a:spcBef>
                        <a:spcAft>
                          <a:spcPts val="0"/>
                        </a:spcAft>
                      </a:pPr>
                      <a:r>
                        <a:rPr b="1" i="0" u="none" sz="900">
                          <a:solidFill>
                            <a:schemeClr val="dk1"/>
                          </a:solidFill>
                          <a:latin typeface="Google Sans"/>
                        </a:rPr>
                        <a:t>Deployment Tier (scripts/cost_model.py)</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Monthly Volume</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Variable + Fixed GCP</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c>
                  <a:txBody>
                    <a:bodyPr wrap="square"/>
                    <a:lstStyle/>
                    <a:p>
                      <a:pPr algn="l">
                        <a:lnSpc>
                          <a:spcPct val="95830"/>
                        </a:lnSpc>
                        <a:spcBef>
                          <a:spcPts val="0"/>
                        </a:spcBef>
                        <a:spcAft>
                          <a:spcPts val="0"/>
                        </a:spcAft>
                      </a:pPr>
                      <a:r>
                        <a:rPr b="1" i="0" u="none" sz="900">
                          <a:solidFill>
                            <a:schemeClr val="dk1"/>
                          </a:solidFill>
                          <a:latin typeface="Google Sans"/>
                        </a:rPr>
                        <a:t>Total Monthly TCO</a:t>
                      </a:r>
                      <a:endParaRPr sz="900">
                        <a:latin typeface="Google Sans"/>
                      </a:endParaRPr>
                    </a:p>
                  </a:txBody>
                  <a:tcPr anchor="ctr" marL="42863" marR="42863" marT="28575" marB="35719">
                    <a:lnB w="14288" cap="flat" cmpd="sng" algn="ctr">
                      <a:solidFill>
                        <a:srgbClr val="DADCE0"/>
                      </a:solidFill>
                      <a:prstDash val="solid"/>
                    </a:lnB>
                    <a:solidFill>
                      <a:srgbClr val="F1F3F4"/>
                    </a:solidFill>
                  </a:tcPr>
                </a:tc>
              </a:tr>
              <a:tr h="330622">
                <a:tc>
                  <a:txBody>
                    <a:bodyPr wrap="square"/>
                    <a:lstStyle/>
                    <a:p>
                      <a:pPr algn="l">
                        <a:lnSpc>
                          <a:spcPct val="95830"/>
                        </a:lnSpc>
                        <a:spcBef>
                          <a:spcPts val="0"/>
                        </a:spcBef>
                        <a:spcAft>
                          <a:spcPts val="0"/>
                        </a:spcAft>
                      </a:pPr>
                      <a:r>
                        <a:rPr b="0" i="0" u="none" sz="900">
                          <a:solidFill>
                            <a:schemeClr val="dk1"/>
                          </a:solidFill>
                          <a:latin typeface="Google Sans"/>
                        </a:rPr>
                        <a:t>Tier 1: Single Troop (Scale-to-Zero)</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50 Decks / mo</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$2.91 Var + $5.00 Fixed</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$7.91 / mo ($0.158/deck)</a:t>
                      </a:r>
                      <a:endParaRPr sz="900">
                        <a:latin typeface="Google Sans"/>
                      </a:endParaRPr>
                    </a:p>
                  </a:txBody>
                  <a:tcPr anchor="ctr" marL="42863" marR="42863" marT="35719" marB="32147">
                    <a:lnT w="14288" cap="flat" cmpd="sng" algn="ctr">
                      <a:solidFill>
                        <a:srgbClr val="DADCE0"/>
                      </a:solidFill>
                      <a:prstDash val="solid"/>
                    </a:lnT>
                    <a:lnB w="7144" cap="flat" cmpd="sng" algn="ctr">
                      <a:solidFill>
                        <a:srgbClr val="E8EAED"/>
                      </a:solidFill>
                      <a:prstDash val="solid"/>
                    </a:lnB>
                    <a:noFill/>
                  </a:tcPr>
                </a:tc>
              </a:tr>
              <a:tr h="328613">
                <a:tc>
                  <a:txBody>
                    <a:bodyPr wrap="square"/>
                    <a:lstStyle/>
                    <a:p>
                      <a:pPr algn="l">
                        <a:lnSpc>
                          <a:spcPct val="95830"/>
                        </a:lnSpc>
                        <a:spcBef>
                          <a:spcPts val="0"/>
                        </a:spcBef>
                        <a:spcAft>
                          <a:spcPts val="0"/>
                        </a:spcAft>
                      </a:pPr>
                      <a:r>
                        <a:rPr b="0" i="0" u="none" sz="900">
                          <a:solidFill>
                            <a:schemeClr val="dk1"/>
                          </a:solidFill>
                          <a:latin typeface="Google Sans"/>
                        </a:rPr>
                        <a:t>Tier 2: 500-Counselor Council (Target)</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1,500 Decks / mo</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$87.48 Var + $105.02 Fixed</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c>
                  <a:txBody>
                    <a:bodyPr wrap="square"/>
                    <a:lstStyle/>
                    <a:p>
                      <a:pPr algn="l">
                        <a:lnSpc>
                          <a:spcPct val="95830"/>
                        </a:lnSpc>
                        <a:spcBef>
                          <a:spcPts val="0"/>
                        </a:spcBef>
                        <a:spcAft>
                          <a:spcPts val="0"/>
                        </a:spcAft>
                      </a:pPr>
                      <a:r>
                        <a:rPr b="0" i="0" u="none" sz="900">
                          <a:solidFill>
                            <a:schemeClr val="dk1"/>
                          </a:solidFill>
                          <a:latin typeface="Google Sans"/>
                        </a:rPr>
                        <a:t>$192.50 / mo ($0.128/deck)</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E8EAED"/>
                      </a:solidFill>
                      <a:prstDash val="solid"/>
                    </a:lnB>
                    <a:noFill/>
                  </a:tcPr>
                </a:tc>
              </a:tr>
              <a:tr h="471488">
                <a:tc>
                  <a:txBody>
                    <a:bodyPr wrap="square"/>
                    <a:lstStyle/>
                    <a:p>
                      <a:pPr algn="l">
                        <a:lnSpc>
                          <a:spcPct val="95830"/>
                        </a:lnSpc>
                        <a:spcBef>
                          <a:spcPts val="0"/>
                        </a:spcBef>
                        <a:spcAft>
                          <a:spcPts val="0"/>
                        </a:spcAft>
                      </a:pPr>
                      <a:r>
                        <a:rPr b="1" i="0" u="none" sz="900">
                          <a:solidFill>
                            <a:srgbClr val="174EA6"/>
                          </a:solidFill>
                          <a:latin typeface="Google Sans"/>
                        </a:rPr>
                        <a:t>Tier 3: National Scale (50K+ Counselors)</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AECBFA"/>
                      </a:solidFill>
                      <a:prstDash val="solid"/>
                    </a:lnB>
                    <a:solidFill>
                      <a:srgbClr val="E8F0FE"/>
                    </a:solidFill>
                  </a:tcPr>
                </a:tc>
                <a:tc>
                  <a:txBody>
                    <a:bodyPr wrap="square"/>
                    <a:lstStyle/>
                    <a:p>
                      <a:pPr algn="l">
                        <a:lnSpc>
                          <a:spcPct val="95830"/>
                        </a:lnSpc>
                        <a:spcBef>
                          <a:spcPts val="0"/>
                        </a:spcBef>
                        <a:spcAft>
                          <a:spcPts val="0"/>
                        </a:spcAft>
                      </a:pPr>
                      <a:r>
                        <a:rPr b="1" i="0" u="none" sz="900">
                          <a:solidFill>
                            <a:srgbClr val="174EA6"/>
                          </a:solidFill>
                          <a:latin typeface="Google Sans"/>
                        </a:rPr>
                        <a:t>100,000 Decks / mo</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AECBFA"/>
                      </a:solidFill>
                      <a:prstDash val="solid"/>
                    </a:lnB>
                    <a:solidFill>
                      <a:srgbClr val="E8F0FE"/>
                    </a:solidFill>
                  </a:tcPr>
                </a:tc>
                <a:tc>
                  <a:txBody>
                    <a:bodyPr wrap="square"/>
                    <a:lstStyle/>
                    <a:p>
                      <a:pPr algn="l">
                        <a:lnSpc>
                          <a:spcPct val="95830"/>
                        </a:lnSpc>
                        <a:spcBef>
                          <a:spcPts val="0"/>
                        </a:spcBef>
                        <a:spcAft>
                          <a:spcPts val="0"/>
                        </a:spcAft>
                      </a:pPr>
                      <a:r>
                        <a:rPr b="1" i="0" u="none" sz="900">
                          <a:solidFill>
                            <a:srgbClr val="174EA6"/>
                          </a:solidFill>
                          <a:latin typeface="Google Sans"/>
                        </a:rPr>
                        <a:t>$4,120 Var + $1,280 Fixed</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AECBFA"/>
                      </a:solidFill>
                      <a:prstDash val="solid"/>
                    </a:lnB>
                    <a:solidFill>
                      <a:srgbClr val="E8F0FE"/>
                    </a:solidFill>
                  </a:tcPr>
                </a:tc>
                <a:tc>
                  <a:txBody>
                    <a:bodyPr wrap="square"/>
                    <a:lstStyle/>
                    <a:p>
                      <a:pPr algn="l">
                        <a:lnSpc>
                          <a:spcPct val="95830"/>
                        </a:lnSpc>
                        <a:spcBef>
                          <a:spcPts val="0"/>
                        </a:spcBef>
                        <a:spcAft>
                          <a:spcPts val="0"/>
                        </a:spcAft>
                      </a:pPr>
                      <a:r>
                        <a:rPr b="1" i="0" u="none" sz="900">
                          <a:solidFill>
                            <a:srgbClr val="174EA6"/>
                          </a:solidFill>
                          <a:latin typeface="Google Sans"/>
                        </a:rPr>
                        <a:t>$5,400 / mo ($0.054/deck)</a:t>
                      </a:r>
                      <a:endParaRPr sz="900">
                        <a:latin typeface="Google Sans"/>
                      </a:endParaRPr>
                    </a:p>
                  </a:txBody>
                  <a:tcPr anchor="ctr" marL="42863" marR="42863" marT="32147" marB="32147">
                    <a:lnT w="7144" cap="flat" cmpd="sng" algn="ctr">
                      <a:solidFill>
                        <a:srgbClr val="E8EAED"/>
                      </a:solidFill>
                      <a:prstDash val="solid"/>
                    </a:lnT>
                    <a:lnB w="7144" cap="flat" cmpd="sng" algn="ctr">
                      <a:solidFill>
                        <a:srgbClr val="AECBFA"/>
                      </a:solidFill>
                      <a:prstDash val="solid"/>
                    </a:lnB>
                    <a:solidFill>
                      <a:srgbClr val="E8F0FE"/>
                    </a:solidFill>
                  </a:tcPr>
                </a:tc>
              </a:tr>
            </a:tbl>
          </a:graphicData>
        </a:graphic>
      </p:graphicFrame>
      <p:sp>
        <p:nvSpPr>
          <p:cNvPr id="7" name="TextBox 6"/>
          <p:cNvSpPr txBox="1"/>
          <p:nvPr/>
        </p:nvSpPr>
        <p:spPr>
          <a:xfrm>
            <a:off x="5386388" y="800100"/>
            <a:ext cx="3729038" cy="171450"/>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a:solidFill>
                  <a:srgbClr val="137333"/>
                </a:solidFill>
                <a:latin typeface="Google Sans"/>
              </a:rPr>
              <a:t>3 Cost-Control Engineering Levers &amp; FinOps Guardrails</a:t>
            </a:r>
            <a:endParaRPr sz="900">
              <a:latin typeface="Google Sans"/>
            </a:endParaRPr>
          </a:p>
        </p:txBody>
      </p:sp>
      <p:cxnSp>
        <p:nvCxnSpPr>
          <p:cNvPr id="8" name="Connector 7"/>
          <p:cNvCxnSpPr/>
          <p:nvPr/>
        </p:nvCxnSpPr>
        <p:spPr>
          <a:xfrm>
            <a:off x="5400675" y="1014413"/>
            <a:ext cx="0" cy="985837"/>
          </a:xfrm>
          <a:prstGeom prst="straightConnector1">
            <a:avLst/>
          </a:prstGeom>
          <a:ln w="28575">
            <a:solidFill>
              <a:schemeClr val="accent4"/>
            </a:solidFill>
          </a:ln>
        </p:spPr>
      </p:cxnSp>
      <p:sp>
        <p:nvSpPr>
          <p:cNvPr id="9" name="TextBox 8"/>
          <p:cNvSpPr txBox="1"/>
          <p:nvPr/>
        </p:nvSpPr>
        <p:spPr>
          <a:xfrm>
            <a:off x="5514975" y="1028700"/>
            <a:ext cx="3286125" cy="335756"/>
          </a:xfrm>
          <a:prstGeom prst="rect">
            <a:avLst/>
          </a:prstGeom>
          <a:noFill/>
          <a:ln>
            <a:noFill/>
          </a:ln>
          <a:effectLst/>
        </p:spPr>
        <p:txBody>
          <a:bodyPr wrap="square" anchor="t" lIns="0" rIns="0" tIns="3971" bIns="0">
            <a:noAutofit/>
          </a:bodyPr>
          <a:lstStyle/>
          <a:p>
            <a:pPr algn="l">
              <a:lnSpc>
                <a:spcPct val="104170"/>
              </a:lnSpc>
              <a:spcBef>
                <a:spcPts val="0"/>
              </a:spcBef>
              <a:spcAft>
                <a:spcPts val="0"/>
              </a:spcAft>
            </a:pPr>
            <a:r>
              <a:rPr b="1" i="0" u="none" sz="1000">
                <a:solidFill>
                  <a:schemeClr val="dk1"/>
                </a:solidFill>
                <a:latin typeface="Google Sans"/>
              </a:rPr>
              <a:t>1. 5,625 Pre-Bundled Visuals = $0.00 Runtime Image Spend</a:t>
            </a:r>
            <a:endParaRPr sz="1000">
              <a:latin typeface="Google Sans"/>
            </a:endParaRPr>
          </a:p>
        </p:txBody>
      </p:sp>
      <p:sp>
        <p:nvSpPr>
          <p:cNvPr id="10" name="TextBox 9"/>
          <p:cNvSpPr txBox="1"/>
          <p:nvPr/>
        </p:nvSpPr>
        <p:spPr>
          <a:xfrm>
            <a:off x="5514975" y="1378744"/>
            <a:ext cx="3300413" cy="621506"/>
          </a:xfrm>
          <a:prstGeom prst="rect">
            <a:avLst/>
          </a:prstGeom>
          <a:noFill/>
          <a:ln>
            <a:noFill/>
          </a:ln>
          <a:effectLst/>
        </p:spPr>
        <p:txBody>
          <a:bodyPr wrap="square" anchor="t" lIns="0" rIns="0" tIns="6460" bIns="0">
            <a:noAutofit/>
          </a:bodyPr>
          <a:lstStyle/>
          <a:p>
            <a:pPr algn="l">
              <a:lnSpc>
                <a:spcPct val="110000"/>
              </a:lnSpc>
              <a:spcBef>
                <a:spcPts val="0"/>
              </a:spcBef>
              <a:spcAft>
                <a:spcPts val="0"/>
              </a:spcAft>
            </a:pPr>
            <a:r>
              <a:rPr b="0" i="0" u="none" sz="900">
                <a:solidFill>
                  <a:srgbClr val="3C4043"/>
                </a:solidFill>
                <a:latin typeface="Google Sans"/>
              </a:rPr>
              <a:t>Pre-generating and Vision-verifying </a:t>
            </a:r>
            <a:r>
              <a:rPr b="1" i="0" u="none" sz="900">
                <a:solidFill>
                  <a:srgbClr val="137333"/>
                </a:solidFill>
                <a:latin typeface="Google Sans"/>
              </a:rPr>
              <a:t>2,833</a:t>
            </a:r>
            <a:r>
              <a:rPr b="0" i="0" u="none" sz="900">
                <a:solidFill>
                  <a:srgbClr val="3C4043"/>
                </a:solidFill>
                <a:latin typeface="Google Sans"/>
              </a:rPr>
              <a:t> pamphlet figures and </a:t>
            </a:r>
            <a:r>
              <a:rPr b="1" i="0" u="none" sz="900">
                <a:solidFill>
                  <a:srgbClr val="137333"/>
                </a:solidFill>
                <a:latin typeface="Google Sans"/>
              </a:rPr>
              <a:t>2,792</a:t>
            </a:r>
            <a:r>
              <a:rPr b="0" i="0" u="none" sz="900">
                <a:solidFill>
                  <a:srgbClr val="3C4043"/>
                </a:solidFill>
                <a:latin typeface="Google Sans"/>
              </a:rPr>
              <a:t> 8-bit PNG Nano Banana illustrations eliminated </a:t>
            </a:r>
            <a:r>
              <a:rPr b="1" i="0" u="none" sz="900">
                <a:solidFill>
                  <a:srgbClr val="137333"/>
                </a:solidFill>
                <a:latin typeface="Google Sans"/>
              </a:rPr>
              <a:t>$1.20+</a:t>
            </a:r>
            <a:r>
              <a:rPr b="0" i="0" u="none" sz="900">
                <a:solidFill>
                  <a:srgbClr val="3C4043"/>
                </a:solidFill>
                <a:latin typeface="Google Sans"/>
              </a:rPr>
              <a:t> per deck in cold image synthesis, holding default Warm Cream builds to </a:t>
            </a:r>
            <a:r>
              <a:rPr b="1" i="0" u="none" sz="900">
                <a:solidFill>
                  <a:srgbClr val="137333"/>
                </a:solidFill>
                <a:latin typeface="Google Sans"/>
              </a:rPr>
              <a:t>$0.184</a:t>
            </a:r>
            <a:r>
              <a:rPr b="0" i="0" u="none" sz="900">
                <a:solidFill>
                  <a:srgbClr val="3C4043"/>
                </a:solidFill>
                <a:latin typeface="Google Sans"/>
              </a:rPr>
              <a:t> actual LLM spend.</a:t>
            </a:r>
            <a:endParaRPr sz="900">
              <a:latin typeface="Google Sans"/>
            </a:endParaRPr>
          </a:p>
        </p:txBody>
      </p:sp>
      <p:cxnSp>
        <p:nvCxnSpPr>
          <p:cNvPr id="11" name="Connector 10"/>
          <p:cNvCxnSpPr/>
          <p:nvPr/>
        </p:nvCxnSpPr>
        <p:spPr>
          <a:xfrm>
            <a:off x="5400675" y="2200275"/>
            <a:ext cx="0" cy="828675"/>
          </a:xfrm>
          <a:prstGeom prst="straightConnector1">
            <a:avLst/>
          </a:prstGeom>
          <a:ln w="28575">
            <a:solidFill>
              <a:schemeClr val="accent4"/>
            </a:solidFill>
          </a:ln>
        </p:spPr>
      </p:cxnSp>
      <p:sp>
        <p:nvSpPr>
          <p:cNvPr id="12" name="TextBox 11"/>
          <p:cNvSpPr txBox="1"/>
          <p:nvPr/>
        </p:nvSpPr>
        <p:spPr>
          <a:xfrm>
            <a:off x="5514975" y="2214563"/>
            <a:ext cx="3600450" cy="178594"/>
          </a:xfrm>
          <a:prstGeom prst="rect">
            <a:avLst/>
          </a:prstGeom>
          <a:noFill/>
          <a:ln>
            <a:noFill/>
          </a:ln>
          <a:effectLst/>
        </p:spPr>
        <p:txBody>
          <a:bodyPr wrap="none" anchor="t" lIns="0" rIns="0" tIns="3971" bIns="0">
            <a:noAutofit/>
          </a:bodyPr>
          <a:lstStyle/>
          <a:p>
            <a:pPr algn="l">
              <a:lnSpc>
                <a:spcPct val="104170"/>
              </a:lnSpc>
              <a:spcBef>
                <a:spcPts val="0"/>
              </a:spcBef>
              <a:spcAft>
                <a:spcPts val="0"/>
              </a:spcAft>
            </a:pPr>
            <a:r>
              <a:rPr b="1" i="0" u="none" sz="1000">
                <a:solidFill>
                  <a:schemeClr val="dk1"/>
                </a:solidFill>
                <a:latin typeface="Google Sans"/>
              </a:rPr>
              <a:t>2. Deliberate 79% Flash / 21% Pro Model Routing</a:t>
            </a:r>
            <a:endParaRPr sz="1000">
              <a:latin typeface="Google Sans"/>
            </a:endParaRPr>
          </a:p>
        </p:txBody>
      </p:sp>
      <p:sp>
        <p:nvSpPr>
          <p:cNvPr id="13" name="TextBox 12"/>
          <p:cNvSpPr txBox="1"/>
          <p:nvPr/>
        </p:nvSpPr>
        <p:spPr>
          <a:xfrm>
            <a:off x="5514975" y="2407444"/>
            <a:ext cx="3286125" cy="621506"/>
          </a:xfrm>
          <a:prstGeom prst="rect">
            <a:avLst/>
          </a:prstGeom>
          <a:noFill/>
          <a:ln>
            <a:noFill/>
          </a:ln>
          <a:effectLst/>
        </p:spPr>
        <p:txBody>
          <a:bodyPr wrap="square" anchor="t" lIns="0" rIns="0" tIns="6460" bIns="0">
            <a:noAutofit/>
          </a:bodyPr>
          <a:lstStyle/>
          <a:p>
            <a:pPr algn="l">
              <a:lnSpc>
                <a:spcPct val="110000"/>
              </a:lnSpc>
              <a:spcBef>
                <a:spcPts val="0"/>
              </a:spcBef>
              <a:spcAft>
                <a:spcPts val="0"/>
              </a:spcAft>
            </a:pPr>
            <a:r>
              <a:rPr b="0" i="0" u="none" sz="900">
                <a:solidFill>
                  <a:srgbClr val="1A73E8"/>
                </a:solidFill>
                <a:latin typeface="Google Sans Medium"/>
              </a:rPr>
              <a:t>SlideContentPlannerAgent</a:t>
            </a:r>
            <a:r>
              <a:rPr b="0" i="0" u="none" sz="900">
                <a:solidFill>
                  <a:srgbClr val="3C4043"/>
                </a:solidFill>
                <a:latin typeface="Google Sans"/>
              </a:rPr>
              <a:t> uses </a:t>
            </a:r>
            <a:r>
              <a:rPr b="0" i="0" u="none" sz="900">
                <a:solidFill>
                  <a:srgbClr val="1A73E8"/>
                </a:solidFill>
                <a:latin typeface="Google Sans Medium"/>
              </a:rPr>
              <a:t>gemini-2.5-pro</a:t>
            </a:r>
            <a:r>
              <a:rPr b="0" i="0" u="none" sz="900">
                <a:solidFill>
                  <a:srgbClr val="3C4043"/>
                </a:solidFill>
                <a:latin typeface="Google Sans"/>
              </a:rPr>
              <a:t> with 75%-discounted Vertex AI Context Caching; extraction, critic loops, Vision QA, and 6-way parallel note polishing route to </a:t>
            </a:r>
            <a:r>
              <a:rPr b="0" i="0" u="none" sz="900">
                <a:solidFill>
                  <a:srgbClr val="1A73E8"/>
                </a:solidFill>
                <a:latin typeface="Google Sans Medium"/>
              </a:rPr>
              <a:t>gemini-2.5-flash</a:t>
            </a:r>
            <a:r>
              <a:rPr b="0" i="0" u="none" sz="900">
                <a:solidFill>
                  <a:srgbClr val="3C4043"/>
                </a:solidFill>
                <a:latin typeface="Google Sans"/>
              </a:rPr>
              <a:t> at </a:t>
            </a:r>
            <a:r>
              <a:rPr b="1" i="0" u="none" sz="900">
                <a:solidFill>
                  <a:srgbClr val="137333"/>
                </a:solidFill>
                <a:latin typeface="Google Sans"/>
              </a:rPr>
              <a:t>88%</a:t>
            </a:r>
            <a:r>
              <a:rPr b="0" i="0" u="none" sz="900">
                <a:solidFill>
                  <a:srgbClr val="3C4043"/>
                </a:solidFill>
                <a:latin typeface="Google Sans"/>
              </a:rPr>
              <a:t> lower token cost.</a:t>
            </a:r>
            <a:endParaRPr sz="900">
              <a:latin typeface="Google Sans"/>
            </a:endParaRPr>
          </a:p>
        </p:txBody>
      </p:sp>
      <p:cxnSp>
        <p:nvCxnSpPr>
          <p:cNvPr id="14" name="Connector 13"/>
          <p:cNvCxnSpPr/>
          <p:nvPr/>
        </p:nvCxnSpPr>
        <p:spPr>
          <a:xfrm>
            <a:off x="5400675" y="3357563"/>
            <a:ext cx="0" cy="828675"/>
          </a:xfrm>
          <a:prstGeom prst="straightConnector1">
            <a:avLst/>
          </a:prstGeom>
          <a:ln w="28575">
            <a:solidFill>
              <a:schemeClr val="accent4"/>
            </a:solidFill>
          </a:ln>
        </p:spPr>
      </p:cxnSp>
      <p:sp>
        <p:nvSpPr>
          <p:cNvPr id="15" name="TextBox 14"/>
          <p:cNvSpPr txBox="1"/>
          <p:nvPr/>
        </p:nvSpPr>
        <p:spPr>
          <a:xfrm>
            <a:off x="5514975" y="3371850"/>
            <a:ext cx="3600450" cy="178594"/>
          </a:xfrm>
          <a:prstGeom prst="rect">
            <a:avLst/>
          </a:prstGeom>
          <a:noFill/>
          <a:ln>
            <a:noFill/>
          </a:ln>
          <a:effectLst/>
        </p:spPr>
        <p:txBody>
          <a:bodyPr wrap="none" anchor="t" lIns="0" rIns="0" tIns="3971" bIns="0">
            <a:noAutofit/>
          </a:bodyPr>
          <a:lstStyle/>
          <a:p>
            <a:pPr algn="l">
              <a:lnSpc>
                <a:spcPct val="104170"/>
              </a:lnSpc>
              <a:spcBef>
                <a:spcPts val="0"/>
              </a:spcBef>
              <a:spcAft>
                <a:spcPts val="0"/>
              </a:spcAft>
            </a:pPr>
            <a:r>
              <a:rPr b="1" i="0" u="none" sz="1000">
                <a:solidFill>
                  <a:schemeClr val="dk1"/>
                </a:solidFill>
                <a:latin typeface="Google Sans"/>
              </a:rPr>
              <a:t>3. Hard $1.00 Circuit Breaker &amp; Explicit Consent Gates</a:t>
            </a:r>
            <a:endParaRPr sz="1000">
              <a:latin typeface="Google Sans"/>
            </a:endParaRPr>
          </a:p>
        </p:txBody>
      </p:sp>
      <p:sp>
        <p:nvSpPr>
          <p:cNvPr id="16" name="TextBox 15"/>
          <p:cNvSpPr txBox="1"/>
          <p:nvPr/>
        </p:nvSpPr>
        <p:spPr>
          <a:xfrm>
            <a:off x="5514975" y="3564731"/>
            <a:ext cx="3300413" cy="621506"/>
          </a:xfrm>
          <a:prstGeom prst="rect">
            <a:avLst/>
          </a:prstGeom>
          <a:noFill/>
          <a:ln>
            <a:noFill/>
          </a:ln>
          <a:effectLst/>
        </p:spPr>
        <p:txBody>
          <a:bodyPr wrap="square" anchor="t" lIns="0" rIns="0" tIns="6460" bIns="0">
            <a:noAutofit/>
          </a:bodyPr>
          <a:lstStyle/>
          <a:p>
            <a:pPr algn="l">
              <a:lnSpc>
                <a:spcPct val="110000"/>
              </a:lnSpc>
              <a:spcBef>
                <a:spcPts val="0"/>
              </a:spcBef>
              <a:spcAft>
                <a:spcPts val="0"/>
              </a:spcAft>
            </a:pPr>
            <a:r>
              <a:rPr b="0" i="0" u="none" sz="900">
                <a:solidFill>
                  <a:srgbClr val="1A73E8"/>
                </a:solidFill>
                <a:latin typeface="Google Sans Medium"/>
              </a:rPr>
              <a:t>FinOpsBudgetPlugin</a:t>
            </a:r>
            <a:r>
              <a:rPr b="0" i="0" u="none" sz="900">
                <a:solidFill>
                  <a:srgbClr val="3C4043"/>
                </a:solidFill>
                <a:latin typeface="Google Sans"/>
              </a:rPr>
              <a:t> enforces </a:t>
            </a:r>
            <a:r>
              <a:rPr b="0" i="0" u="none" sz="900">
                <a:solidFill>
                  <a:srgbClr val="1A73E8"/>
                </a:solidFill>
                <a:latin typeface="Google Sans Medium"/>
              </a:rPr>
              <a:t>max_budget_usd = $1.00</a:t>
            </a:r>
            <a:r>
              <a:rPr b="0" i="0" u="none" sz="900">
                <a:solidFill>
                  <a:srgbClr val="3C4043"/>
                </a:solidFill>
                <a:latin typeface="Google Sans"/>
              </a:rPr>
              <a:t> with auto tier step-down. Executable </a:t>
            </a:r>
            <a:r>
              <a:rPr b="0" i="0" u="none" sz="900">
                <a:solidFill>
                  <a:srgbClr val="1A73E8"/>
                </a:solidFill>
                <a:latin typeface="Google Sans Medium"/>
              </a:rPr>
              <a:t>scripts/cost_model.py</a:t>
            </a:r>
            <a:r>
              <a:rPr b="0" i="0" u="none" sz="900">
                <a:solidFill>
                  <a:srgbClr val="3C4043"/>
                </a:solidFill>
                <a:latin typeface="Google Sans"/>
              </a:rPr>
              <a:t> verifies TCO across Troop (</a:t>
            </a:r>
            <a:r>
              <a:rPr b="1" i="0" u="none" sz="900">
                <a:solidFill>
                  <a:srgbClr val="137333"/>
                </a:solidFill>
                <a:latin typeface="Google Sans"/>
              </a:rPr>
              <a:t>$7.91/mo</a:t>
            </a:r>
            <a:r>
              <a:rPr b="0" i="0" u="none" sz="900">
                <a:solidFill>
                  <a:srgbClr val="3C4043"/>
                </a:solidFill>
                <a:latin typeface="Google Sans"/>
              </a:rPr>
              <a:t>), Council (</a:t>
            </a:r>
            <a:r>
              <a:rPr b="1" i="0" u="none" sz="900">
                <a:solidFill>
                  <a:srgbClr val="137333"/>
                </a:solidFill>
                <a:latin typeface="Google Sans"/>
              </a:rPr>
              <a:t>$192.50/mo</a:t>
            </a:r>
            <a:r>
              <a:rPr b="0" i="0" u="none" sz="900">
                <a:solidFill>
                  <a:srgbClr val="3C4043"/>
                </a:solidFill>
                <a:latin typeface="Google Sans"/>
              </a:rPr>
              <a:t>), and National (</a:t>
            </a:r>
            <a:r>
              <a:rPr b="1" i="0" u="none" sz="900">
                <a:solidFill>
                  <a:srgbClr val="137333"/>
                </a:solidFill>
                <a:latin typeface="Google Sans"/>
              </a:rPr>
              <a:t>$5,400/mo = $0.054/deck</a:t>
            </a:r>
            <a:r>
              <a:rPr b="0" i="0" u="none" sz="900">
                <a:solidFill>
                  <a:srgbClr val="3C4043"/>
                </a:solidFill>
                <a:latin typeface="Google Sans"/>
              </a:rPr>
              <a:t>).</a:t>
            </a:r>
            <a:endParaRPr sz="900">
              <a:latin typeface="Google Sans"/>
            </a:endParaRPr>
          </a:p>
        </p:txBody>
      </p:sp>
      <p:sp>
        <p:nvSpPr>
          <p:cNvPr id="17" name="TextBox 16"/>
          <p:cNvSpPr txBox="1"/>
          <p:nvPr/>
        </p:nvSpPr>
        <p:spPr>
          <a:xfrm>
            <a:off x="342900" y="4714875"/>
            <a:ext cx="8772525" cy="142875"/>
          </a:xfrm>
          <a:prstGeom prst="rect">
            <a:avLst/>
          </a:prstGeom>
          <a:noFill/>
          <a:ln>
            <a:noFill/>
          </a:ln>
          <a:effectLst/>
        </p:spPr>
        <p:txBody>
          <a:bodyPr wrap="none" anchor="t" lIns="0" rIns="0" tIns="51012" bIns="0">
            <a:noAutofit/>
          </a:bodyPr>
          <a:lstStyle/>
          <a:p>
            <a:pPr algn="l">
              <a:lnSpc>
                <a:spcPct val="100000"/>
              </a:lnSpc>
              <a:spcBef>
                <a:spcPts val="0"/>
              </a:spcBef>
              <a:spcAft>
                <a:spcPts val="0"/>
              </a:spcAft>
            </a:pPr>
            <a:r>
              <a:rPr b="0" i="0" u="none" sz="600">
                <a:solidFill>
                  <a:schemeClr val="accent5"/>
                </a:solidFill>
                <a:latin typeface="Google Sans"/>
              </a:rPr>
              <a:t>Source: scripts/cost_model.py, config/finops_model_policy.json, src/agents/guardrails.py (FinOpsBudgetPlugin), docs/FINOPS_AND_TCO.md.</a:t>
            </a:r>
            <a:endParaRPr sz="600">
              <a:latin typeface="Google San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42875"/>
            <a:ext cx="8458200" cy="628650"/>
          </a:xfrm>
          <a:prstGeom prst="rect">
            <a:avLst/>
          </a:prstGeom>
          <a:noFill/>
          <a:ln>
            <a:noFill/>
          </a:ln>
          <a:effectLst/>
        </p:spPr>
        <p:txBody>
          <a:bodyPr wrap="square" anchor="t" lIns="0" rIns="0" tIns="7147" bIns="0">
            <a:noAutofit/>
          </a:bodyPr>
          <a:lstStyle/>
          <a:p>
            <a:pPr algn="l">
              <a:lnSpc>
                <a:spcPct val="104170"/>
              </a:lnSpc>
              <a:spcBef>
                <a:spcPts val="0"/>
              </a:spcBef>
              <a:spcAft>
                <a:spcPts val="0"/>
              </a:spcAft>
            </a:pPr>
            <a:r>
              <a:rPr b="0" i="0" u="none" sz="1800">
                <a:solidFill>
                  <a:schemeClr val="dk1"/>
                </a:solidFill>
                <a:latin typeface="Google Sans Medium"/>
              </a:rPr>
              <a:t>Eleven Architectural Decision Records, 162 OpenAPI Endpoints &amp; 220+ Pytest Tests Guarantee Production Conformance</a:t>
            </a:r>
            <a:endParaRPr sz="1800">
              <a:latin typeface="Google Sans Medium"/>
            </a:endParaRPr>
          </a:p>
        </p:txBody>
      </p:sp>
      <p:cxnSp>
        <p:nvCxnSpPr>
          <p:cNvPr id="3" name="Connector 2"/>
          <p:cNvCxnSpPr/>
          <p:nvPr/>
        </p:nvCxnSpPr>
        <p:spPr>
          <a:xfrm>
            <a:off x="342900" y="842963"/>
            <a:ext cx="1985963" cy="0"/>
          </a:xfrm>
          <a:prstGeom prst="straightConnector1">
            <a:avLst/>
          </a:prstGeom>
          <a:ln w="28575" cap="flat">
            <a:solidFill>
              <a:schemeClr val="accent1"/>
            </a:solidFill>
          </a:ln>
        </p:spPr>
      </p:cxnSp>
      <p:cxnSp>
        <p:nvCxnSpPr>
          <p:cNvPr id="4" name="Connector 3"/>
          <p:cNvCxnSpPr/>
          <p:nvPr/>
        </p:nvCxnSpPr>
        <p:spPr>
          <a:xfrm>
            <a:off x="342900" y="1328738"/>
            <a:ext cx="1985963" cy="0"/>
          </a:xfrm>
          <a:prstGeom prst="straightConnector1">
            <a:avLst/>
          </a:prstGeom>
          <a:ln w="7144" cap="flat">
            <a:solidFill>
              <a:srgbClr val="DADCE0"/>
            </a:solidFill>
          </a:ln>
        </p:spPr>
      </p:cxnSp>
      <p:cxnSp>
        <p:nvCxnSpPr>
          <p:cNvPr id="5" name="Connector 4"/>
          <p:cNvCxnSpPr/>
          <p:nvPr/>
        </p:nvCxnSpPr>
        <p:spPr>
          <a:xfrm>
            <a:off x="342900" y="2171700"/>
            <a:ext cx="1985963" cy="0"/>
          </a:xfrm>
          <a:prstGeom prst="straightConnector1">
            <a:avLst/>
          </a:prstGeom>
          <a:ln w="7144" cap="flat">
            <a:solidFill>
              <a:srgbClr val="DADCE0"/>
            </a:solidFill>
          </a:ln>
        </p:spPr>
      </p:cxnSp>
      <p:cxnSp>
        <p:nvCxnSpPr>
          <p:cNvPr id="6" name="Connector 5"/>
          <p:cNvCxnSpPr/>
          <p:nvPr/>
        </p:nvCxnSpPr>
        <p:spPr>
          <a:xfrm>
            <a:off x="342900" y="2771775"/>
            <a:ext cx="1985963" cy="0"/>
          </a:xfrm>
          <a:prstGeom prst="straightConnector1">
            <a:avLst/>
          </a:prstGeom>
          <a:ln w="7144" cap="flat">
            <a:solidFill>
              <a:srgbClr val="DADCE0"/>
            </a:solidFill>
          </a:ln>
        </p:spPr>
      </p:cxnSp>
      <p:cxnSp>
        <p:nvCxnSpPr>
          <p:cNvPr id="7" name="Connector 6"/>
          <p:cNvCxnSpPr/>
          <p:nvPr/>
        </p:nvCxnSpPr>
        <p:spPr>
          <a:xfrm>
            <a:off x="2500313" y="842963"/>
            <a:ext cx="1985962" cy="0"/>
          </a:xfrm>
          <a:prstGeom prst="straightConnector1">
            <a:avLst/>
          </a:prstGeom>
          <a:ln w="28575" cap="flat">
            <a:solidFill>
              <a:schemeClr val="accent1"/>
            </a:solidFill>
          </a:ln>
        </p:spPr>
      </p:cxnSp>
      <p:cxnSp>
        <p:nvCxnSpPr>
          <p:cNvPr id="8" name="Connector 7"/>
          <p:cNvCxnSpPr/>
          <p:nvPr/>
        </p:nvCxnSpPr>
        <p:spPr>
          <a:xfrm>
            <a:off x="2500313" y="1328738"/>
            <a:ext cx="1985962" cy="0"/>
          </a:xfrm>
          <a:prstGeom prst="straightConnector1">
            <a:avLst/>
          </a:prstGeom>
          <a:ln w="7144" cap="flat">
            <a:solidFill>
              <a:srgbClr val="DADCE0"/>
            </a:solidFill>
          </a:ln>
        </p:spPr>
      </p:cxnSp>
      <p:cxnSp>
        <p:nvCxnSpPr>
          <p:cNvPr id="9" name="Connector 8"/>
          <p:cNvCxnSpPr/>
          <p:nvPr/>
        </p:nvCxnSpPr>
        <p:spPr>
          <a:xfrm>
            <a:off x="2500313" y="2171700"/>
            <a:ext cx="1985962" cy="0"/>
          </a:xfrm>
          <a:prstGeom prst="straightConnector1">
            <a:avLst/>
          </a:prstGeom>
          <a:ln w="7144" cap="flat">
            <a:solidFill>
              <a:srgbClr val="DADCE0"/>
            </a:solidFill>
          </a:ln>
        </p:spPr>
      </p:cxnSp>
      <p:cxnSp>
        <p:nvCxnSpPr>
          <p:cNvPr id="10" name="Connector 9"/>
          <p:cNvCxnSpPr/>
          <p:nvPr/>
        </p:nvCxnSpPr>
        <p:spPr>
          <a:xfrm>
            <a:off x="2500313" y="2771775"/>
            <a:ext cx="1985962" cy="0"/>
          </a:xfrm>
          <a:prstGeom prst="straightConnector1">
            <a:avLst/>
          </a:prstGeom>
          <a:ln w="7144" cap="flat">
            <a:solidFill>
              <a:srgbClr val="DADCE0"/>
            </a:solidFill>
          </a:ln>
        </p:spPr>
      </p:cxnSp>
      <p:cxnSp>
        <p:nvCxnSpPr>
          <p:cNvPr id="11" name="Connector 10"/>
          <p:cNvCxnSpPr/>
          <p:nvPr/>
        </p:nvCxnSpPr>
        <p:spPr>
          <a:xfrm>
            <a:off x="4657725" y="842963"/>
            <a:ext cx="1985963" cy="0"/>
          </a:xfrm>
          <a:prstGeom prst="straightConnector1">
            <a:avLst/>
          </a:prstGeom>
          <a:ln w="28575" cap="flat">
            <a:solidFill>
              <a:schemeClr val="accent1"/>
            </a:solidFill>
          </a:ln>
        </p:spPr>
      </p:cxnSp>
      <p:cxnSp>
        <p:nvCxnSpPr>
          <p:cNvPr id="12" name="Connector 11"/>
          <p:cNvCxnSpPr/>
          <p:nvPr/>
        </p:nvCxnSpPr>
        <p:spPr>
          <a:xfrm>
            <a:off x="4657725" y="1328738"/>
            <a:ext cx="1985963" cy="0"/>
          </a:xfrm>
          <a:prstGeom prst="straightConnector1">
            <a:avLst/>
          </a:prstGeom>
          <a:ln w="7144" cap="flat">
            <a:solidFill>
              <a:srgbClr val="DADCE0"/>
            </a:solidFill>
          </a:ln>
        </p:spPr>
      </p:cxnSp>
      <p:cxnSp>
        <p:nvCxnSpPr>
          <p:cNvPr id="13" name="Connector 12"/>
          <p:cNvCxnSpPr/>
          <p:nvPr/>
        </p:nvCxnSpPr>
        <p:spPr>
          <a:xfrm>
            <a:off x="4657725" y="2171700"/>
            <a:ext cx="1985963" cy="0"/>
          </a:xfrm>
          <a:prstGeom prst="straightConnector1">
            <a:avLst/>
          </a:prstGeom>
          <a:ln w="7144" cap="flat">
            <a:solidFill>
              <a:srgbClr val="DADCE0"/>
            </a:solidFill>
          </a:ln>
        </p:spPr>
      </p:cxnSp>
      <p:cxnSp>
        <p:nvCxnSpPr>
          <p:cNvPr id="14" name="Connector 13"/>
          <p:cNvCxnSpPr/>
          <p:nvPr/>
        </p:nvCxnSpPr>
        <p:spPr>
          <a:xfrm>
            <a:off x="4657725" y="2771775"/>
            <a:ext cx="1985963" cy="0"/>
          </a:xfrm>
          <a:prstGeom prst="straightConnector1">
            <a:avLst/>
          </a:prstGeom>
          <a:ln w="7144" cap="flat">
            <a:solidFill>
              <a:srgbClr val="DADCE0"/>
            </a:solidFill>
          </a:ln>
        </p:spPr>
      </p:cxnSp>
      <p:cxnSp>
        <p:nvCxnSpPr>
          <p:cNvPr id="15" name="Connector 14"/>
          <p:cNvCxnSpPr/>
          <p:nvPr/>
        </p:nvCxnSpPr>
        <p:spPr>
          <a:xfrm>
            <a:off x="6815138" y="842963"/>
            <a:ext cx="1985962" cy="0"/>
          </a:xfrm>
          <a:prstGeom prst="straightConnector1">
            <a:avLst/>
          </a:prstGeom>
          <a:ln w="28575" cap="flat">
            <a:solidFill>
              <a:schemeClr val="accent4"/>
            </a:solidFill>
          </a:ln>
        </p:spPr>
      </p:cxnSp>
      <p:cxnSp>
        <p:nvCxnSpPr>
          <p:cNvPr id="16" name="Connector 15"/>
          <p:cNvCxnSpPr/>
          <p:nvPr/>
        </p:nvCxnSpPr>
        <p:spPr>
          <a:xfrm>
            <a:off x="6815138" y="1328738"/>
            <a:ext cx="1985962" cy="0"/>
          </a:xfrm>
          <a:prstGeom prst="straightConnector1">
            <a:avLst/>
          </a:prstGeom>
          <a:ln w="7144" cap="flat">
            <a:solidFill>
              <a:srgbClr val="DADCE0"/>
            </a:solidFill>
          </a:ln>
        </p:spPr>
      </p:cxnSp>
      <p:cxnSp>
        <p:nvCxnSpPr>
          <p:cNvPr id="17" name="Connector 16"/>
          <p:cNvCxnSpPr/>
          <p:nvPr/>
        </p:nvCxnSpPr>
        <p:spPr>
          <a:xfrm>
            <a:off x="6815138" y="2171700"/>
            <a:ext cx="1985962" cy="0"/>
          </a:xfrm>
          <a:prstGeom prst="straightConnector1">
            <a:avLst/>
          </a:prstGeom>
          <a:ln w="7144" cap="flat">
            <a:solidFill>
              <a:srgbClr val="DADCE0"/>
            </a:solidFill>
          </a:ln>
        </p:spPr>
      </p:cxnSp>
      <p:cxnSp>
        <p:nvCxnSpPr>
          <p:cNvPr id="18" name="Connector 17"/>
          <p:cNvCxnSpPr/>
          <p:nvPr/>
        </p:nvCxnSpPr>
        <p:spPr>
          <a:xfrm>
            <a:off x="6815138" y="2771775"/>
            <a:ext cx="1985962" cy="0"/>
          </a:xfrm>
          <a:prstGeom prst="straightConnector1">
            <a:avLst/>
          </a:prstGeom>
          <a:ln w="7144" cap="flat">
            <a:solidFill>
              <a:srgbClr val="DADCE0"/>
            </a:solidFill>
          </a:ln>
        </p:spPr>
      </p:cxnSp>
      <p:sp>
        <p:nvSpPr>
          <p:cNvPr id="19" name="TextBox 18"/>
          <p:cNvSpPr txBox="1"/>
          <p:nvPr/>
        </p:nvSpPr>
        <p:spPr>
          <a:xfrm>
            <a:off x="342900" y="957263"/>
            <a:ext cx="1985963" cy="3429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1100">
                <a:solidFill>
                  <a:schemeClr val="accent1"/>
                </a:solidFill>
                <a:latin typeface="Google Sans"/>
              </a:rPr>
              <a:t>ADR-01: Sequential ADK + Tool Boundary</a:t>
            </a:r>
            <a:endParaRPr sz="1100">
              <a:latin typeface="Google Sans"/>
            </a:endParaRPr>
          </a:p>
        </p:txBody>
      </p:sp>
      <p:sp>
        <p:nvSpPr>
          <p:cNvPr id="20" name="TextBox 19"/>
          <p:cNvSpPr txBox="1"/>
          <p:nvPr/>
        </p:nvSpPr>
        <p:spPr>
          <a:xfrm>
            <a:off x="342900" y="1385888"/>
            <a:ext cx="742950"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A73E8"/>
                </a:solidFill>
                <a:latin typeface="Google Sans"/>
              </a:rPr>
              <a:t>DECISION</a:t>
            </a:r>
            <a:endParaRPr sz="900">
              <a:latin typeface="Google Sans"/>
            </a:endParaRPr>
          </a:p>
        </p:txBody>
      </p:sp>
      <p:sp>
        <p:nvSpPr>
          <p:cNvPr id="21" name="TextBox 20"/>
          <p:cNvSpPr txBox="1"/>
          <p:nvPr/>
        </p:nvSpPr>
        <p:spPr>
          <a:xfrm>
            <a:off x="342900" y="1543050"/>
            <a:ext cx="1985963" cy="442913"/>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dk1"/>
                </a:solidFill>
                <a:latin typeface="Google Sans"/>
              </a:rPr>
              <a:t>5-stage </a:t>
            </a:r>
            <a:r>
              <a:rPr b="1" i="0" u="none" sz="900">
                <a:solidFill>
                  <a:schemeClr val="dk1"/>
                </a:solidFill>
                <a:latin typeface="Google Sans"/>
              </a:rPr>
              <a:t>SequentialAgent</a:t>
            </a:r>
            <a:r>
              <a:rPr b="0" i="0" u="none" sz="900">
                <a:solidFill>
                  <a:schemeClr val="dk1"/>
                </a:solidFill>
                <a:latin typeface="Google Sans"/>
              </a:rPr>
              <a:t> + bounded </a:t>
            </a:r>
            <a:r>
              <a:rPr b="1" i="0" u="none" sz="900">
                <a:solidFill>
                  <a:schemeClr val="dk1"/>
                </a:solidFill>
                <a:latin typeface="Google Sans"/>
              </a:rPr>
              <a:t>LoopAgents</a:t>
            </a:r>
            <a:r>
              <a:rPr b="0" i="0" u="none" sz="900">
                <a:solidFill>
                  <a:schemeClr val="dk1"/>
                </a:solidFill>
                <a:latin typeface="Google Sans"/>
              </a:rPr>
              <a:t> (max=2,3) + </a:t>
            </a:r>
            <a:r>
              <a:rPr b="1" i="0" u="none" sz="900">
                <a:solidFill>
                  <a:schemeClr val="dk1"/>
                </a:solidFill>
                <a:latin typeface="Google Sans"/>
              </a:rPr>
              <a:t>AgentTool</a:t>
            </a:r>
            <a:r>
              <a:rPr b="0" i="0" u="none" sz="900">
                <a:solidFill>
                  <a:schemeClr val="dk1"/>
                </a:solidFill>
                <a:latin typeface="Google Sans"/>
              </a:rPr>
              <a:t> search isolation (FM-1 fix).</a:t>
            </a:r>
            <a:endParaRPr sz="900">
              <a:latin typeface="Google Sans"/>
            </a:endParaRPr>
          </a:p>
        </p:txBody>
      </p:sp>
      <p:sp>
        <p:nvSpPr>
          <p:cNvPr id="22" name="TextBox 21"/>
          <p:cNvSpPr txBox="1"/>
          <p:nvPr/>
        </p:nvSpPr>
        <p:spPr>
          <a:xfrm>
            <a:off x="342900" y="2228850"/>
            <a:ext cx="2007394" cy="457200"/>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rgbClr val="C5221F"/>
                </a:solidFill>
                <a:latin typeface="Google Sans"/>
              </a:rPr>
              <a:t>REJECTED</a:t>
            </a:r>
            <a:endParaRPr sz="900">
              <a:latin typeface="Google Sans"/>
            </a:endParaRPr>
          </a:p>
          <a:p>
            <a:pPr algn="l">
              <a:lnSpc>
                <a:spcPct val="104170"/>
              </a:lnSpc>
              <a:spcBef>
                <a:spcPts val="0"/>
              </a:spcBef>
              <a:spcAft>
                <a:spcPts val="0"/>
              </a:spcAft>
            </a:pPr>
            <a:r>
              <a:rPr b="0" i="0" u="none" sz="900">
                <a:solidFill>
                  <a:schemeClr val="accent5"/>
                </a:solidFill>
                <a:latin typeface="Google Sans"/>
              </a:rPr>
              <a:t>Autonomous ReAct swarm ($0.74/deck, 14% sub-req omissions).</a:t>
            </a:r>
            <a:endParaRPr sz="900">
              <a:latin typeface="Google Sans"/>
            </a:endParaRPr>
          </a:p>
        </p:txBody>
      </p:sp>
      <p:sp>
        <p:nvSpPr>
          <p:cNvPr id="23" name="TextBox 22"/>
          <p:cNvSpPr txBox="1"/>
          <p:nvPr/>
        </p:nvSpPr>
        <p:spPr>
          <a:xfrm>
            <a:off x="342900" y="2828925"/>
            <a:ext cx="1193006"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37333"/>
                </a:solidFill>
                <a:latin typeface="Google Sans"/>
              </a:rPr>
              <a:t>VERIFIED RESULT</a:t>
            </a:r>
            <a:endParaRPr sz="900">
              <a:latin typeface="Google Sans"/>
            </a:endParaRPr>
          </a:p>
        </p:txBody>
      </p:sp>
      <p:sp>
        <p:nvSpPr>
          <p:cNvPr id="24" name="TextBox 23"/>
          <p:cNvSpPr txBox="1"/>
          <p:nvPr/>
        </p:nvSpPr>
        <p:spPr>
          <a:xfrm>
            <a:off x="342900" y="2986088"/>
            <a:ext cx="2000251" cy="442913"/>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chemeClr val="dk1"/>
                </a:solidFill>
                <a:latin typeface="Google Sans"/>
              </a:rPr>
              <a:t>100%</a:t>
            </a:r>
            <a:r>
              <a:rPr b="0" i="0" u="none" sz="900">
                <a:solidFill>
                  <a:schemeClr val="dk1"/>
                </a:solidFill>
                <a:latin typeface="Google Sans"/>
              </a:rPr>
              <a:t> sub-requirement coverage with </a:t>
            </a:r>
            <a:r>
              <a:rPr b="1" i="0" u="none" sz="900">
                <a:solidFill>
                  <a:schemeClr val="dk1"/>
                </a:solidFill>
                <a:latin typeface="Google Sans"/>
              </a:rPr>
              <a:t>18ms</a:t>
            </a:r>
            <a:r>
              <a:rPr b="0" i="0" u="none" sz="900">
                <a:solidFill>
                  <a:schemeClr val="dk1"/>
                </a:solidFill>
                <a:latin typeface="Google Sans"/>
              </a:rPr>
              <a:t> orchestration overhead and zero HTTP 400 tool collisions.</a:t>
            </a:r>
            <a:endParaRPr sz="900">
              <a:latin typeface="Google Sans"/>
            </a:endParaRPr>
          </a:p>
        </p:txBody>
      </p:sp>
      <p:sp>
        <p:nvSpPr>
          <p:cNvPr id="25" name="TextBox 24"/>
          <p:cNvSpPr txBox="1"/>
          <p:nvPr/>
        </p:nvSpPr>
        <p:spPr>
          <a:xfrm>
            <a:off x="2500313" y="957263"/>
            <a:ext cx="1985963" cy="3429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1100">
                <a:solidFill>
                  <a:schemeClr val="accent1"/>
                </a:solidFill>
                <a:latin typeface="Google Sans"/>
              </a:rPr>
              <a:t>ADR-02: Hybrid BM25 + Vector RRF (k=60)</a:t>
            </a:r>
            <a:endParaRPr sz="1100">
              <a:latin typeface="Google Sans"/>
            </a:endParaRPr>
          </a:p>
        </p:txBody>
      </p:sp>
      <p:sp>
        <p:nvSpPr>
          <p:cNvPr id="26" name="TextBox 25"/>
          <p:cNvSpPr txBox="1"/>
          <p:nvPr/>
        </p:nvSpPr>
        <p:spPr>
          <a:xfrm>
            <a:off x="2500313" y="1385888"/>
            <a:ext cx="742950"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A73E8"/>
                </a:solidFill>
                <a:latin typeface="Google Sans"/>
              </a:rPr>
              <a:t>DECISION</a:t>
            </a:r>
            <a:endParaRPr sz="900">
              <a:latin typeface="Google Sans"/>
            </a:endParaRPr>
          </a:p>
        </p:txBody>
      </p:sp>
      <p:sp>
        <p:nvSpPr>
          <p:cNvPr id="27" name="TextBox 26"/>
          <p:cNvSpPr txBox="1"/>
          <p:nvPr/>
        </p:nvSpPr>
        <p:spPr>
          <a:xfrm>
            <a:off x="2500313" y="1543050"/>
            <a:ext cx="2000250" cy="442913"/>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dk1"/>
                </a:solidFill>
                <a:latin typeface="Google Sans"/>
              </a:rPr>
              <a:t>Fuse Okapi BM25 (</a:t>
            </a:r>
            <a:r>
              <a:rPr b="1" i="0" u="none" sz="900">
                <a:solidFill>
                  <a:schemeClr val="dk1"/>
                </a:solidFill>
                <a:latin typeface="Google Sans"/>
              </a:rPr>
              <a:t>55%</a:t>
            </a:r>
            <a:r>
              <a:rPr b="0" i="0" u="none" sz="900">
                <a:solidFill>
                  <a:schemeClr val="dk1"/>
                </a:solidFill>
                <a:latin typeface="Google Sans"/>
              </a:rPr>
              <a:t> + </a:t>
            </a:r>
            <a:r>
              <a:rPr b="1" i="0" u="none" sz="900">
                <a:solidFill>
                  <a:schemeClr val="dk1"/>
                </a:solidFill>
                <a:latin typeface="Google Sans"/>
              </a:rPr>
              <a:t>3.0x</a:t>
            </a:r>
            <a:r>
              <a:rPr b="0" i="0" u="none" sz="900">
                <a:solidFill>
                  <a:schemeClr val="dk1"/>
                </a:solidFill>
                <a:latin typeface="Google Sans"/>
              </a:rPr>
              <a:t> exact ID boost) with 768-dim Cosine vectors (</a:t>
            </a:r>
            <a:r>
              <a:rPr b="1" i="0" u="none" sz="900">
                <a:solidFill>
                  <a:schemeClr val="dk1"/>
                </a:solidFill>
                <a:latin typeface="Google Sans"/>
              </a:rPr>
              <a:t>45%</a:t>
            </a:r>
            <a:r>
              <a:rPr b="0" i="0" u="none" sz="900">
                <a:solidFill>
                  <a:schemeClr val="dk1"/>
                </a:solidFill>
                <a:latin typeface="Google Sans"/>
              </a:rPr>
              <a:t>) in SQLite WAL / pgvector.</a:t>
            </a:r>
            <a:endParaRPr sz="900">
              <a:latin typeface="Google Sans"/>
            </a:endParaRPr>
          </a:p>
        </p:txBody>
      </p:sp>
      <p:sp>
        <p:nvSpPr>
          <p:cNvPr id="28" name="TextBox 27"/>
          <p:cNvSpPr txBox="1"/>
          <p:nvPr/>
        </p:nvSpPr>
        <p:spPr>
          <a:xfrm>
            <a:off x="2500313" y="2228850"/>
            <a:ext cx="764381"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C5221F"/>
                </a:solidFill>
                <a:latin typeface="Google Sans"/>
              </a:rPr>
              <a:t>REJECTED</a:t>
            </a:r>
            <a:endParaRPr sz="900">
              <a:latin typeface="Google Sans"/>
            </a:endParaRPr>
          </a:p>
        </p:txBody>
      </p:sp>
      <p:sp>
        <p:nvSpPr>
          <p:cNvPr id="29" name="TextBox 28"/>
          <p:cNvSpPr txBox="1"/>
          <p:nvPr/>
        </p:nvSpPr>
        <p:spPr>
          <a:xfrm>
            <a:off x="2500313" y="2386013"/>
            <a:ext cx="1985963"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Dense-only vectors (0.8125 Recall@3) or 65k-token PDF stuffing ($0.44/run).</a:t>
            </a:r>
            <a:endParaRPr sz="900">
              <a:latin typeface="Google Sans"/>
            </a:endParaRPr>
          </a:p>
        </p:txBody>
      </p:sp>
      <p:sp>
        <p:nvSpPr>
          <p:cNvPr id="30" name="TextBox 29"/>
          <p:cNvSpPr txBox="1"/>
          <p:nvPr/>
        </p:nvSpPr>
        <p:spPr>
          <a:xfrm>
            <a:off x="2500313" y="2828925"/>
            <a:ext cx="1193006"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37333"/>
                </a:solidFill>
                <a:latin typeface="Google Sans"/>
              </a:rPr>
              <a:t>VERIFIED RESULT</a:t>
            </a:r>
            <a:endParaRPr sz="900">
              <a:latin typeface="Google Sans"/>
            </a:endParaRPr>
          </a:p>
        </p:txBody>
      </p:sp>
      <p:sp>
        <p:nvSpPr>
          <p:cNvPr id="31" name="TextBox 30"/>
          <p:cNvSpPr txBox="1"/>
          <p:nvPr/>
        </p:nvSpPr>
        <p:spPr>
          <a:xfrm>
            <a:off x="2500313" y="2986088"/>
            <a:ext cx="2000250"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chemeClr val="dk1"/>
                </a:solidFill>
                <a:latin typeface="Google Sans"/>
              </a:rPr>
              <a:t>1.0000 Recall@3</a:t>
            </a:r>
            <a:r>
              <a:rPr b="0" i="0" u="none" sz="900">
                <a:solidFill>
                  <a:schemeClr val="dk1"/>
                </a:solidFill>
                <a:latin typeface="Google Sans"/>
              </a:rPr>
              <a:t> and </a:t>
            </a:r>
            <a:r>
              <a:rPr b="1" i="0" u="none" sz="900">
                <a:solidFill>
                  <a:schemeClr val="dk1"/>
                </a:solidFill>
                <a:latin typeface="Google Sans"/>
              </a:rPr>
              <a:t>1.0000 MRR</a:t>
            </a:r>
            <a:r>
              <a:rPr b="0" i="0" u="none" sz="900">
                <a:solidFill>
                  <a:schemeClr val="dk1"/>
                </a:solidFill>
                <a:latin typeface="Google Sans"/>
              </a:rPr>
              <a:t> in </a:t>
            </a:r>
            <a:r>
              <a:rPr b="1" i="0" u="none" sz="900">
                <a:solidFill>
                  <a:schemeClr val="dk1"/>
                </a:solidFill>
                <a:latin typeface="Google Sans"/>
              </a:rPr>
              <a:t>1.8ms</a:t>
            </a:r>
            <a:r>
              <a:rPr b="0" i="0" u="none" sz="900">
                <a:solidFill>
                  <a:schemeClr val="dk1"/>
                </a:solidFill>
                <a:latin typeface="Google Sans"/>
              </a:rPr>
              <a:t> with </a:t>
            </a:r>
            <a:r>
              <a:rPr b="1" i="0" u="none" sz="900">
                <a:solidFill>
                  <a:schemeClr val="dk1"/>
                </a:solidFill>
                <a:latin typeface="Google Sans"/>
              </a:rPr>
              <a:t>68%</a:t>
            </a:r>
            <a:r>
              <a:rPr b="0" i="0" u="none" sz="900">
                <a:solidFill>
                  <a:schemeClr val="dk1"/>
                </a:solidFill>
                <a:latin typeface="Google Sans"/>
              </a:rPr>
              <a:t> input token reduction.</a:t>
            </a:r>
            <a:endParaRPr sz="900">
              <a:latin typeface="Google Sans"/>
            </a:endParaRPr>
          </a:p>
        </p:txBody>
      </p:sp>
      <p:sp>
        <p:nvSpPr>
          <p:cNvPr id="32" name="TextBox 31"/>
          <p:cNvSpPr txBox="1"/>
          <p:nvPr/>
        </p:nvSpPr>
        <p:spPr>
          <a:xfrm>
            <a:off x="4657725" y="957263"/>
            <a:ext cx="2000250" cy="3429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1100">
                <a:solidFill>
                  <a:schemeClr val="accent1"/>
                </a:solidFill>
                <a:latin typeface="Google Sans"/>
              </a:rPr>
              <a:t>ADR-04: Local .PPTX + &lt;10ms AABB Gate</a:t>
            </a:r>
            <a:endParaRPr sz="1100">
              <a:latin typeface="Google Sans"/>
            </a:endParaRPr>
          </a:p>
        </p:txBody>
      </p:sp>
      <p:sp>
        <p:nvSpPr>
          <p:cNvPr id="33" name="TextBox 32"/>
          <p:cNvSpPr txBox="1"/>
          <p:nvPr/>
        </p:nvSpPr>
        <p:spPr>
          <a:xfrm>
            <a:off x="4657725" y="1385888"/>
            <a:ext cx="742950"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A73E8"/>
                </a:solidFill>
                <a:latin typeface="Google Sans"/>
              </a:rPr>
              <a:t>DECISION</a:t>
            </a:r>
            <a:endParaRPr sz="900">
              <a:latin typeface="Google Sans"/>
            </a:endParaRPr>
          </a:p>
        </p:txBody>
      </p:sp>
      <p:sp>
        <p:nvSpPr>
          <p:cNvPr id="34" name="TextBox 33"/>
          <p:cNvSpPr txBox="1"/>
          <p:nvPr/>
        </p:nvSpPr>
        <p:spPr>
          <a:xfrm>
            <a:off x="4657725" y="1543050"/>
            <a:ext cx="1985963" cy="58578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dk1"/>
                </a:solidFill>
                <a:latin typeface="Google Sans"/>
              </a:rPr>
              <a:t>Deterministic </a:t>
            </a:r>
            <a:r>
              <a:rPr b="1" i="0" u="none" sz="900">
                <a:solidFill>
                  <a:schemeClr val="dk1"/>
                </a:solidFill>
                <a:latin typeface="Google Sans"/>
              </a:rPr>
              <a:t>python-pptx</a:t>
            </a:r>
            <a:r>
              <a:rPr b="0" i="0" u="none" sz="900">
                <a:solidFill>
                  <a:schemeClr val="dk1"/>
                </a:solidFill>
                <a:latin typeface="Google Sans"/>
              </a:rPr>
              <a:t> OpenXML compiler (FM-2 font solver &gt;=12.0pt) + </a:t>
            </a:r>
            <a:r>
              <a:rPr b="1" i="0" u="none" sz="900">
                <a:solidFill>
                  <a:schemeClr val="dk1"/>
                </a:solidFill>
                <a:latin typeface="Google Sans"/>
              </a:rPr>
              <a:t>3.4ms</a:t>
            </a:r>
            <a:r>
              <a:rPr b="0" i="0" u="none" sz="900">
                <a:solidFill>
                  <a:schemeClr val="dk1"/>
                </a:solidFill>
                <a:latin typeface="Google Sans"/>
              </a:rPr>
              <a:t> Stage-1 AABB check before Vision QA.</a:t>
            </a:r>
            <a:endParaRPr sz="900">
              <a:latin typeface="Google Sans"/>
            </a:endParaRPr>
          </a:p>
        </p:txBody>
      </p:sp>
      <p:sp>
        <p:nvSpPr>
          <p:cNvPr id="35" name="TextBox 34"/>
          <p:cNvSpPr txBox="1"/>
          <p:nvPr/>
        </p:nvSpPr>
        <p:spPr>
          <a:xfrm>
            <a:off x="4657725" y="2228850"/>
            <a:ext cx="764381"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C5221F"/>
                </a:solidFill>
                <a:latin typeface="Google Sans"/>
              </a:rPr>
              <a:t>REJECTED</a:t>
            </a:r>
            <a:endParaRPr sz="900">
              <a:latin typeface="Google Sans"/>
            </a:endParaRPr>
          </a:p>
        </p:txBody>
      </p:sp>
      <p:sp>
        <p:nvSpPr>
          <p:cNvPr id="36" name="TextBox 35"/>
          <p:cNvSpPr txBox="1"/>
          <p:nvPr/>
        </p:nvSpPr>
        <p:spPr>
          <a:xfrm>
            <a:off x="4657725" y="2386013"/>
            <a:ext cx="2000250"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Vision-only QA ($0.09/deck, 10s lag) or raw LLM coordinates.</a:t>
            </a:r>
            <a:endParaRPr sz="900">
              <a:latin typeface="Google Sans"/>
            </a:endParaRPr>
          </a:p>
        </p:txBody>
      </p:sp>
      <p:sp>
        <p:nvSpPr>
          <p:cNvPr id="37" name="TextBox 36"/>
          <p:cNvSpPr txBox="1"/>
          <p:nvPr/>
        </p:nvSpPr>
        <p:spPr>
          <a:xfrm>
            <a:off x="4657725" y="2828925"/>
            <a:ext cx="1193006"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37333"/>
                </a:solidFill>
                <a:latin typeface="Google Sans"/>
              </a:rPr>
              <a:t>VERIFIED RESULT</a:t>
            </a:r>
            <a:endParaRPr sz="900">
              <a:latin typeface="Google Sans"/>
            </a:endParaRPr>
          </a:p>
        </p:txBody>
      </p:sp>
      <p:sp>
        <p:nvSpPr>
          <p:cNvPr id="38" name="TextBox 37"/>
          <p:cNvSpPr txBox="1"/>
          <p:nvPr/>
        </p:nvSpPr>
        <p:spPr>
          <a:xfrm>
            <a:off x="4657725" y="2986088"/>
            <a:ext cx="1985963" cy="442913"/>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chemeClr val="dk1"/>
                </a:solidFill>
                <a:latin typeface="Google Sans"/>
              </a:rPr>
              <a:t>0</a:t>
            </a:r>
            <a:r>
              <a:rPr b="0" i="0" u="none" sz="900">
                <a:solidFill>
                  <a:schemeClr val="dk1"/>
                </a:solidFill>
                <a:latin typeface="Google Sans"/>
              </a:rPr>
              <a:t> bounding-box overlaps across all 149 badges + 2 to 4s Drive v3 conversion to Google Slides.</a:t>
            </a:r>
            <a:endParaRPr sz="900">
              <a:latin typeface="Google Sans"/>
            </a:endParaRPr>
          </a:p>
        </p:txBody>
      </p:sp>
      <p:sp>
        <p:nvSpPr>
          <p:cNvPr id="39" name="TextBox 38"/>
          <p:cNvSpPr txBox="1"/>
          <p:nvPr/>
        </p:nvSpPr>
        <p:spPr>
          <a:xfrm>
            <a:off x="6815138" y="957263"/>
            <a:ext cx="1985963" cy="342900"/>
          </a:xfrm>
          <a:prstGeom prst="rect">
            <a:avLst/>
          </a:prstGeom>
          <a:noFill/>
          <a:ln>
            <a:noFill/>
          </a:ln>
          <a:effectLst/>
        </p:spPr>
        <p:txBody>
          <a:bodyPr wrap="square" anchor="t" lIns="0" rIns="0" tIns="0" bIns="0">
            <a:noAutofit/>
          </a:bodyPr>
          <a:lstStyle/>
          <a:p>
            <a:pPr algn="l">
              <a:lnSpc>
                <a:spcPct val="95830"/>
              </a:lnSpc>
              <a:spcBef>
                <a:spcPts val="0"/>
              </a:spcBef>
              <a:spcAft>
                <a:spcPts val="0"/>
              </a:spcAft>
            </a:pPr>
            <a:r>
              <a:rPr b="1" i="0" u="none" sz="1100">
                <a:solidFill>
                  <a:srgbClr val="137333"/>
                </a:solidFill>
                <a:latin typeface="Google Sans"/>
              </a:rPr>
              <a:t>ADR-10 &amp; ADR-11: Style Resolver &amp; As-Built Scope</a:t>
            </a:r>
            <a:endParaRPr sz="1100">
              <a:latin typeface="Google Sans"/>
            </a:endParaRPr>
          </a:p>
        </p:txBody>
      </p:sp>
      <p:sp>
        <p:nvSpPr>
          <p:cNvPr id="40" name="TextBox 39"/>
          <p:cNvSpPr txBox="1"/>
          <p:nvPr/>
        </p:nvSpPr>
        <p:spPr>
          <a:xfrm>
            <a:off x="6815138" y="1385888"/>
            <a:ext cx="742950"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A73E8"/>
                </a:solidFill>
                <a:latin typeface="Google Sans"/>
              </a:rPr>
              <a:t>DECISION</a:t>
            </a:r>
            <a:endParaRPr sz="900">
              <a:latin typeface="Google Sans"/>
            </a:endParaRPr>
          </a:p>
        </p:txBody>
      </p:sp>
      <p:sp>
        <p:nvSpPr>
          <p:cNvPr id="41" name="TextBox 40"/>
          <p:cNvSpPr txBox="1"/>
          <p:nvPr/>
        </p:nvSpPr>
        <p:spPr>
          <a:xfrm>
            <a:off x="6815138" y="1543050"/>
            <a:ext cx="2000250" cy="58578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dk1"/>
                </a:solidFill>
                <a:latin typeface="Google Sans"/>
              </a:rPr>
              <a:t>4-tier </a:t>
            </a:r>
            <a:r>
              <a:rPr b="1" i="0" u="none" sz="900">
                <a:solidFill>
                  <a:schemeClr val="dk1"/>
                </a:solidFill>
                <a:latin typeface="Google Sans"/>
              </a:rPr>
              <a:t>CLEAN_OPEN</a:t>
            </a:r>
            <a:r>
              <a:rPr b="0" i="0" u="none" sz="900">
                <a:solidFill>
                  <a:schemeClr val="dk1"/>
                </a:solidFill>
                <a:latin typeface="Google Sans"/>
              </a:rPr>
              <a:t> style resolver + </a:t>
            </a:r>
            <a:r>
              <a:rPr b="1" i="0" u="none" sz="900">
                <a:solidFill>
                  <a:schemeClr val="dk1"/>
                </a:solidFill>
                <a:latin typeface="Google Sans"/>
              </a:rPr>
              <a:t>ADR-11</a:t>
            </a:r>
            <a:r>
              <a:rPr b="0" i="0" u="none" sz="900">
                <a:solidFill>
                  <a:schemeClr val="dk1"/>
                </a:solidFill>
                <a:latin typeface="Google Sans"/>
              </a:rPr>
              <a:t> As-Built vs. Phase 2 scope matrix + dual latency telemetry.</a:t>
            </a:r>
            <a:endParaRPr sz="900">
              <a:latin typeface="Google Sans"/>
            </a:endParaRPr>
          </a:p>
        </p:txBody>
      </p:sp>
      <p:sp>
        <p:nvSpPr>
          <p:cNvPr id="42" name="TextBox 41"/>
          <p:cNvSpPr txBox="1"/>
          <p:nvPr/>
        </p:nvSpPr>
        <p:spPr>
          <a:xfrm>
            <a:off x="6815138" y="2228850"/>
            <a:ext cx="2007394" cy="457200"/>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rgbClr val="C5221F"/>
                </a:solidFill>
                <a:latin typeface="Google Sans"/>
              </a:rPr>
              <a:t>REJECTED</a:t>
            </a:r>
            <a:endParaRPr sz="900">
              <a:latin typeface="Google Sans"/>
            </a:endParaRPr>
          </a:p>
          <a:p>
            <a:pPr algn="l">
              <a:lnSpc>
                <a:spcPct val="104170"/>
              </a:lnSpc>
              <a:spcBef>
                <a:spcPts val="0"/>
              </a:spcBef>
              <a:spcAft>
                <a:spcPts val="0"/>
              </a:spcAft>
            </a:pPr>
            <a:r>
              <a:rPr b="0" i="0" u="none" sz="900">
                <a:solidFill>
                  <a:schemeClr val="accent5"/>
                </a:solidFill>
                <a:latin typeface="Google Sans"/>
              </a:rPr>
              <a:t>4-sided card "box-itis" and conflating SSE ack with true LLM TTFT.</a:t>
            </a:r>
            <a:endParaRPr sz="900">
              <a:latin typeface="Google Sans"/>
            </a:endParaRPr>
          </a:p>
        </p:txBody>
      </p:sp>
      <p:sp>
        <p:nvSpPr>
          <p:cNvPr id="43" name="TextBox 42"/>
          <p:cNvSpPr txBox="1"/>
          <p:nvPr/>
        </p:nvSpPr>
        <p:spPr>
          <a:xfrm>
            <a:off x="6815138" y="2828925"/>
            <a:ext cx="1193006" cy="142875"/>
          </a:xfrm>
          <a:prstGeom prst="rect">
            <a:avLst/>
          </a:prstGeom>
          <a:noFill/>
          <a:ln>
            <a:noFill/>
          </a:ln>
          <a:effectLst/>
        </p:spPr>
        <p:txBody>
          <a:bodyPr wrap="none" anchor="t" lIns="0" rIns="0" tIns="3574" bIns="0">
            <a:noAutofit/>
          </a:bodyPr>
          <a:lstStyle/>
          <a:p>
            <a:pPr algn="l">
              <a:lnSpc>
                <a:spcPct val="104170"/>
              </a:lnSpc>
              <a:spcBef>
                <a:spcPts val="0"/>
              </a:spcBef>
              <a:spcAft>
                <a:spcPts val="0"/>
              </a:spcAft>
            </a:pPr>
            <a:r>
              <a:rPr b="1" i="0" u="none" sz="900">
                <a:solidFill>
                  <a:srgbClr val="137333"/>
                </a:solidFill>
                <a:latin typeface="Google Sans"/>
              </a:rPr>
              <a:t>VERIFIED RESULT</a:t>
            </a:r>
            <a:endParaRPr sz="900">
              <a:latin typeface="Google Sans"/>
            </a:endParaRPr>
          </a:p>
        </p:txBody>
      </p:sp>
      <p:sp>
        <p:nvSpPr>
          <p:cNvPr id="44" name="TextBox 43"/>
          <p:cNvSpPr txBox="1"/>
          <p:nvPr/>
        </p:nvSpPr>
        <p:spPr>
          <a:xfrm>
            <a:off x="6815138" y="2986088"/>
            <a:ext cx="1985963" cy="442913"/>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chemeClr val="dk1"/>
                </a:solidFill>
                <a:latin typeface="Google Sans"/>
              </a:rPr>
              <a:t>+2.97pt to +3.28pt</a:t>
            </a:r>
            <a:r>
              <a:rPr b="0" i="0" u="none" sz="900">
                <a:solidFill>
                  <a:schemeClr val="dk1"/>
                </a:solidFill>
                <a:latin typeface="Google Sans"/>
              </a:rPr>
              <a:t> larger body fonts, </a:t>
            </a:r>
            <a:r>
              <a:rPr b="1" i="0" u="none" sz="900">
                <a:solidFill>
                  <a:schemeClr val="dk1"/>
                </a:solidFill>
                <a:latin typeface="Google Sans"/>
              </a:rPr>
              <a:t>+21.7%</a:t>
            </a:r>
            <a:r>
              <a:rPr b="0" i="0" u="none" sz="900">
                <a:solidFill>
                  <a:schemeClr val="dk1"/>
                </a:solidFill>
                <a:latin typeface="Google Sans"/>
              </a:rPr>
              <a:t> larger visuals, </a:t>
            </a:r>
            <a:r>
              <a:rPr b="1" i="0" u="none" sz="900">
                <a:solidFill>
                  <a:schemeClr val="dk1"/>
                </a:solidFill>
                <a:latin typeface="Google Sans"/>
              </a:rPr>
              <a:t>-60%</a:t>
            </a:r>
            <a:r>
              <a:rPr b="0" i="0" u="none" sz="900">
                <a:solidFill>
                  <a:schemeClr val="dk1"/>
                </a:solidFill>
                <a:latin typeface="Google Sans"/>
              </a:rPr>
              <a:t> shapes, and </a:t>
            </a:r>
            <a:r>
              <a:rPr b="1" i="0" u="none" sz="900">
                <a:solidFill>
                  <a:schemeClr val="dk1"/>
                </a:solidFill>
                <a:latin typeface="Google Sans"/>
              </a:rPr>
              <a:t>96.5/100</a:t>
            </a:r>
            <a:r>
              <a:rPr b="0" i="0" u="none" sz="900">
                <a:solidFill>
                  <a:schemeClr val="dk1"/>
                </a:solidFill>
                <a:latin typeface="Google Sans"/>
              </a:rPr>
              <a:t> visual quality score.</a:t>
            </a:r>
            <a:endParaRPr sz="900">
              <a:latin typeface="Google Sans"/>
            </a:endParaRPr>
          </a:p>
        </p:txBody>
      </p:sp>
      <p:sp>
        <p:nvSpPr>
          <p:cNvPr id="45" name="Rectangle 44"/>
          <p:cNvSpPr/>
          <p:nvPr/>
        </p:nvSpPr>
        <p:spPr>
          <a:xfrm>
            <a:off x="342900" y="3700463"/>
            <a:ext cx="8458200" cy="957263"/>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title="slideops:meta r=b s=t c=2px_solid_#1a73e8 p=48,518,1184,134"/>
          <p:cNvCxnSpPr/>
          <p:nvPr/>
        </p:nvCxnSpPr>
        <p:spPr>
          <a:xfrm>
            <a:off x="342900" y="3700463"/>
            <a:ext cx="8458200" cy="0"/>
          </a:xfrm>
          <a:prstGeom prst="line">
            <a:avLst/>
          </a:prstGeom>
          <a:ln w="14287">
            <a:solidFill>
              <a:srgbClr val="1A73E8"/>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57200" y="3786188"/>
            <a:ext cx="2057400" cy="171450"/>
          </a:xfrm>
          <a:prstGeom prst="rect">
            <a:avLst/>
          </a:prstGeom>
          <a:noFill/>
          <a:ln>
            <a:noFill/>
          </a:ln>
          <a:effectLst/>
        </p:spPr>
        <p:txBody>
          <a:bodyPr wrap="none" anchor="t" lIns="0" rIns="0" tIns="7698" bIns="0">
            <a:noAutofit/>
          </a:bodyPr>
          <a:lstStyle/>
          <a:p>
            <a:pPr algn="l">
              <a:lnSpc>
                <a:spcPct val="112500"/>
              </a:lnSpc>
              <a:spcBef>
                <a:spcPts val="0"/>
              </a:spcBef>
              <a:spcAft>
                <a:spcPts val="0"/>
              </a:spcAft>
            </a:pPr>
            <a:r>
              <a:rPr b="1" i="0" u="none" sz="900">
                <a:solidFill>
                  <a:schemeClr val="accent1"/>
                </a:solidFill>
                <a:latin typeface="Google Sans"/>
              </a:rPr>
              <a:t>11 ADRs &amp; Pre-Coding Harness</a:t>
            </a:r>
            <a:endParaRPr sz="900">
              <a:latin typeface="Google Sans"/>
            </a:endParaRPr>
          </a:p>
        </p:txBody>
      </p:sp>
      <p:sp>
        <p:nvSpPr>
          <p:cNvPr id="48" name="TextBox 47"/>
          <p:cNvSpPr txBox="1"/>
          <p:nvPr/>
        </p:nvSpPr>
        <p:spPr>
          <a:xfrm>
            <a:off x="457200" y="3971925"/>
            <a:ext cx="1871663" cy="564356"/>
          </a:xfrm>
          <a:prstGeom prst="rect">
            <a:avLst/>
          </a:prstGeom>
          <a:noFill/>
          <a:ln>
            <a:noFill/>
          </a:ln>
          <a:effectLst/>
        </p:spPr>
        <p:txBody>
          <a:bodyPr wrap="square" anchor="t" lIns="0" rIns="0" tIns="6843" bIns="0">
            <a:noAutofit/>
          </a:bodyPr>
          <a:lstStyle/>
          <a:p>
            <a:pPr algn="l">
              <a:lnSpc>
                <a:spcPct val="112500"/>
              </a:lnSpc>
              <a:spcBef>
                <a:spcPts val="0"/>
              </a:spcBef>
              <a:spcAft>
                <a:spcPts val="0"/>
              </a:spcAft>
            </a:pPr>
            <a:r>
              <a:rPr b="1" i="0" u="none" sz="800">
                <a:solidFill>
                  <a:schemeClr val="dk1"/>
                </a:solidFill>
                <a:latin typeface="Google Sans"/>
              </a:rPr>
              <a:t>ADR-01..ADR-11</a:t>
            </a:r>
            <a:r>
              <a:rPr b="0" i="0" u="none" sz="800">
                <a:solidFill>
                  <a:schemeClr val="dk1"/>
                </a:solidFill>
                <a:latin typeface="Google Sans"/>
              </a:rPr>
              <a:t> (As-Built Reconciliation) + SHA-256 </a:t>
            </a:r>
            <a:r>
              <a:rPr b="1" i="0" u="none" sz="800">
                <a:solidFill>
                  <a:schemeClr val="dk1"/>
                </a:solidFill>
                <a:latin typeface="Google Sans"/>
              </a:rPr>
              <a:t>prompts/manifest.json</a:t>
            </a:r>
            <a:r>
              <a:rPr b="0" i="0" u="none" sz="800">
                <a:solidFill>
                  <a:schemeClr val="dk1"/>
                </a:solidFill>
                <a:latin typeface="Google Sans"/>
              </a:rPr>
              <a:t> + 4 post-mortems (</a:t>
            </a:r>
            <a:r>
              <a:rPr b="1" i="0" u="none" sz="800">
                <a:solidFill>
                  <a:schemeClr val="dk1"/>
                </a:solidFill>
                <a:latin typeface="Google Sans"/>
              </a:rPr>
              <a:t>FM-1..FM-4</a:t>
            </a:r>
            <a:r>
              <a:rPr b="0" i="0" u="none" sz="800">
                <a:solidFill>
                  <a:schemeClr val="dk1"/>
                </a:solidFill>
                <a:latin typeface="Google Sans"/>
              </a:rPr>
              <a:t>)</a:t>
            </a:r>
            <a:endParaRPr sz="800">
              <a:latin typeface="Google Sans"/>
            </a:endParaRPr>
          </a:p>
        </p:txBody>
      </p:sp>
      <p:sp>
        <p:nvSpPr>
          <p:cNvPr id="49" name="TextBox 48"/>
          <p:cNvSpPr txBox="1"/>
          <p:nvPr/>
        </p:nvSpPr>
        <p:spPr>
          <a:xfrm>
            <a:off x="2571750" y="3786188"/>
            <a:ext cx="2014538" cy="171450"/>
          </a:xfrm>
          <a:prstGeom prst="rect">
            <a:avLst/>
          </a:prstGeom>
          <a:noFill/>
          <a:ln>
            <a:noFill/>
          </a:ln>
          <a:effectLst/>
        </p:spPr>
        <p:txBody>
          <a:bodyPr wrap="none" anchor="t" lIns="0" rIns="0" tIns="7698" bIns="0">
            <a:noAutofit/>
          </a:bodyPr>
          <a:lstStyle/>
          <a:p>
            <a:pPr algn="l">
              <a:lnSpc>
                <a:spcPct val="112500"/>
              </a:lnSpc>
              <a:spcBef>
                <a:spcPts val="0"/>
              </a:spcBef>
              <a:spcAft>
                <a:spcPts val="0"/>
              </a:spcAft>
            </a:pPr>
            <a:r>
              <a:rPr b="1" i="0" u="none" sz="900">
                <a:solidFill>
                  <a:schemeClr val="accent1"/>
                </a:solidFill>
                <a:latin typeface="Google Sans"/>
              </a:rPr>
              <a:t>220+ Pytest Tests &amp; Dual Latency</a:t>
            </a:r>
            <a:endParaRPr sz="900">
              <a:latin typeface="Google Sans"/>
            </a:endParaRPr>
          </a:p>
        </p:txBody>
      </p:sp>
      <p:sp>
        <p:nvSpPr>
          <p:cNvPr id="50" name="TextBox 49"/>
          <p:cNvSpPr txBox="1"/>
          <p:nvPr/>
        </p:nvSpPr>
        <p:spPr>
          <a:xfrm>
            <a:off x="2571750" y="3971925"/>
            <a:ext cx="1871663" cy="564356"/>
          </a:xfrm>
          <a:prstGeom prst="rect">
            <a:avLst/>
          </a:prstGeom>
          <a:noFill/>
          <a:ln>
            <a:noFill/>
          </a:ln>
          <a:effectLst/>
        </p:spPr>
        <p:txBody>
          <a:bodyPr wrap="square" anchor="t" lIns="0" rIns="0" tIns="6843" bIns="0">
            <a:noAutofit/>
          </a:bodyPr>
          <a:lstStyle/>
          <a:p>
            <a:pPr algn="l">
              <a:lnSpc>
                <a:spcPct val="112500"/>
              </a:lnSpc>
              <a:spcBef>
                <a:spcPts val="0"/>
              </a:spcBef>
              <a:spcAft>
                <a:spcPts val="0"/>
              </a:spcAft>
            </a:pPr>
            <a:r>
              <a:rPr b="1" i="0" u="none" sz="800">
                <a:solidFill>
                  <a:schemeClr val="dk1"/>
                </a:solidFill>
                <a:latin typeface="Google Sans"/>
              </a:rPr>
              <a:t>220+</a:t>
            </a:r>
            <a:r>
              <a:rPr b="0" i="0" u="none" sz="800">
                <a:solidFill>
                  <a:schemeClr val="dk1"/>
                </a:solidFill>
                <a:latin typeface="Google Sans"/>
              </a:rPr>
              <a:t> passing tests (45 files, 0 warnings, &lt;30s CI) + Honest Telemetry (</a:t>
            </a:r>
            <a:r>
              <a:rPr b="1" i="0" u="none" sz="800">
                <a:solidFill>
                  <a:schemeClr val="dk1"/>
                </a:solidFill>
                <a:latin typeface="Google Sans"/>
              </a:rPr>
              <a:t>first_status_event_ms</a:t>
            </a:r>
            <a:r>
              <a:rPr b="0" i="0" u="none" sz="800">
                <a:solidFill>
                  <a:schemeClr val="dk1"/>
                </a:solidFill>
                <a:latin typeface="Google Sans"/>
              </a:rPr>
              <a:t> 12ms vs </a:t>
            </a:r>
            <a:r>
              <a:rPr b="1" i="0" u="none" sz="800">
                <a:solidFill>
                  <a:schemeClr val="dk1"/>
                </a:solidFill>
                <a:latin typeface="Google Sans"/>
              </a:rPr>
              <a:t>true_ttft_ms</a:t>
            </a:r>
            <a:r>
              <a:rPr b="0" i="0" u="none" sz="800">
                <a:solidFill>
                  <a:schemeClr val="dk1"/>
                </a:solidFill>
                <a:latin typeface="Google Sans"/>
              </a:rPr>
              <a:t> 480ms)</a:t>
            </a:r>
            <a:endParaRPr sz="800">
              <a:latin typeface="Google Sans"/>
            </a:endParaRPr>
          </a:p>
        </p:txBody>
      </p:sp>
      <p:sp>
        <p:nvSpPr>
          <p:cNvPr id="51" name="TextBox 50"/>
          <p:cNvSpPr txBox="1"/>
          <p:nvPr/>
        </p:nvSpPr>
        <p:spPr>
          <a:xfrm>
            <a:off x="4686300" y="3786188"/>
            <a:ext cx="2057400" cy="171450"/>
          </a:xfrm>
          <a:prstGeom prst="rect">
            <a:avLst/>
          </a:prstGeom>
          <a:noFill/>
          <a:ln>
            <a:noFill/>
          </a:ln>
          <a:effectLst/>
        </p:spPr>
        <p:txBody>
          <a:bodyPr wrap="none" anchor="t" lIns="0" rIns="0" tIns="7698" bIns="0">
            <a:noAutofit/>
          </a:bodyPr>
          <a:lstStyle/>
          <a:p>
            <a:pPr algn="l">
              <a:lnSpc>
                <a:spcPct val="112500"/>
              </a:lnSpc>
              <a:spcBef>
                <a:spcPts val="0"/>
              </a:spcBef>
              <a:spcAft>
                <a:spcPts val="0"/>
              </a:spcAft>
            </a:pPr>
            <a:r>
              <a:rPr b="1" i="0" u="none" sz="900">
                <a:solidFill>
                  <a:schemeClr val="accent1"/>
                </a:solidFill>
                <a:latin typeface="Google Sans"/>
              </a:rPr>
              <a:t>162 OpenAPI 3.1 Paths</a:t>
            </a:r>
            <a:endParaRPr sz="900">
              <a:latin typeface="Google Sans"/>
            </a:endParaRPr>
          </a:p>
        </p:txBody>
      </p:sp>
      <p:sp>
        <p:nvSpPr>
          <p:cNvPr id="52" name="TextBox 51"/>
          <p:cNvSpPr txBox="1"/>
          <p:nvPr/>
        </p:nvSpPr>
        <p:spPr>
          <a:xfrm>
            <a:off x="4686300" y="3971925"/>
            <a:ext cx="1885951" cy="564356"/>
          </a:xfrm>
          <a:prstGeom prst="rect">
            <a:avLst/>
          </a:prstGeom>
          <a:noFill/>
          <a:ln>
            <a:noFill/>
          </a:ln>
          <a:effectLst/>
        </p:spPr>
        <p:txBody>
          <a:bodyPr wrap="square" anchor="t" lIns="0" rIns="0" tIns="6843" bIns="0">
            <a:noAutofit/>
          </a:bodyPr>
          <a:lstStyle/>
          <a:p>
            <a:pPr algn="l">
              <a:lnSpc>
                <a:spcPct val="112500"/>
              </a:lnSpc>
              <a:spcBef>
                <a:spcPts val="0"/>
              </a:spcBef>
              <a:spcAft>
                <a:spcPts val="0"/>
              </a:spcAft>
            </a:pPr>
            <a:r>
              <a:rPr b="0" i="0" u="none" sz="800">
                <a:solidFill>
                  <a:schemeClr val="dk1"/>
                </a:solidFill>
                <a:latin typeface="Google Sans"/>
              </a:rPr>
              <a:t>Automated route-to-schema contract drift test + </a:t>
            </a:r>
            <a:r>
              <a:rPr b="1" i="0" u="none" sz="800">
                <a:solidFill>
                  <a:schemeClr val="dk1"/>
                </a:solidFill>
                <a:latin typeface="Google Sans"/>
              </a:rPr>
              <a:t>27 MCP capabilities</a:t>
            </a:r>
            <a:r>
              <a:rPr b="0" i="0" u="none" sz="800">
                <a:solidFill>
                  <a:schemeClr val="dk1"/>
                </a:solidFill>
                <a:latin typeface="Google Sans"/>
              </a:rPr>
              <a:t> (</a:t>
            </a:r>
            <a:r>
              <a:rPr b="1" i="0" u="none" sz="800">
                <a:solidFill>
                  <a:schemeClr val="dk1"/>
                </a:solidFill>
                <a:latin typeface="Google Sans"/>
              </a:rPr>
              <a:t>15</a:t>
            </a:r>
            <a:r>
              <a:rPr b="0" i="0" u="none" sz="800">
                <a:solidFill>
                  <a:schemeClr val="dk1"/>
                </a:solidFill>
                <a:latin typeface="Google Sans"/>
              </a:rPr>
              <a:t> tools, </a:t>
            </a:r>
            <a:r>
              <a:rPr b="1" i="0" u="none" sz="800">
                <a:solidFill>
                  <a:schemeClr val="dk1"/>
                </a:solidFill>
                <a:latin typeface="Google Sans"/>
              </a:rPr>
              <a:t>7</a:t>
            </a:r>
            <a:r>
              <a:rPr b="0" i="0" u="none" sz="800">
                <a:solidFill>
                  <a:schemeClr val="dk1"/>
                </a:solidFill>
                <a:latin typeface="Google Sans"/>
              </a:rPr>
              <a:t> resources, </a:t>
            </a:r>
            <a:r>
              <a:rPr b="1" i="0" u="none" sz="800">
                <a:solidFill>
                  <a:schemeClr val="dk1"/>
                </a:solidFill>
                <a:latin typeface="Google Sans"/>
              </a:rPr>
              <a:t>5</a:t>
            </a:r>
            <a:r>
              <a:rPr b="0" i="0" u="none" sz="800">
                <a:solidFill>
                  <a:schemeClr val="dk1"/>
                </a:solidFill>
                <a:latin typeface="Google Sans"/>
              </a:rPr>
              <a:t> prompts)</a:t>
            </a:r>
            <a:endParaRPr sz="800">
              <a:latin typeface="Google Sans"/>
            </a:endParaRPr>
          </a:p>
        </p:txBody>
      </p:sp>
      <p:sp>
        <p:nvSpPr>
          <p:cNvPr id="53" name="TextBox 52"/>
          <p:cNvSpPr txBox="1"/>
          <p:nvPr/>
        </p:nvSpPr>
        <p:spPr>
          <a:xfrm>
            <a:off x="6800850" y="3786188"/>
            <a:ext cx="1943100" cy="171450"/>
          </a:xfrm>
          <a:prstGeom prst="rect">
            <a:avLst/>
          </a:prstGeom>
          <a:noFill/>
          <a:ln>
            <a:noFill/>
          </a:ln>
          <a:effectLst/>
        </p:spPr>
        <p:txBody>
          <a:bodyPr wrap="none" anchor="t" lIns="0" rIns="0" tIns="7698" bIns="0">
            <a:noAutofit/>
          </a:bodyPr>
          <a:lstStyle/>
          <a:p>
            <a:pPr algn="l">
              <a:lnSpc>
                <a:spcPct val="112500"/>
              </a:lnSpc>
              <a:spcBef>
                <a:spcPts val="0"/>
              </a:spcBef>
              <a:spcAft>
                <a:spcPts val="0"/>
              </a:spcAft>
            </a:pPr>
            <a:r>
              <a:rPr b="1" i="0" u="none" sz="900">
                <a:solidFill>
                  <a:srgbClr val="137333"/>
                </a:solidFill>
                <a:latin typeface="Google Sans"/>
              </a:rPr>
              <a:t>Eval Gate &amp; 5% Trace Sampler</a:t>
            </a:r>
            <a:endParaRPr sz="900">
              <a:latin typeface="Google Sans"/>
            </a:endParaRPr>
          </a:p>
        </p:txBody>
      </p:sp>
      <p:sp>
        <p:nvSpPr>
          <p:cNvPr id="54" name="TextBox 53"/>
          <p:cNvSpPr txBox="1"/>
          <p:nvPr/>
        </p:nvSpPr>
        <p:spPr>
          <a:xfrm>
            <a:off x="6800850" y="3971925"/>
            <a:ext cx="1885950" cy="564356"/>
          </a:xfrm>
          <a:prstGeom prst="rect">
            <a:avLst/>
          </a:prstGeom>
          <a:noFill/>
          <a:ln>
            <a:noFill/>
          </a:ln>
          <a:effectLst/>
        </p:spPr>
        <p:txBody>
          <a:bodyPr wrap="square" anchor="t" lIns="0" rIns="0" tIns="6843" bIns="0">
            <a:noAutofit/>
          </a:bodyPr>
          <a:lstStyle/>
          <a:p>
            <a:pPr algn="l">
              <a:lnSpc>
                <a:spcPct val="112500"/>
              </a:lnSpc>
              <a:spcBef>
                <a:spcPts val="0"/>
              </a:spcBef>
              <a:spcAft>
                <a:spcPts val="0"/>
              </a:spcAft>
            </a:pPr>
            <a:r>
              <a:rPr b="1" i="0" u="none" sz="800">
                <a:solidFill>
                  <a:schemeClr val="dk1"/>
                </a:solidFill>
                <a:latin typeface="Google Sans"/>
              </a:rPr>
              <a:t>scripts/run_eval.py</a:t>
            </a:r>
            <a:r>
              <a:rPr b="0" i="0" u="none" sz="800">
                <a:solidFill>
                  <a:schemeClr val="dk1"/>
                </a:solidFill>
                <a:latin typeface="Google Sans"/>
              </a:rPr>
              <a:t> (20 Golden Badges) + </a:t>
            </a:r>
            <a:r>
              <a:rPr b="1" i="0" u="none" sz="800">
                <a:solidFill>
                  <a:schemeClr val="dk1"/>
                </a:solidFill>
                <a:latin typeface="Google Sans"/>
              </a:rPr>
              <a:t>OnlineProductionAuditSampler</a:t>
            </a:r>
            <a:r>
              <a:rPr b="0" i="0" u="none" sz="800">
                <a:solidFill>
                  <a:schemeClr val="dk1"/>
                </a:solidFill>
                <a:latin typeface="Google Sans"/>
              </a:rPr>
              <a:t> (</a:t>
            </a:r>
            <a:r>
              <a:rPr b="1" i="0" u="none" sz="800">
                <a:solidFill>
                  <a:schemeClr val="dk1"/>
                </a:solidFill>
                <a:latin typeface="Google Sans"/>
              </a:rPr>
              <a:t>5%</a:t>
            </a:r>
            <a:r>
              <a:rPr b="0" i="0" u="none" sz="800">
                <a:solidFill>
                  <a:schemeClr val="dk1"/>
                </a:solidFill>
                <a:latin typeface="Google Sans"/>
              </a:rPr>
              <a:t> live trace audit + auto-promotion)</a:t>
            </a:r>
            <a:endParaRPr sz="800">
              <a:latin typeface="Google Sans"/>
            </a:endParaRPr>
          </a:p>
        </p:txBody>
      </p:sp>
      <p:sp>
        <p:nvSpPr>
          <p:cNvPr id="55" name="TextBox 54"/>
          <p:cNvSpPr txBox="1"/>
          <p:nvPr/>
        </p:nvSpPr>
        <p:spPr>
          <a:xfrm>
            <a:off x="342900" y="4929188"/>
            <a:ext cx="8772525" cy="142875"/>
          </a:xfrm>
          <a:prstGeom prst="rect">
            <a:avLst/>
          </a:prstGeom>
          <a:noFill/>
          <a:ln>
            <a:noFill/>
          </a:ln>
          <a:effectLst/>
        </p:spPr>
        <p:txBody>
          <a:bodyPr wrap="none" anchor="t" lIns="0" rIns="0" tIns="51012" bIns="0">
            <a:noAutofit/>
          </a:bodyPr>
          <a:lstStyle/>
          <a:p>
            <a:pPr algn="l">
              <a:lnSpc>
                <a:spcPct val="100000"/>
              </a:lnSpc>
              <a:spcBef>
                <a:spcPts val="0"/>
              </a:spcBef>
              <a:spcAft>
                <a:spcPts val="0"/>
              </a:spcAft>
            </a:pPr>
            <a:r>
              <a:rPr b="0" i="0" u="none" sz="600">
                <a:solidFill>
                  <a:schemeClr val="accent5"/>
                </a:solidFill>
                <a:latin typeface="Google Sans"/>
              </a:rPr>
              <a:t>Source: ARCHITECTURE_DECISIONS.md (ADR-01..ADR-11), AGENTS.md, scripts/run_eval.py (20 golden badges), src/observability/online_audit_sampler.py (OnlineProductionAuditSampler).</a:t>
            </a:r>
            <a:endParaRPr sz="600">
              <a:latin typeface="Google Sans"/>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71450"/>
            <a:ext cx="8458200" cy="628650"/>
          </a:xfrm>
          <a:prstGeom prst="rect">
            <a:avLst/>
          </a:prstGeom>
          <a:noFill/>
          <a:ln>
            <a:noFill/>
          </a:ln>
          <a:effectLst/>
        </p:spPr>
        <p:txBody>
          <a:bodyPr wrap="square" anchor="t" lIns="0" rIns="0" tIns="6353" bIns="0">
            <a:noAutofit/>
          </a:bodyPr>
          <a:lstStyle/>
          <a:p>
            <a:pPr algn="l">
              <a:lnSpc>
                <a:spcPct val="104170"/>
              </a:lnSpc>
              <a:spcBef>
                <a:spcPts val="0"/>
              </a:spcBef>
              <a:spcAft>
                <a:spcPts val="0"/>
              </a:spcAft>
            </a:pPr>
            <a:r>
              <a:rPr b="0" i="0" u="none" sz="1600">
                <a:solidFill>
                  <a:schemeClr val="dk1"/>
                </a:solidFill>
                <a:latin typeface="Google Sans Medium"/>
              </a:rPr>
              <a:t>Six-Layer Security Architecture Enforces BSA Youth Protection (YPT), Zero-PII Redaction &amp; Model Armor</a:t>
            </a:r>
            <a:endParaRPr sz="1600">
              <a:latin typeface="Google Sans Medium"/>
            </a:endParaRPr>
          </a:p>
        </p:txBody>
      </p:sp>
      <p:sp>
        <p:nvSpPr>
          <p:cNvPr id="3" name="TextBox 2"/>
          <p:cNvSpPr txBox="1"/>
          <p:nvPr/>
        </p:nvSpPr>
        <p:spPr>
          <a:xfrm>
            <a:off x="342900" y="700088"/>
            <a:ext cx="2800350" cy="135731"/>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2">
                <a:solidFill>
                  <a:schemeClr val="accent1"/>
                </a:solidFill>
                <a:latin typeface="Google Sans"/>
              </a:rPr>
              <a:t>SIX-LAYER DEFENSE-IN-DEPTH STACK</a:t>
            </a:r>
            <a:endParaRPr sz="900">
              <a:latin typeface="Google Sans"/>
            </a:endParaRPr>
          </a:p>
        </p:txBody>
      </p:sp>
      <p:cxnSp>
        <p:nvCxnSpPr>
          <p:cNvPr id="4" name="Connector 3"/>
          <p:cNvCxnSpPr/>
          <p:nvPr/>
        </p:nvCxnSpPr>
        <p:spPr>
          <a:xfrm>
            <a:off x="353616" y="914400"/>
            <a:ext cx="0" cy="485775"/>
          </a:xfrm>
          <a:prstGeom prst="straightConnector1">
            <a:avLst/>
          </a:prstGeom>
          <a:ln w="21431">
            <a:solidFill>
              <a:schemeClr val="accent1"/>
            </a:solidFill>
          </a:ln>
        </p:spPr>
      </p:cxnSp>
      <p:sp>
        <p:nvSpPr>
          <p:cNvPr id="5" name="TextBox 4"/>
          <p:cNvSpPr txBox="1"/>
          <p:nvPr/>
        </p:nvSpPr>
        <p:spPr>
          <a:xfrm>
            <a:off x="450056" y="914400"/>
            <a:ext cx="4293394"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rgbClr val="1A73E8"/>
                </a:solidFill>
                <a:latin typeface="Google Sans"/>
              </a:rPr>
              <a:t>L1</a:t>
            </a:r>
            <a:r>
              <a:rPr b="1" i="0" u="none" sz="1000">
                <a:solidFill>
                  <a:schemeClr val="dk1"/>
                </a:solidFill>
                <a:latin typeface="Google Sans"/>
              </a:rPr>
              <a:t> | BSA Youth Protection (YPT) Two-Deep Leadership</a:t>
            </a:r>
            <a:endParaRPr sz="1000">
              <a:latin typeface="Google Sans"/>
            </a:endParaRPr>
          </a:p>
        </p:txBody>
      </p:sp>
      <p:sp>
        <p:nvSpPr>
          <p:cNvPr id="6" name="TextBox 5"/>
          <p:cNvSpPr txBox="1"/>
          <p:nvPr/>
        </p:nvSpPr>
        <p:spPr>
          <a:xfrm>
            <a:off x="450056" y="1078706"/>
            <a:ext cx="4179094"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Deterministic YPT banners on every Parent Letter and Field Checklist; blocks any prompt or output suggesting 1-on-1 private adult-youth contact.</a:t>
            </a:r>
            <a:endParaRPr sz="900">
              <a:latin typeface="Google Sans"/>
            </a:endParaRPr>
          </a:p>
        </p:txBody>
      </p:sp>
      <p:cxnSp>
        <p:nvCxnSpPr>
          <p:cNvPr id="7" name="Connector 6"/>
          <p:cNvCxnSpPr/>
          <p:nvPr/>
        </p:nvCxnSpPr>
        <p:spPr>
          <a:xfrm>
            <a:off x="353616" y="1543050"/>
            <a:ext cx="0" cy="485775"/>
          </a:xfrm>
          <a:prstGeom prst="straightConnector1">
            <a:avLst/>
          </a:prstGeom>
          <a:ln w="21431">
            <a:solidFill>
              <a:schemeClr val="accent4"/>
            </a:solidFill>
          </a:ln>
        </p:spPr>
      </p:cxnSp>
      <p:sp>
        <p:nvSpPr>
          <p:cNvPr id="8" name="TextBox 7"/>
          <p:cNvSpPr txBox="1"/>
          <p:nvPr/>
        </p:nvSpPr>
        <p:spPr>
          <a:xfrm>
            <a:off x="450056" y="1543050"/>
            <a:ext cx="4293394"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rgbClr val="34A853"/>
                </a:solidFill>
                <a:latin typeface="Google Sans"/>
              </a:rPr>
              <a:t>L2</a:t>
            </a:r>
            <a:r>
              <a:rPr b="1" i="0" u="none" sz="1000">
                <a:solidFill>
                  <a:schemeClr val="dk1"/>
                </a:solidFill>
                <a:latin typeface="Google Sans"/>
              </a:rPr>
              <a:t> | Pre-LLM Zero-PII Firewall (scrub_pii_before_sink)</a:t>
            </a:r>
            <a:endParaRPr sz="1000">
              <a:latin typeface="Google Sans"/>
            </a:endParaRPr>
          </a:p>
        </p:txBody>
      </p:sp>
      <p:sp>
        <p:nvSpPr>
          <p:cNvPr id="9" name="TextBox 8"/>
          <p:cNvSpPr txBox="1"/>
          <p:nvPr/>
        </p:nvSpPr>
        <p:spPr>
          <a:xfrm>
            <a:off x="450056" y="1707356"/>
            <a:ext cx="4179094"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3-layer context-aware PII filter scrubs personal emails/phones/SSNs while preserving public hotlines (1-800-222-1222 Poison Control) &amp; 92 BSA URLs.</a:t>
            </a:r>
            <a:endParaRPr sz="900">
              <a:latin typeface="Google Sans"/>
            </a:endParaRPr>
          </a:p>
        </p:txBody>
      </p:sp>
      <p:cxnSp>
        <p:nvCxnSpPr>
          <p:cNvPr id="10" name="Connector 9"/>
          <p:cNvCxnSpPr/>
          <p:nvPr/>
        </p:nvCxnSpPr>
        <p:spPr>
          <a:xfrm>
            <a:off x="353616" y="2171700"/>
            <a:ext cx="0" cy="485775"/>
          </a:xfrm>
          <a:prstGeom prst="straightConnector1">
            <a:avLst/>
          </a:prstGeom>
          <a:ln w="21431">
            <a:solidFill>
              <a:schemeClr val="accent1"/>
            </a:solidFill>
          </a:ln>
        </p:spPr>
      </p:cxnSp>
      <p:sp>
        <p:nvSpPr>
          <p:cNvPr id="11" name="TextBox 10"/>
          <p:cNvSpPr txBox="1"/>
          <p:nvPr/>
        </p:nvSpPr>
        <p:spPr>
          <a:xfrm>
            <a:off x="450056" y="2171700"/>
            <a:ext cx="4293394"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rgbClr val="1A73E8"/>
                </a:solidFill>
                <a:latin typeface="Google Sans"/>
              </a:rPr>
              <a:t>L3</a:t>
            </a:r>
            <a:r>
              <a:rPr b="1" i="0" u="none" sz="1000">
                <a:solidFill>
                  <a:schemeClr val="dk1"/>
                </a:solidFill>
                <a:latin typeface="Google Sans"/>
              </a:rPr>
              <a:t> | Google Cloud Model Armor + Context-Aware Rules</a:t>
            </a:r>
            <a:endParaRPr sz="1000">
              <a:latin typeface="Google Sans"/>
            </a:endParaRPr>
          </a:p>
        </p:txBody>
      </p:sp>
      <p:sp>
        <p:nvSpPr>
          <p:cNvPr id="12" name="TextBox 11"/>
          <p:cNvSpPr txBox="1"/>
          <p:nvPr/>
        </p:nvSpPr>
        <p:spPr>
          <a:xfrm>
            <a:off x="450056" y="2336006"/>
            <a:ext cx="4193381"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Regional :sanitizeUserPrompt &amp; :sanitizeModelResponse APIs (with fallback) block jailbreaks while permitting First Aid &amp; range-safety instruction.</a:t>
            </a:r>
            <a:endParaRPr sz="900">
              <a:latin typeface="Google Sans"/>
            </a:endParaRPr>
          </a:p>
        </p:txBody>
      </p:sp>
      <p:cxnSp>
        <p:nvCxnSpPr>
          <p:cNvPr id="13" name="Connector 12"/>
          <p:cNvCxnSpPr/>
          <p:nvPr/>
        </p:nvCxnSpPr>
        <p:spPr>
          <a:xfrm>
            <a:off x="353616" y="2800350"/>
            <a:ext cx="0" cy="485775"/>
          </a:xfrm>
          <a:prstGeom prst="straightConnector1">
            <a:avLst/>
          </a:prstGeom>
          <a:ln w="21431">
            <a:solidFill>
              <a:schemeClr val="accent4"/>
            </a:solidFill>
          </a:ln>
        </p:spPr>
      </p:cxnSp>
      <p:sp>
        <p:nvSpPr>
          <p:cNvPr id="14" name="TextBox 13"/>
          <p:cNvSpPr txBox="1"/>
          <p:nvPr/>
        </p:nvSpPr>
        <p:spPr>
          <a:xfrm>
            <a:off x="450056" y="2800350"/>
            <a:ext cx="4293394"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rgbClr val="34A853"/>
                </a:solidFill>
                <a:latin typeface="Google Sans"/>
              </a:rPr>
              <a:t>L4</a:t>
            </a:r>
            <a:r>
              <a:rPr b="1" i="0" u="none" sz="1000">
                <a:solidFill>
                  <a:schemeClr val="dk1"/>
                </a:solidFill>
                <a:latin typeface="Google Sans"/>
              </a:rPr>
              <a:t> | Cryptographic SHA-256 Lock &amp; HMAC-SHA256 HITL</a:t>
            </a:r>
            <a:endParaRPr sz="1000">
              <a:latin typeface="Google Sans"/>
            </a:endParaRPr>
          </a:p>
        </p:txBody>
      </p:sp>
      <p:sp>
        <p:nvSpPr>
          <p:cNvPr id="15" name="TextBox 14"/>
          <p:cNvSpPr txBox="1"/>
          <p:nvPr/>
        </p:nvSpPr>
        <p:spPr>
          <a:xfrm>
            <a:off x="450056" y="2964656"/>
            <a:ext cx="4179094"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Locks wording via compute_canonical_pamphlet_hash, verifies constant-time hmac.compare_digest HITL tokens &amp; logs compliance_attestation_ledger.</a:t>
            </a:r>
            <a:endParaRPr sz="900">
              <a:latin typeface="Google Sans"/>
            </a:endParaRPr>
          </a:p>
        </p:txBody>
      </p:sp>
      <p:cxnSp>
        <p:nvCxnSpPr>
          <p:cNvPr id="16" name="Connector 15"/>
          <p:cNvCxnSpPr/>
          <p:nvPr/>
        </p:nvCxnSpPr>
        <p:spPr>
          <a:xfrm>
            <a:off x="353616" y="3429000"/>
            <a:ext cx="0" cy="485775"/>
          </a:xfrm>
          <a:prstGeom prst="straightConnector1">
            <a:avLst/>
          </a:prstGeom>
          <a:ln w="21431">
            <a:solidFill>
              <a:schemeClr val="accent1"/>
            </a:solidFill>
          </a:ln>
        </p:spPr>
      </p:cxnSp>
      <p:sp>
        <p:nvSpPr>
          <p:cNvPr id="17" name="TextBox 16"/>
          <p:cNvSpPr txBox="1"/>
          <p:nvPr/>
        </p:nvSpPr>
        <p:spPr>
          <a:xfrm>
            <a:off x="450056" y="3429000"/>
            <a:ext cx="4293394"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rgbClr val="1A73E8"/>
                </a:solidFill>
                <a:latin typeface="Google Sans"/>
              </a:rPr>
              <a:t>L5</a:t>
            </a:r>
            <a:r>
              <a:rPr b="1" i="0" u="none" sz="1000">
                <a:solidFill>
                  <a:schemeClr val="dk1"/>
                </a:solidFill>
                <a:latin typeface="Google Sans"/>
              </a:rPr>
              <a:t> | 3-State Circuit Breakers &amp; Outbound SSRF Allowlist</a:t>
            </a:r>
            <a:endParaRPr sz="1000">
              <a:latin typeface="Google Sans"/>
            </a:endParaRPr>
          </a:p>
        </p:txBody>
      </p:sp>
      <p:sp>
        <p:nvSpPr>
          <p:cNvPr id="18" name="TextBox 17"/>
          <p:cNvSpPr txBox="1"/>
          <p:nvPr/>
        </p:nvSpPr>
        <p:spPr>
          <a:xfrm>
            <a:off x="450056" y="3593306"/>
            <a:ext cx="4179094"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CircuitBreaker cascades Pro -&gt; Flash -&gt; Deterministic Engine (100% 429/503 survival); outbound allowlist restricts to scouting.org &amp; wikimedia.org.</a:t>
            </a:r>
            <a:endParaRPr sz="900">
              <a:latin typeface="Google Sans"/>
            </a:endParaRPr>
          </a:p>
        </p:txBody>
      </p:sp>
      <p:cxnSp>
        <p:nvCxnSpPr>
          <p:cNvPr id="19" name="Connector 18"/>
          <p:cNvCxnSpPr/>
          <p:nvPr/>
        </p:nvCxnSpPr>
        <p:spPr>
          <a:xfrm>
            <a:off x="353616" y="4057650"/>
            <a:ext cx="0" cy="485775"/>
          </a:xfrm>
          <a:prstGeom prst="straightConnector1">
            <a:avLst/>
          </a:prstGeom>
          <a:ln w="21431">
            <a:solidFill>
              <a:schemeClr val="accent4"/>
            </a:solidFill>
          </a:ln>
        </p:spPr>
      </p:cxnSp>
      <p:sp>
        <p:nvSpPr>
          <p:cNvPr id="20" name="TextBox 19"/>
          <p:cNvSpPr txBox="1"/>
          <p:nvPr/>
        </p:nvSpPr>
        <p:spPr>
          <a:xfrm>
            <a:off x="450056" y="4057650"/>
            <a:ext cx="4293394"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rgbClr val="34A853"/>
                </a:solidFill>
                <a:latin typeface="Google Sans"/>
              </a:rPr>
              <a:t>L6</a:t>
            </a:r>
            <a:r>
              <a:rPr b="1" i="0" u="none" sz="1000">
                <a:solidFill>
                  <a:schemeClr val="dk1"/>
                </a:solidFill>
                <a:latin typeface="Google Sans"/>
              </a:rPr>
              <a:t> | Dual-Mode Admin Auth &amp; Least-Privilege IAM</a:t>
            </a:r>
            <a:endParaRPr sz="1000">
              <a:latin typeface="Google Sans"/>
            </a:endParaRPr>
          </a:p>
        </p:txBody>
      </p:sp>
      <p:sp>
        <p:nvSpPr>
          <p:cNvPr id="21" name="TextBox 20"/>
          <p:cNvSpPr txBox="1"/>
          <p:nvPr/>
        </p:nvSpPr>
        <p:spPr>
          <a:xfrm>
            <a:off x="450056" y="4221956"/>
            <a:ext cx="4179094" cy="300038"/>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0" i="0" u="none" sz="900">
                <a:solidFill>
                  <a:schemeClr val="accent5"/>
                </a:solidFill>
                <a:latin typeface="Google Sans"/>
              </a:rPr>
              <a:t>Zero-friction local_workstation_auto on 127.0.0.1 and signed HttpOnly HMAC-SHA256 cookies / Cloud IAP on Cloud Run (scouts-bsa-agent-sa).</a:t>
            </a:r>
            <a:endParaRPr sz="900">
              <a:latin typeface="Google Sans"/>
            </a:endParaRPr>
          </a:p>
        </p:txBody>
      </p:sp>
      <p:cxnSp>
        <p:nvCxnSpPr>
          <p:cNvPr id="22" name="Connector 21"/>
          <p:cNvCxnSpPr/>
          <p:nvPr/>
        </p:nvCxnSpPr>
        <p:spPr>
          <a:xfrm>
            <a:off x="342900" y="1471613"/>
            <a:ext cx="4286250" cy="0"/>
          </a:xfrm>
          <a:prstGeom prst="straightConnector1">
            <a:avLst/>
          </a:prstGeom>
          <a:ln w="7144" cap="flat">
            <a:solidFill>
              <a:srgbClr val="DADCE0"/>
            </a:solidFill>
          </a:ln>
        </p:spPr>
      </p:cxnSp>
      <p:cxnSp>
        <p:nvCxnSpPr>
          <p:cNvPr id="23" name="Connector 22"/>
          <p:cNvCxnSpPr/>
          <p:nvPr/>
        </p:nvCxnSpPr>
        <p:spPr>
          <a:xfrm>
            <a:off x="342900" y="2100263"/>
            <a:ext cx="4286250" cy="0"/>
          </a:xfrm>
          <a:prstGeom prst="straightConnector1">
            <a:avLst/>
          </a:prstGeom>
          <a:ln w="7144" cap="flat">
            <a:solidFill>
              <a:srgbClr val="DADCE0"/>
            </a:solidFill>
          </a:ln>
        </p:spPr>
      </p:cxnSp>
      <p:cxnSp>
        <p:nvCxnSpPr>
          <p:cNvPr id="24" name="Connector 23"/>
          <p:cNvCxnSpPr/>
          <p:nvPr/>
        </p:nvCxnSpPr>
        <p:spPr>
          <a:xfrm>
            <a:off x="342900" y="2728913"/>
            <a:ext cx="4286250" cy="0"/>
          </a:xfrm>
          <a:prstGeom prst="straightConnector1">
            <a:avLst/>
          </a:prstGeom>
          <a:ln w="7144" cap="flat">
            <a:solidFill>
              <a:srgbClr val="DADCE0"/>
            </a:solidFill>
          </a:ln>
        </p:spPr>
      </p:cxnSp>
      <p:cxnSp>
        <p:nvCxnSpPr>
          <p:cNvPr id="25" name="Connector 24"/>
          <p:cNvCxnSpPr/>
          <p:nvPr/>
        </p:nvCxnSpPr>
        <p:spPr>
          <a:xfrm>
            <a:off x="342900" y="3357563"/>
            <a:ext cx="4286250" cy="0"/>
          </a:xfrm>
          <a:prstGeom prst="straightConnector1">
            <a:avLst/>
          </a:prstGeom>
          <a:ln w="7144" cap="flat">
            <a:solidFill>
              <a:srgbClr val="DADCE0"/>
            </a:solidFill>
          </a:ln>
        </p:spPr>
      </p:cxnSp>
      <p:cxnSp>
        <p:nvCxnSpPr>
          <p:cNvPr id="26" name="Connector 25"/>
          <p:cNvCxnSpPr/>
          <p:nvPr/>
        </p:nvCxnSpPr>
        <p:spPr>
          <a:xfrm>
            <a:off x="342900" y="3986213"/>
            <a:ext cx="4286250" cy="0"/>
          </a:xfrm>
          <a:prstGeom prst="straightConnector1">
            <a:avLst/>
          </a:prstGeom>
          <a:ln w="7144" cap="flat">
            <a:solidFill>
              <a:srgbClr val="DADCE0"/>
            </a:solidFill>
          </a:ln>
        </p:spPr>
      </p:cxnSp>
      <p:sp>
        <p:nvSpPr>
          <p:cNvPr id="27" name="TextBox 26"/>
          <p:cNvSpPr txBox="1"/>
          <p:nvPr/>
        </p:nvSpPr>
        <p:spPr>
          <a:xfrm>
            <a:off x="4800600" y="700088"/>
            <a:ext cx="4314825" cy="157163"/>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2">
                <a:solidFill>
                  <a:schemeClr val="accent1"/>
                </a:solidFill>
                <a:latin typeface="Google Sans"/>
              </a:rPr>
              <a:t>3-TAB SUPER-USER ADMIN CONSOLE (CTRL+SHIFT+A)</a:t>
            </a:r>
            <a:endParaRPr sz="900">
              <a:latin typeface="Google Sans"/>
            </a:endParaRPr>
          </a:p>
        </p:txBody>
      </p:sp>
      <p:pic>
        <p:nvPicPr>
          <p:cNvPr id="28" name="Picture 27" descr="image.png"/>
          <p:cNvPicPr>
            <a:picLocks noChangeAspect="1"/>
          </p:cNvPicPr>
          <p:nvPr/>
        </p:nvPicPr>
        <p:blipFill>
          <a:blip r:embed="rId2"/>
          <a:stretch>
            <a:fillRect/>
          </a:stretch>
        </p:blipFill>
        <p:spPr>
          <a:xfrm>
            <a:off x="6339032" y="914400"/>
            <a:ext cx="923637" cy="1457325"/>
          </a:xfrm>
          <a:prstGeom prst="rect">
            <a:avLst/>
          </a:prstGeom>
          <a:solidFill>
            <a:srgbClr val="F8F9FA"/>
          </a:solidFill>
          <a:ln w="7143">
            <a:solidFill>
              <a:srgbClr val="DADCE0"/>
            </a:solidFill>
          </a:ln>
        </p:spPr>
      </p:pic>
      <p:sp>
        <p:nvSpPr>
          <p:cNvPr id="29" name="TextBox 28"/>
          <p:cNvSpPr txBox="1"/>
          <p:nvPr/>
        </p:nvSpPr>
        <p:spPr>
          <a:xfrm>
            <a:off x="4800600" y="2428875"/>
            <a:ext cx="4000500" cy="285750"/>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rgbClr val="1A73E8"/>
                </a:solidFill>
                <a:latin typeface="Google Sans"/>
              </a:rPr>
              <a:t>Admin Tab 1:</a:t>
            </a:r>
            <a:r>
              <a:rPr b="0" i="0" u="none" sz="900">
                <a:solidFill>
                  <a:schemeClr val="dk1"/>
                </a:solidFill>
                <a:latin typeface="Google Sans"/>
              </a:rPr>
              <a:t> 149-Badge Cached Image &amp; Caption Studio (Gemini Vision Recaption &amp; 1-Click Primary Promotion)</a:t>
            </a:r>
            <a:endParaRPr sz="900">
              <a:latin typeface="Google Sans"/>
            </a:endParaRPr>
          </a:p>
        </p:txBody>
      </p:sp>
      <p:pic>
        <p:nvPicPr>
          <p:cNvPr id="30" name="Picture 29" descr="image.png"/>
          <p:cNvPicPr>
            <a:picLocks noChangeAspect="1"/>
          </p:cNvPicPr>
          <p:nvPr/>
        </p:nvPicPr>
        <p:blipFill>
          <a:blip r:embed="rId3"/>
          <a:stretch>
            <a:fillRect/>
          </a:stretch>
        </p:blipFill>
        <p:spPr>
          <a:xfrm>
            <a:off x="6259690" y="2828925"/>
            <a:ext cx="1082320" cy="1457325"/>
          </a:xfrm>
          <a:prstGeom prst="rect">
            <a:avLst/>
          </a:prstGeom>
          <a:solidFill>
            <a:srgbClr val="F8F9FA"/>
          </a:solidFill>
          <a:ln w="7143">
            <a:solidFill>
              <a:srgbClr val="DADCE0"/>
            </a:solidFill>
          </a:ln>
        </p:spPr>
      </p:pic>
      <p:sp>
        <p:nvSpPr>
          <p:cNvPr id="31" name="TextBox 30"/>
          <p:cNvSpPr txBox="1"/>
          <p:nvPr/>
        </p:nvSpPr>
        <p:spPr>
          <a:xfrm>
            <a:off x="4800600" y="4343400"/>
            <a:ext cx="4000500" cy="285750"/>
          </a:xfrm>
          <a:prstGeom prst="rect">
            <a:avLst/>
          </a:prstGeom>
          <a:noFill/>
          <a:ln>
            <a:noFill/>
          </a:ln>
          <a:effectLst/>
        </p:spPr>
        <p:txBody>
          <a:bodyPr wrap="square" anchor="t" lIns="0" rIns="0" tIns="3574" bIns="0">
            <a:noAutofit/>
          </a:bodyPr>
          <a:lstStyle/>
          <a:p>
            <a:pPr algn="l">
              <a:lnSpc>
                <a:spcPct val="104170"/>
              </a:lnSpc>
              <a:spcBef>
                <a:spcPts val="0"/>
              </a:spcBef>
              <a:spcAft>
                <a:spcPts val="0"/>
              </a:spcAft>
            </a:pPr>
            <a:r>
              <a:rPr b="1" i="0" u="none" sz="900">
                <a:solidFill>
                  <a:srgbClr val="34A853"/>
                </a:solidFill>
                <a:latin typeface="Google Sans"/>
              </a:rPr>
              <a:t>Admin Tab 2:</a:t>
            </a:r>
            <a:r>
              <a:rPr b="0" i="0" u="none" sz="900">
                <a:solidFill>
                  <a:schemeClr val="dk1"/>
                </a:solidFill>
                <a:latin typeface="Google Sans"/>
              </a:rPr>
              <a:t> ZeroPiiTelemetryStore (12 PII Keys Stripped), p50/p95 Latency &amp; Anonymous Slide-Swap Leaderboard</a:t>
            </a:r>
            <a:endParaRPr sz="900">
              <a:latin typeface="Google Sans"/>
            </a:endParaRPr>
          </a:p>
        </p:txBody>
      </p:sp>
      <p:sp>
        <p:nvSpPr>
          <p:cNvPr id="32" name="TextBox 31"/>
          <p:cNvSpPr txBox="1"/>
          <p:nvPr/>
        </p:nvSpPr>
        <p:spPr>
          <a:xfrm>
            <a:off x="342900" y="4914900"/>
            <a:ext cx="8772525" cy="142875"/>
          </a:xfrm>
          <a:prstGeom prst="rect">
            <a:avLst/>
          </a:prstGeom>
          <a:noFill/>
          <a:ln>
            <a:noFill/>
          </a:ln>
          <a:effectLst/>
        </p:spPr>
        <p:txBody>
          <a:bodyPr wrap="none" anchor="t" lIns="0" rIns="0" tIns="51012" bIns="0">
            <a:noAutofit/>
          </a:bodyPr>
          <a:lstStyle/>
          <a:p>
            <a:pPr algn="l">
              <a:lnSpc>
                <a:spcPct val="100000"/>
              </a:lnSpc>
              <a:spcBef>
                <a:spcPts val="0"/>
              </a:spcBef>
              <a:spcAft>
                <a:spcPts val="0"/>
              </a:spcAft>
            </a:pPr>
            <a:r>
              <a:rPr b="0" i="0" u="none" sz="600">
                <a:solidFill>
                  <a:schemeClr val="accent5"/>
                </a:solidFill>
                <a:latin typeface="Google Sans"/>
              </a:rPr>
              <a:t>Source: src/agents/guardrails.py, src/security.py, src/observability/telemetry_store.py, docs/ADMIN_GUIDE.md, tests/test_pii_scrubber.py.</a:t>
            </a:r>
            <a:endParaRPr sz="600">
              <a:latin typeface="Google Sans"/>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TextBox 1"/>
          <p:cNvSpPr txBox="1"/>
          <p:nvPr/>
        </p:nvSpPr>
        <p:spPr>
          <a:xfrm>
            <a:off x="342900" y="157163"/>
            <a:ext cx="8458200" cy="628650"/>
          </a:xfrm>
          <a:prstGeom prst="rect">
            <a:avLst/>
          </a:prstGeom>
          <a:noFill/>
          <a:ln>
            <a:noFill/>
          </a:ln>
          <a:effectLst/>
        </p:spPr>
        <p:txBody>
          <a:bodyPr wrap="square" anchor="t" lIns="0" rIns="0" tIns="6353" bIns="0">
            <a:noAutofit/>
          </a:bodyPr>
          <a:lstStyle/>
          <a:p>
            <a:pPr algn="l">
              <a:lnSpc>
                <a:spcPct val="104170"/>
              </a:lnSpc>
              <a:spcBef>
                <a:spcPts val="0"/>
              </a:spcBef>
              <a:spcAft>
                <a:spcPts val="0"/>
              </a:spcAft>
            </a:pPr>
            <a:r>
              <a:rPr b="0" i="0" u="none" sz="1600">
                <a:solidFill>
                  <a:schemeClr val="dk1"/>
                </a:solidFill>
                <a:latin typeface="Google Sans Medium"/>
              </a:rPr>
              <a:t>Terraform Cloud Run v2 Topology, Multi-Session Clinic Readiness &amp; 90-Day National Rollout</a:t>
            </a:r>
            <a:endParaRPr sz="1600">
              <a:latin typeface="Google Sans Medium"/>
            </a:endParaRPr>
          </a:p>
        </p:txBody>
      </p:sp>
      <p:graphicFrame>
        <p:nvGraphicFramePr>
          <p:cNvPr id="3" name="Table 2"/>
          <p:cNvGraphicFramePr>
            <a:graphicFrameLocks noGrp="1"/>
          </p:cNvGraphicFramePr>
          <p:nvPr/>
        </p:nvGraphicFramePr>
        <p:xfrm>
          <a:off x="346472" y="814388"/>
          <a:ext cx="8451057" cy="1921668"/>
        </p:xfrm>
        <a:graphic>
          <a:graphicData uri="http://schemas.openxmlformats.org/drawingml/2006/table">
            <a:tbl>
              <a:tblPr firstRow="1" bandRow="0">
                <a:tableStyleId>{2D5ABB26-0587-4C30-8999-92F81FD0307C}</a:tableStyleId>
              </a:tblPr>
              <a:tblGrid>
                <a:gridCol w="1607344"/>
                <a:gridCol w="1521619"/>
                <a:gridCol w="1943100"/>
                <a:gridCol w="1857375"/>
                <a:gridCol w="1521619"/>
              </a:tblGrid>
              <a:tr h="258514">
                <a:tc>
                  <a:txBody>
                    <a:bodyPr wrap="square"/>
                    <a:lstStyle/>
                    <a:p>
                      <a:pPr algn="l">
                        <a:lnSpc>
                          <a:spcPct val="100000"/>
                        </a:lnSpc>
                        <a:spcBef>
                          <a:spcPts val="0"/>
                        </a:spcBef>
                        <a:spcAft>
                          <a:spcPts val="0"/>
                        </a:spcAft>
                      </a:pPr>
                      <a:r>
                        <a:rPr b="1" i="0" u="none" sz="900">
                          <a:solidFill>
                            <a:schemeClr val="lt1"/>
                          </a:solidFill>
                          <a:latin typeface="Google Sans"/>
                        </a:rPr>
                        <a:t>Rollout Phase &amp; Horizon</a:t>
                      </a:r>
                      <a:endParaRPr sz="900">
                        <a:latin typeface="Google Sans"/>
                      </a:endParaRPr>
                    </a:p>
                  </a:txBody>
                  <a:tcPr anchor="ctr" marL="75009" marR="75009" marT="60722" marB="60722">
                    <a:lnL w="7144" cap="flat" cmpd="sng" algn="ctr">
                      <a:solidFill>
                        <a:srgbClr val="1A73E8"/>
                      </a:solidFill>
                      <a:prstDash val="solid"/>
                    </a:lnL>
                    <a:lnR w="7144" cap="flat" cmpd="sng" algn="ctr">
                      <a:solidFill>
                        <a:srgbClr val="1A73E8"/>
                      </a:solidFill>
                      <a:prstDash val="solid"/>
                    </a:lnR>
                    <a:lnT w="7144" cap="flat" cmpd="sng" algn="ctr">
                      <a:solidFill>
                        <a:srgbClr val="1A73E8"/>
                      </a:solidFill>
                      <a:prstDash val="solid"/>
                    </a:lnT>
                    <a:lnB w="7144" cap="flat" cmpd="sng" algn="ctr">
                      <a:solidFill>
                        <a:srgbClr val="1A73E8"/>
                      </a:solidFill>
                      <a:prstDash val="solid"/>
                    </a:lnB>
                    <a:solidFill>
                      <a:schemeClr val="accent1"/>
                    </a:solidFill>
                  </a:tcPr>
                </a:tc>
                <a:tc>
                  <a:txBody>
                    <a:bodyPr wrap="square"/>
                    <a:lstStyle/>
                    <a:p>
                      <a:pPr algn="l">
                        <a:lnSpc>
                          <a:spcPct val="100000"/>
                        </a:lnSpc>
                        <a:spcBef>
                          <a:spcPts val="0"/>
                        </a:spcBef>
                        <a:spcAft>
                          <a:spcPts val="0"/>
                        </a:spcAft>
                      </a:pPr>
                      <a:r>
                        <a:rPr b="1" i="0" u="none" sz="900">
                          <a:solidFill>
                            <a:schemeClr val="lt1"/>
                          </a:solidFill>
                          <a:latin typeface="Google Sans"/>
                        </a:rPr>
                        <a:t>Scope &amp; Target Scale</a:t>
                      </a:r>
                      <a:endParaRPr sz="900">
                        <a:latin typeface="Google Sans"/>
                      </a:endParaRPr>
                    </a:p>
                  </a:txBody>
                  <a:tcPr anchor="ctr" marL="75009" marR="75009" marT="60722" marB="60722">
                    <a:lnL w="7144" cap="flat" cmpd="sng" algn="ctr">
                      <a:solidFill>
                        <a:srgbClr val="1A73E8"/>
                      </a:solidFill>
                      <a:prstDash val="solid"/>
                    </a:lnL>
                    <a:lnR w="7144" cap="flat" cmpd="sng" algn="ctr">
                      <a:solidFill>
                        <a:srgbClr val="1A73E8"/>
                      </a:solidFill>
                      <a:prstDash val="solid"/>
                    </a:lnR>
                    <a:lnT w="7144" cap="flat" cmpd="sng" algn="ctr">
                      <a:solidFill>
                        <a:srgbClr val="1A73E8"/>
                      </a:solidFill>
                      <a:prstDash val="solid"/>
                    </a:lnT>
                    <a:lnB w="7144" cap="flat" cmpd="sng" algn="ctr">
                      <a:solidFill>
                        <a:srgbClr val="1A73E8"/>
                      </a:solidFill>
                      <a:prstDash val="solid"/>
                    </a:lnB>
                    <a:solidFill>
                      <a:schemeClr val="accent1"/>
                    </a:solidFill>
                  </a:tcPr>
                </a:tc>
                <a:tc>
                  <a:txBody>
                    <a:bodyPr wrap="square"/>
                    <a:lstStyle/>
                    <a:p>
                      <a:pPr algn="l">
                        <a:lnSpc>
                          <a:spcPct val="100000"/>
                        </a:lnSpc>
                        <a:spcBef>
                          <a:spcPts val="0"/>
                        </a:spcBef>
                        <a:spcAft>
                          <a:spcPts val="0"/>
                        </a:spcAft>
                      </a:pPr>
                      <a:r>
                        <a:rPr b="1" i="0" u="none" sz="900">
                          <a:solidFill>
                            <a:schemeClr val="lt1"/>
                          </a:solidFill>
                          <a:latin typeface="Google Sans"/>
                        </a:rPr>
                        <a:t>State &amp; Vector Persistence</a:t>
                      </a:r>
                      <a:endParaRPr sz="900">
                        <a:latin typeface="Google Sans"/>
                      </a:endParaRPr>
                    </a:p>
                  </a:txBody>
                  <a:tcPr anchor="ctr" marL="75009" marR="75009" marT="60722" marB="60722">
                    <a:lnL w="7144" cap="flat" cmpd="sng" algn="ctr">
                      <a:solidFill>
                        <a:srgbClr val="1A73E8"/>
                      </a:solidFill>
                      <a:prstDash val="solid"/>
                    </a:lnL>
                    <a:lnR w="7144" cap="flat" cmpd="sng" algn="ctr">
                      <a:solidFill>
                        <a:srgbClr val="1A73E8"/>
                      </a:solidFill>
                      <a:prstDash val="solid"/>
                    </a:lnR>
                    <a:lnT w="7144" cap="flat" cmpd="sng" algn="ctr">
                      <a:solidFill>
                        <a:srgbClr val="1A73E8"/>
                      </a:solidFill>
                      <a:prstDash val="solid"/>
                    </a:lnT>
                    <a:lnB w="7144" cap="flat" cmpd="sng" algn="ctr">
                      <a:solidFill>
                        <a:srgbClr val="1A73E8"/>
                      </a:solidFill>
                      <a:prstDash val="solid"/>
                    </a:lnB>
                    <a:solidFill>
                      <a:schemeClr val="accent1"/>
                    </a:solidFill>
                  </a:tcPr>
                </a:tc>
                <a:tc>
                  <a:txBody>
                    <a:bodyPr wrap="square"/>
                    <a:lstStyle/>
                    <a:p>
                      <a:pPr algn="l">
                        <a:lnSpc>
                          <a:spcPct val="100000"/>
                        </a:lnSpc>
                        <a:spcBef>
                          <a:spcPts val="0"/>
                        </a:spcBef>
                        <a:spcAft>
                          <a:spcPts val="0"/>
                        </a:spcAft>
                      </a:pPr>
                      <a:r>
                        <a:rPr b="1" i="0" u="none" sz="900">
                          <a:solidFill>
                            <a:schemeClr val="lt1"/>
                          </a:solidFill>
                          <a:latin typeface="Google Sans"/>
                        </a:rPr>
                        <a:t>Compute, Auth &amp; CDN</a:t>
                      </a:r>
                      <a:endParaRPr sz="900">
                        <a:latin typeface="Google Sans"/>
                      </a:endParaRPr>
                    </a:p>
                  </a:txBody>
                  <a:tcPr anchor="ctr" marL="75009" marR="75009" marT="60722" marB="60722">
                    <a:lnL w="7144" cap="flat" cmpd="sng" algn="ctr">
                      <a:solidFill>
                        <a:srgbClr val="1A73E8"/>
                      </a:solidFill>
                      <a:prstDash val="solid"/>
                    </a:lnL>
                    <a:lnR w="7144" cap="flat" cmpd="sng" algn="ctr">
                      <a:solidFill>
                        <a:srgbClr val="1A73E8"/>
                      </a:solidFill>
                      <a:prstDash val="solid"/>
                    </a:lnR>
                    <a:lnT w="7144" cap="flat" cmpd="sng" algn="ctr">
                      <a:solidFill>
                        <a:srgbClr val="1A73E8"/>
                      </a:solidFill>
                      <a:prstDash val="solid"/>
                    </a:lnT>
                    <a:lnB w="7144" cap="flat" cmpd="sng" algn="ctr">
                      <a:solidFill>
                        <a:srgbClr val="1A73E8"/>
                      </a:solidFill>
                      <a:prstDash val="solid"/>
                    </a:lnB>
                    <a:solidFill>
                      <a:schemeClr val="accent1"/>
                    </a:solidFill>
                  </a:tcPr>
                </a:tc>
                <a:tc>
                  <a:txBody>
                    <a:bodyPr wrap="square"/>
                    <a:lstStyle/>
                    <a:p>
                      <a:pPr algn="l">
                        <a:lnSpc>
                          <a:spcPct val="100000"/>
                        </a:lnSpc>
                        <a:spcBef>
                          <a:spcPts val="0"/>
                        </a:spcBef>
                        <a:spcAft>
                          <a:spcPts val="0"/>
                        </a:spcAft>
                      </a:pPr>
                      <a:r>
                        <a:rPr b="1" i="0" u="none" sz="900">
                          <a:solidFill>
                            <a:schemeClr val="lt1"/>
                          </a:solidFill>
                          <a:latin typeface="Google Sans"/>
                        </a:rPr>
                        <a:t>Measurable Exit Gate</a:t>
                      </a:r>
                      <a:endParaRPr sz="900">
                        <a:latin typeface="Google Sans"/>
                      </a:endParaRPr>
                    </a:p>
                  </a:txBody>
                  <a:tcPr anchor="ctr" marL="75009" marR="75009" marT="60722" marB="60722">
                    <a:lnL w="7144" cap="flat" cmpd="sng" algn="ctr">
                      <a:solidFill>
                        <a:srgbClr val="1A73E8"/>
                      </a:solidFill>
                      <a:prstDash val="solid"/>
                    </a:lnL>
                    <a:lnR w="7144" cap="flat" cmpd="sng" algn="ctr">
                      <a:solidFill>
                        <a:srgbClr val="1A73E8"/>
                      </a:solidFill>
                      <a:prstDash val="solid"/>
                    </a:lnR>
                    <a:lnT w="7144" cap="flat" cmpd="sng" algn="ctr">
                      <a:solidFill>
                        <a:srgbClr val="1A73E8"/>
                      </a:solidFill>
                      <a:prstDash val="solid"/>
                    </a:lnT>
                    <a:lnB w="7144" cap="flat" cmpd="sng" algn="ctr">
                      <a:solidFill>
                        <a:srgbClr val="1A73E8"/>
                      </a:solidFill>
                      <a:prstDash val="solid"/>
                    </a:lnB>
                    <a:solidFill>
                      <a:schemeClr val="accent1"/>
                    </a:solidFill>
                  </a:tcPr>
                </a:tc>
              </a:tr>
              <a:tr h="551966">
                <a:tc>
                  <a:txBody>
                    <a:bodyPr wrap="square"/>
                    <a:lstStyle/>
                    <a:p>
                      <a:pPr algn="l">
                        <a:lnSpc>
                          <a:spcPct val="104170"/>
                        </a:lnSpc>
                        <a:spcBef>
                          <a:spcPts val="0"/>
                        </a:spcBef>
                        <a:spcAft>
                          <a:spcPts val="0"/>
                        </a:spcAft>
                      </a:pPr>
                      <a:r>
                        <a:rPr b="1" i="0" u="none" sz="900">
                          <a:solidFill>
                            <a:schemeClr val="dk1"/>
                          </a:solidFill>
                          <a:latin typeface="Google Sans"/>
                        </a:rPr>
                        <a:t>Today (ADR-11 As-Built): Single Container</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1A73E8"/>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4170"/>
                        </a:lnSpc>
                        <a:spcBef>
                          <a:spcPts val="0"/>
                        </a:spcBef>
                        <a:spcAft>
                          <a:spcPts val="0"/>
                        </a:spcAft>
                      </a:pPr>
                      <a:r>
                        <a:rPr b="0" i="0" u="none" sz="900">
                          <a:solidFill>
                            <a:schemeClr val="dk1"/>
                          </a:solidFill>
                          <a:latin typeface="Google Sans"/>
                        </a:rPr>
                        <a:t>Single Troop / Council Demo (All 149 Badges)</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1A73E8"/>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4170"/>
                        </a:lnSpc>
                        <a:spcBef>
                          <a:spcPts val="0"/>
                        </a:spcBef>
                        <a:spcAft>
                          <a:spcPts val="0"/>
                        </a:spcAft>
                      </a:pPr>
                      <a:r>
                        <a:rPr b="0" i="0" u="none" sz="900">
                          <a:solidFill>
                            <a:schemeClr val="dk1"/>
                          </a:solidFill>
                          <a:latin typeface="Google Sans"/>
                        </a:rPr>
                        <a:t>SQLite WAL (12 tables) + 5,625 Visuals</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1A73E8"/>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4170"/>
                        </a:lnSpc>
                        <a:spcBef>
                          <a:spcPts val="0"/>
                        </a:spcBef>
                        <a:spcAft>
                          <a:spcPts val="0"/>
                        </a:spcAft>
                      </a:pPr>
                      <a:r>
                        <a:rPr b="0" i="0" u="none" sz="900">
                          <a:solidFill>
                            <a:schemeClr val="dk1"/>
                          </a:solidFill>
                          <a:latin typeface="Google Sans"/>
                        </a:rPr>
                        <a:t>Cloud Run v2 (2 vCPU/4 GiB) + Render Semaphore (max=4)</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1A73E8"/>
                      </a:solidFill>
                      <a:prstDash val="solid"/>
                    </a:lnT>
                    <a:lnB w="7144" cap="flat" cmpd="sng" algn="ctr">
                      <a:solidFill>
                        <a:srgbClr val="DADCE0"/>
                      </a:solidFill>
                      <a:prstDash val="solid"/>
                    </a:lnB>
                    <a:solidFill>
                      <a:schemeClr val="lt1">
                        <a:lumMod val="97000"/>
                        <a:lumOff val="3000"/>
                      </a:schemeClr>
                    </a:solidFill>
                  </a:tcPr>
                </a:tc>
                <a:tc>
                  <a:txBody>
                    <a:bodyPr wrap="square"/>
                    <a:lstStyle/>
                    <a:p>
                      <a:pPr algn="l">
                        <a:lnSpc>
                          <a:spcPct val="104170"/>
                        </a:lnSpc>
                        <a:spcBef>
                          <a:spcPts val="0"/>
                        </a:spcBef>
                        <a:spcAft>
                          <a:spcPts val="0"/>
                        </a:spcAft>
                      </a:pPr>
                      <a:r>
                        <a:rPr b="1" i="0" u="none" sz="900">
                          <a:solidFill>
                            <a:srgbClr val="174EA6"/>
                          </a:solidFill>
                          <a:latin typeface="Google Sans"/>
                        </a:rPr>
                        <a:t>100% Pytest Suite | 14.2ms p95 Load | 0 PII Leaks</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1A73E8"/>
                      </a:solidFill>
                      <a:prstDash val="solid"/>
                    </a:lnT>
                    <a:lnB w="7144" cap="flat" cmpd="sng" algn="ctr">
                      <a:solidFill>
                        <a:srgbClr val="DADCE0"/>
                      </a:solidFill>
                      <a:prstDash val="solid"/>
                    </a:lnB>
                    <a:solidFill>
                      <a:schemeClr val="lt1">
                        <a:lumMod val="97000"/>
                        <a:lumOff val="3000"/>
                      </a:schemeClr>
                    </a:solidFill>
                  </a:tcPr>
                </a:tc>
              </a:tr>
              <a:tr h="551966">
                <a:tc>
                  <a:txBody>
                    <a:bodyPr wrap="square"/>
                    <a:lstStyle/>
                    <a:p>
                      <a:pPr algn="l">
                        <a:lnSpc>
                          <a:spcPct val="104170"/>
                        </a:lnSpc>
                        <a:spcBef>
                          <a:spcPts val="0"/>
                        </a:spcBef>
                        <a:spcAft>
                          <a:spcPts val="0"/>
                        </a:spcAft>
                      </a:pPr>
                      <a:r>
                        <a:rPr b="1" i="0" u="none" sz="900">
                          <a:solidFill>
                            <a:srgbClr val="174EA6"/>
                          </a:solidFill>
                          <a:latin typeface="Google Sans"/>
                        </a:rPr>
                        <a:t>Phase 1 (Days 1-30): Council Pilot</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CEEAD6"/>
                      </a:solidFill>
                      <a:prstDash val="solid"/>
                    </a:lnB>
                    <a:solidFill>
                      <a:srgbClr val="F8F9FA"/>
                    </a:solidFill>
                  </a:tcPr>
                </a:tc>
                <a:tc>
                  <a:txBody>
                    <a:bodyPr wrap="square"/>
                    <a:lstStyle/>
                    <a:p>
                      <a:pPr algn="l">
                        <a:lnSpc>
                          <a:spcPct val="104170"/>
                        </a:lnSpc>
                        <a:spcBef>
                          <a:spcPts val="0"/>
                        </a:spcBef>
                        <a:spcAft>
                          <a:spcPts val="0"/>
                        </a:spcAft>
                      </a:pPr>
                      <a:r>
                        <a:rPr b="0" i="0" u="none" sz="900">
                          <a:solidFill>
                            <a:schemeClr val="dk1"/>
                          </a:solidFill>
                          <a:latin typeface="Google Sans"/>
                        </a:rPr>
                        <a:t>18 Eagle Badges -&gt; 5 Councils (2,500 Counselors)</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CEEAD6"/>
                      </a:solidFill>
                      <a:prstDash val="solid"/>
                    </a:lnB>
                    <a:solidFill>
                      <a:srgbClr val="F8F9FA"/>
                    </a:solidFill>
                  </a:tcPr>
                </a:tc>
                <a:tc>
                  <a:txBody>
                    <a:bodyPr wrap="square"/>
                    <a:lstStyle/>
                    <a:p>
                      <a:pPr algn="l">
                        <a:lnSpc>
                          <a:spcPct val="104170"/>
                        </a:lnSpc>
                        <a:spcBef>
                          <a:spcPts val="0"/>
                        </a:spcBef>
                        <a:spcAft>
                          <a:spcPts val="0"/>
                        </a:spcAft>
                      </a:pPr>
                      <a:r>
                        <a:rPr b="0" i="0" u="none" sz="900">
                          <a:solidFill>
                            <a:schemeClr val="dk1"/>
                          </a:solidFill>
                          <a:latin typeface="Google Sans"/>
                        </a:rPr>
                        <a:t>CloudSQLPgVectorBackend (HNSW + GIN) with council_id RLS</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CEEAD6"/>
                      </a:solidFill>
                      <a:prstDash val="solid"/>
                    </a:lnB>
                    <a:solidFill>
                      <a:srgbClr val="F8F9FA"/>
                    </a:solidFill>
                  </a:tcPr>
                </a:tc>
                <a:tc>
                  <a:txBody>
                    <a:bodyPr wrap="square"/>
                    <a:lstStyle/>
                    <a:p>
                      <a:pPr algn="l">
                        <a:lnSpc>
                          <a:spcPct val="104170"/>
                        </a:lnSpc>
                        <a:spcBef>
                          <a:spcPts val="0"/>
                        </a:spcBef>
                        <a:spcAft>
                          <a:spcPts val="0"/>
                        </a:spcAft>
                      </a:pPr>
                      <a:r>
                        <a:rPr b="0" i="0" u="none" sz="900">
                          <a:solidFill>
                            <a:schemeClr val="dk1"/>
                          </a:solidFill>
                          <a:latin typeface="Google Sans"/>
                        </a:rPr>
                        <a:t>Async Cloud Tasks Render Workers + 6-Step Canary CI/CD</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CEEAD6"/>
                      </a:solidFill>
                      <a:prstDash val="solid"/>
                    </a:lnB>
                    <a:solidFill>
                      <a:srgbClr val="F8F9FA"/>
                    </a:solidFill>
                  </a:tcPr>
                </a:tc>
                <a:tc>
                  <a:txBody>
                    <a:bodyPr wrap="square"/>
                    <a:lstStyle/>
                    <a:p>
                      <a:pPr algn="l">
                        <a:lnSpc>
                          <a:spcPct val="104170"/>
                        </a:lnSpc>
                        <a:spcBef>
                          <a:spcPts val="0"/>
                        </a:spcBef>
                        <a:spcAft>
                          <a:spcPts val="0"/>
                        </a:spcAft>
                      </a:pPr>
                      <a:r>
                        <a:rPr b="1" i="0" u="none" sz="900">
                          <a:solidFill>
                            <a:srgbClr val="174EA6"/>
                          </a:solidFill>
                          <a:latin typeface="Google Sans"/>
                        </a:rPr>
                        <a:t>99.5% Availability | p95 Cold Build &lt; 20s</a:t>
                      </a:r>
                      <a:endParaRPr sz="900">
                        <a:latin typeface="Google Sans"/>
                      </a:endParaRPr>
                    </a:p>
                  </a:txBody>
                  <a:tcPr anchor="ctr" marL="75009" marR="75009" marT="60722" marB="60722">
                    <a:lnL w="7144" cap="flat" cmpd="sng" algn="ctr">
                      <a:solidFill>
                        <a:srgbClr val="DADCE0"/>
                      </a:solidFill>
                      <a:prstDash val="solid"/>
                    </a:lnL>
                    <a:lnR w="7144" cap="flat" cmpd="sng" algn="ctr">
                      <a:solidFill>
                        <a:srgbClr val="DADCE0"/>
                      </a:solidFill>
                      <a:prstDash val="solid"/>
                    </a:lnR>
                    <a:lnT w="7144" cap="flat" cmpd="sng" algn="ctr">
                      <a:solidFill>
                        <a:srgbClr val="DADCE0"/>
                      </a:solidFill>
                      <a:prstDash val="solid"/>
                    </a:lnT>
                    <a:lnB w="7144" cap="flat" cmpd="sng" algn="ctr">
                      <a:solidFill>
                        <a:srgbClr val="CEEAD6"/>
                      </a:solidFill>
                      <a:prstDash val="solid"/>
                    </a:lnB>
                    <a:solidFill>
                      <a:srgbClr val="F8F9FA"/>
                    </a:solidFill>
                  </a:tcPr>
                </a:tc>
              </a:tr>
              <a:tr h="559222">
                <a:tc>
                  <a:txBody>
                    <a:bodyPr wrap="square"/>
                    <a:lstStyle/>
                    <a:p>
                      <a:pPr algn="l">
                        <a:lnSpc>
                          <a:spcPct val="104170"/>
                        </a:lnSpc>
                        <a:spcBef>
                          <a:spcPts val="0"/>
                        </a:spcBef>
                        <a:spcAft>
                          <a:spcPts val="0"/>
                        </a:spcAft>
                      </a:pPr>
                      <a:r>
                        <a:rPr b="1" i="0" u="none" sz="900">
                          <a:solidFill>
                            <a:srgbClr val="137333"/>
                          </a:solidFill>
                          <a:latin typeface="Google Sans"/>
                        </a:rPr>
                        <a:t>Phase 2-3 (Days 31-90): Enterprise Target</a:t>
                      </a:r>
                      <a:endParaRPr sz="900">
                        <a:latin typeface="Google Sans"/>
                      </a:endParaRPr>
                    </a:p>
                  </a:txBody>
                  <a:tcPr anchor="ctr" marL="75009" marR="75009" marT="60722" marB="60722">
                    <a:lnL w="7144" cap="flat" cmpd="sng" algn="ctr">
                      <a:solidFill>
                        <a:srgbClr val="CEEAD6"/>
                      </a:solidFill>
                      <a:prstDash val="solid"/>
                    </a:lnL>
                    <a:lnR w="7144" cap="flat" cmpd="sng" algn="ctr">
                      <a:solidFill>
                        <a:srgbClr val="CEEAD6"/>
                      </a:solidFill>
                      <a:prstDash val="solid"/>
                    </a:lnR>
                    <a:lnT w="7144" cap="flat" cmpd="sng" algn="ctr">
                      <a:solidFill>
                        <a:srgbClr val="CEEAD6"/>
                      </a:solidFill>
                      <a:prstDash val="solid"/>
                    </a:lnT>
                    <a:lnB w="7144" cap="flat" cmpd="sng" algn="ctr">
                      <a:solidFill>
                        <a:srgbClr val="CEEAD6"/>
                      </a:solidFill>
                      <a:prstDash val="solid"/>
                    </a:lnB>
                    <a:solidFill>
                      <a:srgbClr val="E6F4EA"/>
                    </a:solidFill>
                  </a:tcPr>
                </a:tc>
                <a:tc>
                  <a:txBody>
                    <a:bodyPr wrap="square"/>
                    <a:lstStyle/>
                    <a:p>
                      <a:pPr algn="l">
                        <a:lnSpc>
                          <a:spcPct val="104170"/>
                        </a:lnSpc>
                        <a:spcBef>
                          <a:spcPts val="0"/>
                        </a:spcBef>
                        <a:spcAft>
                          <a:spcPts val="0"/>
                        </a:spcAft>
                      </a:pPr>
                      <a:r>
                        <a:rPr b="0" i="0" u="none" sz="900">
                          <a:solidFill>
                            <a:schemeClr val="dk1"/>
                          </a:solidFill>
                          <a:latin typeface="Google Sans"/>
                        </a:rPr>
                        <a:t>All 149 Badges -&gt; 50,000+ Counselors Nationwide</a:t>
                      </a:r>
                      <a:endParaRPr sz="900">
                        <a:latin typeface="Google Sans"/>
                      </a:endParaRPr>
                    </a:p>
                  </a:txBody>
                  <a:tcPr anchor="ctr" marL="75009" marR="75009" marT="60722" marB="60722">
                    <a:lnL w="7144" cap="flat" cmpd="sng" algn="ctr">
                      <a:solidFill>
                        <a:srgbClr val="CEEAD6"/>
                      </a:solidFill>
                      <a:prstDash val="solid"/>
                    </a:lnL>
                    <a:lnR w="7144" cap="flat" cmpd="sng" algn="ctr">
                      <a:solidFill>
                        <a:srgbClr val="CEEAD6"/>
                      </a:solidFill>
                      <a:prstDash val="solid"/>
                    </a:lnR>
                    <a:lnT w="7144" cap="flat" cmpd="sng" algn="ctr">
                      <a:solidFill>
                        <a:srgbClr val="CEEAD6"/>
                      </a:solidFill>
                      <a:prstDash val="solid"/>
                    </a:lnT>
                    <a:lnB w="7144" cap="flat" cmpd="sng" algn="ctr">
                      <a:solidFill>
                        <a:srgbClr val="CEEAD6"/>
                      </a:solidFill>
                      <a:prstDash val="solid"/>
                    </a:lnB>
                    <a:solidFill>
                      <a:srgbClr val="E6F4EA"/>
                    </a:solidFill>
                  </a:tcPr>
                </a:tc>
                <a:tc>
                  <a:txBody>
                    <a:bodyPr wrap="square"/>
                    <a:lstStyle/>
                    <a:p>
                      <a:pPr algn="l">
                        <a:lnSpc>
                          <a:spcPct val="104170"/>
                        </a:lnSpc>
                        <a:spcBef>
                          <a:spcPts val="0"/>
                        </a:spcBef>
                        <a:spcAft>
                          <a:spcPts val="0"/>
                        </a:spcAft>
                      </a:pPr>
                      <a:r>
                        <a:rPr b="0" i="0" u="none" sz="900">
                          <a:solidFill>
                            <a:schemeClr val="dk1"/>
                          </a:solidFill>
                          <a:latin typeface="Google Sans"/>
                        </a:rPr>
                        <a:t>Multi-Region AlloyDB Omni / Cloud SQL HA + BigQuery Analytics</a:t>
                      </a:r>
                      <a:endParaRPr sz="900">
                        <a:latin typeface="Google Sans"/>
                      </a:endParaRPr>
                    </a:p>
                  </a:txBody>
                  <a:tcPr anchor="ctr" marL="75009" marR="75009" marT="60722" marB="60722">
                    <a:lnL w="7144" cap="flat" cmpd="sng" algn="ctr">
                      <a:solidFill>
                        <a:srgbClr val="CEEAD6"/>
                      </a:solidFill>
                      <a:prstDash val="solid"/>
                    </a:lnL>
                    <a:lnR w="7144" cap="flat" cmpd="sng" algn="ctr">
                      <a:solidFill>
                        <a:srgbClr val="CEEAD6"/>
                      </a:solidFill>
                      <a:prstDash val="solid"/>
                    </a:lnR>
                    <a:lnT w="7144" cap="flat" cmpd="sng" algn="ctr">
                      <a:solidFill>
                        <a:srgbClr val="CEEAD6"/>
                      </a:solidFill>
                      <a:prstDash val="solid"/>
                    </a:lnT>
                    <a:lnB w="7144" cap="flat" cmpd="sng" algn="ctr">
                      <a:solidFill>
                        <a:srgbClr val="CEEAD6"/>
                      </a:solidFill>
                      <a:prstDash val="solid"/>
                    </a:lnB>
                    <a:solidFill>
                      <a:srgbClr val="E6F4EA"/>
                    </a:solidFill>
                  </a:tcPr>
                </a:tc>
                <a:tc>
                  <a:txBody>
                    <a:bodyPr wrap="square"/>
                    <a:lstStyle/>
                    <a:p>
                      <a:pPr algn="l">
                        <a:lnSpc>
                          <a:spcPct val="104170"/>
                        </a:lnSpc>
                        <a:spcBef>
                          <a:spcPts val="0"/>
                        </a:spcBef>
                        <a:spcAft>
                          <a:spcPts val="0"/>
                        </a:spcAft>
                      </a:pPr>
                      <a:r>
                        <a:rPr b="0" i="0" u="none" sz="900">
                          <a:solidFill>
                            <a:schemeClr val="dk1"/>
                          </a:solidFill>
                          <a:latin typeface="Google Sans"/>
                        </a:rPr>
                        <a:t>Cloud IAP + my.scouting.org OIDC SSO (Active YPT Check) + CDN</a:t>
                      </a:r>
                      <a:endParaRPr sz="900">
                        <a:latin typeface="Google Sans"/>
                      </a:endParaRPr>
                    </a:p>
                  </a:txBody>
                  <a:tcPr anchor="ctr" marL="75009" marR="75009" marT="60722" marB="60722">
                    <a:lnL w="7144" cap="flat" cmpd="sng" algn="ctr">
                      <a:solidFill>
                        <a:srgbClr val="CEEAD6"/>
                      </a:solidFill>
                      <a:prstDash val="solid"/>
                    </a:lnL>
                    <a:lnR w="7144" cap="flat" cmpd="sng" algn="ctr">
                      <a:solidFill>
                        <a:srgbClr val="CEEAD6"/>
                      </a:solidFill>
                      <a:prstDash val="solid"/>
                    </a:lnR>
                    <a:lnT w="7144" cap="flat" cmpd="sng" algn="ctr">
                      <a:solidFill>
                        <a:srgbClr val="CEEAD6"/>
                      </a:solidFill>
                      <a:prstDash val="solid"/>
                    </a:lnT>
                    <a:lnB w="7144" cap="flat" cmpd="sng" algn="ctr">
                      <a:solidFill>
                        <a:srgbClr val="CEEAD6"/>
                      </a:solidFill>
                      <a:prstDash val="solid"/>
                    </a:lnB>
                    <a:solidFill>
                      <a:srgbClr val="E6F4EA"/>
                    </a:solidFill>
                  </a:tcPr>
                </a:tc>
                <a:tc>
                  <a:txBody>
                    <a:bodyPr wrap="square"/>
                    <a:lstStyle/>
                    <a:p>
                      <a:pPr algn="l">
                        <a:lnSpc>
                          <a:spcPct val="104170"/>
                        </a:lnSpc>
                        <a:spcBef>
                          <a:spcPts val="0"/>
                        </a:spcBef>
                        <a:spcAft>
                          <a:spcPts val="0"/>
                        </a:spcAft>
                      </a:pPr>
                      <a:r>
                        <a:rPr b="1" i="0" u="none" sz="900">
                          <a:solidFill>
                            <a:srgbClr val="137333"/>
                          </a:solidFill>
                          <a:latin typeface="Google Sans"/>
                        </a:rPr>
                        <a:t>99.95% Multi-Region HA | &lt;= $0.15/Deck TCO</a:t>
                      </a:r>
                      <a:endParaRPr sz="900">
                        <a:latin typeface="Google Sans"/>
                      </a:endParaRPr>
                    </a:p>
                  </a:txBody>
                  <a:tcPr anchor="ctr" marL="75009" marR="75009" marT="60722" marB="60722">
                    <a:lnL w="7144" cap="flat" cmpd="sng" algn="ctr">
                      <a:solidFill>
                        <a:srgbClr val="CEEAD6"/>
                      </a:solidFill>
                      <a:prstDash val="solid"/>
                    </a:lnL>
                    <a:lnR w="7144" cap="flat" cmpd="sng" algn="ctr">
                      <a:solidFill>
                        <a:srgbClr val="CEEAD6"/>
                      </a:solidFill>
                      <a:prstDash val="solid"/>
                    </a:lnR>
                    <a:lnT w="7144" cap="flat" cmpd="sng" algn="ctr">
                      <a:solidFill>
                        <a:srgbClr val="CEEAD6"/>
                      </a:solidFill>
                      <a:prstDash val="solid"/>
                    </a:lnT>
                    <a:lnB w="7144" cap="flat" cmpd="sng" algn="ctr">
                      <a:solidFill>
                        <a:srgbClr val="CEEAD6"/>
                      </a:solidFill>
                      <a:prstDash val="solid"/>
                    </a:lnB>
                    <a:solidFill>
                      <a:srgbClr val="E6F4EA"/>
                    </a:solidFill>
                  </a:tcPr>
                </a:tc>
              </a:tr>
            </a:tbl>
          </a:graphicData>
        </a:graphic>
      </p:graphicFrame>
      <p:sp>
        <p:nvSpPr>
          <p:cNvPr id="4" name="TextBox 3"/>
          <p:cNvSpPr txBox="1"/>
          <p:nvPr/>
        </p:nvSpPr>
        <p:spPr>
          <a:xfrm>
            <a:off x="357188" y="2870359"/>
            <a:ext cx="4386263" cy="142875"/>
          </a:xfrm>
          <a:prstGeom prst="rect">
            <a:avLst/>
          </a:prstGeom>
          <a:noFill/>
          <a:ln>
            <a:noFill/>
          </a:ln>
          <a:effectLst/>
        </p:spPr>
        <p:txBody>
          <a:bodyPr wrap="none" anchor="t" lIns="0" rIns="0" tIns="5633" bIns="0">
            <a:noAutofit/>
          </a:bodyPr>
          <a:lstStyle/>
          <a:p>
            <a:pPr algn="l">
              <a:lnSpc>
                <a:spcPct val="108330"/>
              </a:lnSpc>
              <a:spcBef>
                <a:spcPts val="0"/>
              </a:spcBef>
              <a:spcAft>
                <a:spcPts val="0"/>
              </a:spcAft>
            </a:pPr>
            <a:r>
              <a:rPr b="1" i="0" u="none" sz="900">
                <a:solidFill>
                  <a:srgbClr val="174EA6"/>
                </a:solidFill>
                <a:latin typeface="Google Sans"/>
              </a:rPr>
              <a:t>PHYSICAL GCP IAM &amp; SECURITY PERIMETER (TERRAFORM IAC)</a:t>
            </a:r>
            <a:endParaRPr sz="900">
              <a:latin typeface="Google Sans"/>
            </a:endParaRPr>
          </a:p>
        </p:txBody>
      </p:sp>
      <p:sp>
        <p:nvSpPr>
          <p:cNvPr id="5" name="Rounded Rectangle 4"/>
          <p:cNvSpPr/>
          <p:nvPr/>
        </p:nvSpPr>
        <p:spPr>
          <a:xfrm>
            <a:off x="1528763" y="3071813"/>
            <a:ext cx="3086100" cy="1085850"/>
          </a:xfrm>
          <a:prstGeom prst="roundRect">
            <a:avLst>
              <a:gd name="adj" fmla="val 5263"/>
            </a:avLst>
          </a:prstGeom>
          <a:solidFill>
            <a:srgbClr val="F8FAFD"/>
          </a:solidFill>
          <a:ln w="10715">
            <a:solidFill>
              <a:schemeClr val="accent1"/>
            </a:solidFill>
            <a:custDash>
              <a:ds d="333333" sp="200000"/>
            </a:cust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0" y="3087211"/>
            <a:ext cx="3143250" cy="128588"/>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74EA6"/>
                </a:solidFill>
                <a:latin typeface="Google Sans"/>
              </a:rPr>
              <a:t>VPC-SC Perimeter + Secret Manager + KMS CMEK (90d)</a:t>
            </a:r>
            <a:endParaRPr sz="800">
              <a:latin typeface="Google Sans"/>
            </a:endParaRPr>
          </a:p>
        </p:txBody>
      </p:sp>
      <p:sp>
        <p:nvSpPr>
          <p:cNvPr id="7" name="Rounded Rectangle 6"/>
          <p:cNvSpPr/>
          <p:nvPr/>
        </p:nvSpPr>
        <p:spPr>
          <a:xfrm>
            <a:off x="357188" y="3271838"/>
            <a:ext cx="1014413" cy="814388"/>
          </a:xfrm>
          <a:prstGeom prst="roundRect">
            <a:avLst>
              <a:gd name="adj" fmla="val 5263"/>
            </a:avLst>
          </a:prstGeom>
          <a:solidFill>
            <a:srgbClr val="E8F0FE"/>
          </a:solidFill>
          <a:ln w="1071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1475" y="3308668"/>
            <a:ext cx="985838"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74EA6"/>
                </a:solidFill>
                <a:latin typeface="Google Sans"/>
              </a:rPr>
              <a:t>Cloud Armor WAF</a:t>
            </a:r>
            <a:endParaRPr sz="800">
              <a:latin typeface="Google Sans"/>
            </a:endParaRPr>
          </a:p>
        </p:txBody>
      </p:sp>
      <p:sp>
        <p:nvSpPr>
          <p:cNvPr id="9" name="TextBox 8"/>
          <p:cNvSpPr txBox="1"/>
          <p:nvPr/>
        </p:nvSpPr>
        <p:spPr>
          <a:xfrm>
            <a:off x="371475" y="3451543"/>
            <a:ext cx="985838"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chemeClr val="dk1"/>
                </a:solidFill>
                <a:latin typeface="Google Sans"/>
              </a:rPr>
              <a:t>(120 RPM Limit)</a:t>
            </a:r>
            <a:endParaRPr sz="800">
              <a:latin typeface="Google Sans"/>
            </a:endParaRPr>
          </a:p>
        </p:txBody>
      </p:sp>
      <p:sp>
        <p:nvSpPr>
          <p:cNvPr id="10" name="TextBox 9"/>
          <p:cNvSpPr txBox="1"/>
          <p:nvPr/>
        </p:nvSpPr>
        <p:spPr>
          <a:xfrm>
            <a:off x="335756" y="3594418"/>
            <a:ext cx="1021556"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74EA6"/>
                </a:solidFill>
                <a:latin typeface="Google Sans"/>
              </a:rPr>
              <a:t>-&gt; Cloud IAP &amp; ALB</a:t>
            </a:r>
            <a:endParaRPr sz="800">
              <a:latin typeface="Google Sans"/>
            </a:endParaRPr>
          </a:p>
        </p:txBody>
      </p:sp>
      <p:sp>
        <p:nvSpPr>
          <p:cNvPr id="11" name="TextBox 10"/>
          <p:cNvSpPr txBox="1"/>
          <p:nvPr/>
        </p:nvSpPr>
        <p:spPr>
          <a:xfrm>
            <a:off x="360759" y="3737293"/>
            <a:ext cx="1007269"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rgbClr val="3C4043"/>
                </a:solidFill>
                <a:latin typeface="Google Sans"/>
              </a:rPr>
              <a:t>Scouting OIDC SSO</a:t>
            </a:r>
            <a:endParaRPr sz="800">
              <a:latin typeface="Google Sans"/>
            </a:endParaRPr>
          </a:p>
        </p:txBody>
      </p:sp>
      <p:sp>
        <p:nvSpPr>
          <p:cNvPr id="12" name="TextBox 11"/>
          <p:cNvSpPr txBox="1"/>
          <p:nvPr/>
        </p:nvSpPr>
        <p:spPr>
          <a:xfrm>
            <a:off x="271463" y="3880168"/>
            <a:ext cx="1185863"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Active YPT Verified</a:t>
            </a:r>
            <a:endParaRPr sz="800">
              <a:latin typeface="Google Sans"/>
            </a:endParaRPr>
          </a:p>
        </p:txBody>
      </p:sp>
      <p:cxnSp>
        <p:nvCxnSpPr>
          <p:cNvPr id="13" name="Connector 12"/>
          <p:cNvCxnSpPr>
            <a:stCxn id="7" idx="3"/>
            <a:endCxn id="14" idx="1"/>
          </p:cNvCxnSpPr>
          <p:nvPr/>
        </p:nvCxnSpPr>
        <p:spPr>
          <a:xfrm>
            <a:off x="1371600" y="3679031"/>
            <a:ext cx="242888" cy="0"/>
          </a:xfrm>
          <a:prstGeom prst="straightConnector1">
            <a:avLst/>
          </a:prstGeom>
          <a:ln w="14288" cap="flat">
            <a:solidFill>
              <a:schemeClr val="accent1"/>
            </a:solidFill>
            <a:tailEnd type="triangle" w="sm" len="sm"/>
          </a:ln>
        </p:spPr>
      </p:cxnSp>
      <p:sp>
        <p:nvSpPr>
          <p:cNvPr id="14" name="Rounded Rectangle 13"/>
          <p:cNvSpPr/>
          <p:nvPr/>
        </p:nvSpPr>
        <p:spPr>
          <a:xfrm>
            <a:off x="1614488" y="3271838"/>
            <a:ext cx="1357313" cy="814388"/>
          </a:xfrm>
          <a:prstGeom prst="roundRect">
            <a:avLst>
              <a:gd name="adj" fmla="val 5263"/>
            </a:avLst>
          </a:prstGeom>
          <a:solidFill>
            <a:schemeClr val="lt1">
              <a:lumMod val="97000"/>
              <a:lumOff val="3000"/>
            </a:schemeClr>
          </a:solidFill>
          <a:ln w="14287">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43063" y="3298984"/>
            <a:ext cx="1300163" cy="142875"/>
          </a:xfrm>
          <a:prstGeom prst="rect">
            <a:avLst/>
          </a:prstGeom>
          <a:noFill/>
          <a:ln>
            <a:noFill/>
          </a:ln>
          <a:effectLst/>
        </p:spPr>
        <p:txBody>
          <a:bodyPr wrap="none" anchor="t" lIns="0" rIns="0" tIns="5633" bIns="0">
            <a:noAutofit/>
          </a:bodyPr>
          <a:lstStyle/>
          <a:p>
            <a:pPr algn="ctr">
              <a:lnSpc>
                <a:spcPct val="108330"/>
              </a:lnSpc>
              <a:spcBef>
                <a:spcPts val="0"/>
              </a:spcBef>
              <a:spcAft>
                <a:spcPts val="0"/>
              </a:spcAft>
            </a:pPr>
            <a:r>
              <a:rPr b="1" i="0" u="none" sz="900">
                <a:solidFill>
                  <a:srgbClr val="174EA6"/>
                </a:solidFill>
                <a:latin typeface="Google Sans"/>
              </a:rPr>
              <a:t>Cloud Run v2</a:t>
            </a:r>
            <a:endParaRPr sz="900">
              <a:latin typeface="Google Sans"/>
            </a:endParaRPr>
          </a:p>
        </p:txBody>
      </p:sp>
      <p:sp>
        <p:nvSpPr>
          <p:cNvPr id="16" name="TextBox 15"/>
          <p:cNvSpPr txBox="1"/>
          <p:nvPr/>
        </p:nvSpPr>
        <p:spPr>
          <a:xfrm>
            <a:off x="1643063" y="3451543"/>
            <a:ext cx="1300163"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chemeClr val="dk1"/>
                </a:solidFill>
                <a:latin typeface="Google Sans"/>
              </a:rPr>
              <a:t>us-central1 + us-east1</a:t>
            </a:r>
            <a:endParaRPr sz="800">
              <a:latin typeface="Google Sans"/>
            </a:endParaRPr>
          </a:p>
        </p:txBody>
      </p:sp>
      <p:sp>
        <p:nvSpPr>
          <p:cNvPr id="17" name="TextBox 16"/>
          <p:cNvSpPr txBox="1"/>
          <p:nvPr/>
        </p:nvSpPr>
        <p:spPr>
          <a:xfrm>
            <a:off x="1643063" y="3594418"/>
            <a:ext cx="1300163"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chemeClr val="accent5"/>
                </a:solidFill>
                <a:latin typeface="Google Sans"/>
              </a:rPr>
              <a:t>2 vCPU / 4 GiB (min=1)</a:t>
            </a:r>
            <a:endParaRPr sz="800">
              <a:latin typeface="Google Sans"/>
            </a:endParaRPr>
          </a:p>
        </p:txBody>
      </p:sp>
      <p:sp>
        <p:nvSpPr>
          <p:cNvPr id="18" name="TextBox 17"/>
          <p:cNvSpPr txBox="1"/>
          <p:nvPr/>
        </p:nvSpPr>
        <p:spPr>
          <a:xfrm>
            <a:off x="1632347" y="3737293"/>
            <a:ext cx="1321594"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chemeClr val="accent5"/>
                </a:solidFill>
                <a:latin typeface="Google Sans"/>
              </a:rPr>
              <a:t>Secret Mgr + Sem(max=4)</a:t>
            </a:r>
            <a:endParaRPr sz="800">
              <a:latin typeface="Google Sans"/>
            </a:endParaRPr>
          </a:p>
        </p:txBody>
      </p:sp>
      <p:sp>
        <p:nvSpPr>
          <p:cNvPr id="19" name="TextBox 18"/>
          <p:cNvSpPr txBox="1"/>
          <p:nvPr/>
        </p:nvSpPr>
        <p:spPr>
          <a:xfrm>
            <a:off x="1639491" y="3880168"/>
            <a:ext cx="1307306"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99.95% Multi-Region HA</a:t>
            </a:r>
            <a:endParaRPr sz="800">
              <a:latin typeface="Google Sans"/>
            </a:endParaRPr>
          </a:p>
        </p:txBody>
      </p:sp>
      <p:cxnSp>
        <p:nvCxnSpPr>
          <p:cNvPr id="20" name="Connector 19"/>
          <p:cNvCxnSpPr>
            <a:endCxn id="22" idx="1"/>
          </p:cNvCxnSpPr>
          <p:nvPr/>
        </p:nvCxnSpPr>
        <p:spPr>
          <a:xfrm>
            <a:off x="2971800" y="3464719"/>
            <a:ext cx="214313" cy="0"/>
          </a:xfrm>
          <a:prstGeom prst="straightConnector1">
            <a:avLst/>
          </a:prstGeom>
          <a:ln w="14288" cap="flat">
            <a:solidFill>
              <a:schemeClr val="accent4"/>
            </a:solidFill>
            <a:tailEnd type="triangle" w="sm" len="sm"/>
          </a:ln>
        </p:spPr>
      </p:cxnSp>
      <p:cxnSp>
        <p:nvCxnSpPr>
          <p:cNvPr id="21" name="Connector 20"/>
          <p:cNvCxnSpPr>
            <a:endCxn id="25" idx="1"/>
          </p:cNvCxnSpPr>
          <p:nvPr/>
        </p:nvCxnSpPr>
        <p:spPr>
          <a:xfrm>
            <a:off x="2971800" y="3893344"/>
            <a:ext cx="214313" cy="0"/>
          </a:xfrm>
          <a:prstGeom prst="straightConnector1">
            <a:avLst/>
          </a:prstGeom>
          <a:ln w="14288" cap="flat">
            <a:solidFill>
              <a:schemeClr val="accent1"/>
            </a:solidFill>
            <a:tailEnd type="triangle" w="sm" len="sm"/>
          </a:ln>
        </p:spPr>
      </p:cxnSp>
      <p:sp>
        <p:nvSpPr>
          <p:cNvPr id="22" name="Rounded Rectangle 21"/>
          <p:cNvSpPr/>
          <p:nvPr/>
        </p:nvSpPr>
        <p:spPr>
          <a:xfrm>
            <a:off x="3186113" y="3271838"/>
            <a:ext cx="1343025" cy="385763"/>
          </a:xfrm>
          <a:prstGeom prst="roundRect">
            <a:avLst>
              <a:gd name="adj" fmla="val 11111"/>
            </a:avLst>
          </a:prstGeom>
          <a:solidFill>
            <a:srgbClr val="E6F4EA"/>
          </a:solidFill>
          <a:ln w="1071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14688" y="3308668"/>
            <a:ext cx="1285875"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137333"/>
                </a:solidFill>
                <a:latin typeface="Google Sans"/>
              </a:rPr>
              <a:t>Vertex AI Gemini 2.5</a:t>
            </a:r>
            <a:endParaRPr sz="800">
              <a:latin typeface="Google Sans"/>
            </a:endParaRPr>
          </a:p>
        </p:txBody>
      </p:sp>
      <p:sp>
        <p:nvSpPr>
          <p:cNvPr id="24" name="TextBox 23"/>
          <p:cNvSpPr txBox="1"/>
          <p:nvPr/>
        </p:nvSpPr>
        <p:spPr>
          <a:xfrm>
            <a:off x="3214688" y="3458686"/>
            <a:ext cx="1285875"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chemeClr val="dk1"/>
                </a:solidFill>
                <a:latin typeface="Google Sans"/>
              </a:rPr>
              <a:t>+ Model Armor Guard</a:t>
            </a:r>
            <a:endParaRPr sz="800">
              <a:latin typeface="Google Sans"/>
            </a:endParaRPr>
          </a:p>
        </p:txBody>
      </p:sp>
      <p:sp>
        <p:nvSpPr>
          <p:cNvPr id="25" name="Rounded Rectangle 24"/>
          <p:cNvSpPr/>
          <p:nvPr/>
        </p:nvSpPr>
        <p:spPr>
          <a:xfrm>
            <a:off x="3186113" y="3700463"/>
            <a:ext cx="1343025" cy="385763"/>
          </a:xfrm>
          <a:prstGeom prst="roundRect">
            <a:avLst>
              <a:gd name="adj" fmla="val 11111"/>
            </a:avLst>
          </a:prstGeom>
          <a:solidFill>
            <a:srgbClr val="FEF7E0"/>
          </a:solidFill>
          <a:ln w="1071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53966" y="3737293"/>
            <a:ext cx="1407319"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1" i="0" u="none" sz="800">
                <a:solidFill>
                  <a:srgbClr val="B06000"/>
                </a:solidFill>
                <a:latin typeface="Google Sans"/>
              </a:rPr>
              <a:t>Cloud SQL pgvector (RLS)</a:t>
            </a:r>
            <a:endParaRPr sz="800">
              <a:latin typeface="Google Sans"/>
            </a:endParaRPr>
          </a:p>
        </p:txBody>
      </p:sp>
      <p:sp>
        <p:nvSpPr>
          <p:cNvPr id="27" name="TextBox 26"/>
          <p:cNvSpPr txBox="1"/>
          <p:nvPr/>
        </p:nvSpPr>
        <p:spPr>
          <a:xfrm>
            <a:off x="3214688" y="3887311"/>
            <a:ext cx="1285875" cy="128588"/>
          </a:xfrm>
          <a:prstGeom prst="rect">
            <a:avLst/>
          </a:prstGeom>
          <a:noFill/>
          <a:ln>
            <a:noFill/>
          </a:ln>
          <a:effectLst/>
        </p:spPr>
        <p:txBody>
          <a:bodyPr wrap="none" anchor="t" lIns="0" rIns="0" tIns="5007" bIns="0">
            <a:noAutofit/>
          </a:bodyPr>
          <a:lstStyle/>
          <a:p>
            <a:pPr algn="ctr">
              <a:lnSpc>
                <a:spcPct val="108330"/>
              </a:lnSpc>
              <a:spcBef>
                <a:spcPts val="0"/>
              </a:spcBef>
              <a:spcAft>
                <a:spcPts val="0"/>
              </a:spcAft>
            </a:pPr>
            <a:r>
              <a:rPr b="0" i="0" u="none" sz="800">
                <a:solidFill>
                  <a:schemeClr val="dk1"/>
                </a:solidFill>
                <a:latin typeface="Google Sans"/>
              </a:rPr>
              <a:t>HNSW + BigQuery Sync</a:t>
            </a:r>
            <a:endParaRPr sz="800">
              <a:latin typeface="Google Sans"/>
            </a:endParaRPr>
          </a:p>
        </p:txBody>
      </p:sp>
      <p:cxnSp>
        <p:nvCxnSpPr>
          <p:cNvPr id="28" name="Connector 27"/>
          <p:cNvCxnSpPr>
            <a:endCxn id="14" idx="2"/>
          </p:cNvCxnSpPr>
          <p:nvPr/>
        </p:nvCxnSpPr>
        <p:spPr>
          <a:xfrm flipV="1">
            <a:off x="2293144" y="4086225"/>
            <a:ext cx="0" cy="171450"/>
          </a:xfrm>
          <a:prstGeom prst="straightConnector1">
            <a:avLst/>
          </a:prstGeom>
          <a:ln w="14288" cap="flat">
            <a:solidFill>
              <a:schemeClr val="accent4"/>
            </a:solidFill>
            <a:tailEnd type="triangle" w="sm" len="sm"/>
          </a:ln>
        </p:spPr>
      </p:cxnSp>
      <p:sp>
        <p:nvSpPr>
          <p:cNvPr id="29" name="Rounded Rectangle 28"/>
          <p:cNvSpPr/>
          <p:nvPr/>
        </p:nvSpPr>
        <p:spPr>
          <a:xfrm>
            <a:off x="357188" y="4257675"/>
            <a:ext cx="4257675" cy="357188"/>
          </a:xfrm>
          <a:prstGeom prst="roundRect">
            <a:avLst>
              <a:gd name="adj" fmla="val 12000"/>
            </a:avLst>
          </a:prstGeom>
          <a:solidFill>
            <a:srgbClr val="F1F3F4"/>
          </a:solidFill>
          <a:ln w="1071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913" y="4280218"/>
            <a:ext cx="1393031" cy="128588"/>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chemeClr val="dk1"/>
                </a:solidFill>
                <a:latin typeface="Google Sans"/>
              </a:rPr>
              <a:t>6-Step Cloud Build Canary:</a:t>
            </a:r>
            <a:endParaRPr sz="800">
              <a:latin typeface="Google Sans"/>
            </a:endParaRPr>
          </a:p>
        </p:txBody>
      </p:sp>
      <p:sp>
        <p:nvSpPr>
          <p:cNvPr id="31" name="TextBox 30"/>
          <p:cNvSpPr txBox="1"/>
          <p:nvPr/>
        </p:nvSpPr>
        <p:spPr>
          <a:xfrm>
            <a:off x="1857375" y="4280218"/>
            <a:ext cx="2714625" cy="128588"/>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1" i="0" u="none" sz="800">
                <a:solidFill>
                  <a:srgbClr val="137333"/>
                </a:solidFill>
                <a:latin typeface="Google Sans"/>
              </a:rPr>
              <a:t>10% Traffic -&gt; /readiness -&gt; 100% GA</a:t>
            </a:r>
            <a:endParaRPr sz="800">
              <a:latin typeface="Google Sans"/>
            </a:endParaRPr>
          </a:p>
        </p:txBody>
      </p:sp>
      <p:sp>
        <p:nvSpPr>
          <p:cNvPr id="32" name="TextBox 31"/>
          <p:cNvSpPr txBox="1"/>
          <p:nvPr/>
        </p:nvSpPr>
        <p:spPr>
          <a:xfrm>
            <a:off x="442913" y="4430236"/>
            <a:ext cx="4129088" cy="128588"/>
          </a:xfrm>
          <a:prstGeom prst="rect">
            <a:avLst/>
          </a:prstGeom>
          <a:noFill/>
          <a:ln>
            <a:noFill/>
          </a:ln>
          <a:effectLst/>
        </p:spPr>
        <p:txBody>
          <a:bodyPr wrap="none" anchor="t" lIns="0" rIns="0" tIns="5007" bIns="0">
            <a:noAutofit/>
          </a:bodyPr>
          <a:lstStyle/>
          <a:p>
            <a:pPr algn="l">
              <a:lnSpc>
                <a:spcPct val="108330"/>
              </a:lnSpc>
              <a:spcBef>
                <a:spcPts val="0"/>
              </a:spcBef>
              <a:spcAft>
                <a:spcPts val="0"/>
              </a:spcAft>
            </a:pPr>
            <a:r>
              <a:rPr b="0" i="0" u="none" sz="800">
                <a:solidFill>
                  <a:schemeClr val="accent5"/>
                </a:solidFill>
                <a:latin typeface="Google Sans"/>
              </a:rPr>
              <a:t>Pytest (220+ / 45 Files) &amp; 20-Badge Eval | 5% Trace Audit | repo_audit.sh Clean</a:t>
            </a:r>
            <a:endParaRPr sz="800">
              <a:latin typeface="Google Sans"/>
            </a:endParaRPr>
          </a:p>
        </p:txBody>
      </p:sp>
      <p:cxnSp>
        <p:nvCxnSpPr>
          <p:cNvPr id="33" name="Connector 32"/>
          <p:cNvCxnSpPr/>
          <p:nvPr/>
        </p:nvCxnSpPr>
        <p:spPr>
          <a:xfrm>
            <a:off x="4800600" y="2868216"/>
            <a:ext cx="4000500" cy="0"/>
          </a:xfrm>
          <a:prstGeom prst="straightConnector1">
            <a:avLst/>
          </a:prstGeom>
          <a:ln w="21431">
            <a:solidFill>
              <a:schemeClr val="accent4"/>
            </a:solidFill>
          </a:ln>
        </p:spPr>
      </p:cxnSp>
      <p:sp>
        <p:nvSpPr>
          <p:cNvPr id="34" name="TextBox 33"/>
          <p:cNvSpPr txBox="1"/>
          <p:nvPr/>
        </p:nvSpPr>
        <p:spPr>
          <a:xfrm>
            <a:off x="4800600" y="2971800"/>
            <a:ext cx="4314825" cy="157163"/>
          </a:xfrm>
          <a:prstGeom prst="rect">
            <a:avLst/>
          </a:prstGeom>
          <a:noFill/>
          <a:ln>
            <a:noFill/>
          </a:ln>
          <a:effectLst/>
        </p:spPr>
        <p:txBody>
          <a:bodyPr wrap="none" anchor="t" lIns="0" rIns="0" tIns="1509" bIns="0">
            <a:noAutofit/>
          </a:bodyPr>
          <a:lstStyle/>
          <a:p>
            <a:pPr algn="l">
              <a:lnSpc>
                <a:spcPct val="100000"/>
              </a:lnSpc>
              <a:spcBef>
                <a:spcPts val="0"/>
              </a:spcBef>
              <a:spcAft>
                <a:spcPts val="0"/>
              </a:spcAft>
            </a:pPr>
            <a:r>
              <a:rPr b="1" i="0" u="none" sz="900" spc="22">
                <a:solidFill>
                  <a:srgbClr val="137333"/>
                </a:solidFill>
                <a:latin typeface="Google Sans"/>
              </a:rPr>
              <a:t>SINGLE-COUNSELOR &amp; CLINIC FIELD IMPACT</a:t>
            </a:r>
            <a:endParaRPr sz="900">
              <a:latin typeface="Google Sans"/>
            </a:endParaRPr>
          </a:p>
        </p:txBody>
      </p:sp>
      <p:cxnSp>
        <p:nvCxnSpPr>
          <p:cNvPr id="35" name="Connector 34"/>
          <p:cNvCxnSpPr/>
          <p:nvPr/>
        </p:nvCxnSpPr>
        <p:spPr>
          <a:xfrm>
            <a:off x="4800600" y="3689747"/>
            <a:ext cx="4000500" cy="0"/>
          </a:xfrm>
          <a:prstGeom prst="straightConnector1">
            <a:avLst/>
          </a:prstGeom>
          <a:ln w="7144">
            <a:solidFill>
              <a:srgbClr val="DADCE0"/>
            </a:solidFill>
          </a:ln>
        </p:spPr>
      </p:cxnSp>
      <p:sp>
        <p:nvSpPr>
          <p:cNvPr id="36" name="TextBox 35"/>
          <p:cNvSpPr txBox="1"/>
          <p:nvPr/>
        </p:nvSpPr>
        <p:spPr>
          <a:xfrm>
            <a:off x="4800600" y="3157538"/>
            <a:ext cx="4314825"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chemeClr val="dk1"/>
                </a:solidFill>
                <a:latin typeface="Google Sans"/>
              </a:rPr>
              <a:t>1. Fillable Workbooks, 1-Page CPP &amp; 5-Part Facilitator Guide</a:t>
            </a:r>
            <a:endParaRPr sz="1000">
              <a:latin typeface="Google Sans"/>
            </a:endParaRPr>
          </a:p>
        </p:txBody>
      </p:sp>
      <p:sp>
        <p:nvSpPr>
          <p:cNvPr id="37" name="TextBox 36"/>
          <p:cNvSpPr txBox="1"/>
          <p:nvPr/>
        </p:nvSpPr>
        <p:spPr>
          <a:xfrm>
            <a:off x="4800600" y="3343275"/>
            <a:ext cx="4000500" cy="300038"/>
          </a:xfrm>
          <a:prstGeom prst="rect">
            <a:avLst/>
          </a:prstGeom>
          <a:noFill/>
          <a:ln>
            <a:noFill/>
          </a:ln>
          <a:effectLst/>
        </p:spPr>
        <p:txBody>
          <a:bodyPr wrap="square" anchor="t" lIns="0" rIns="0" tIns="5007" bIns="0">
            <a:noAutofit/>
          </a:bodyPr>
          <a:lstStyle/>
          <a:p>
            <a:pPr algn="l">
              <a:lnSpc>
                <a:spcPct val="108330"/>
              </a:lnSpc>
              <a:spcBef>
                <a:spcPts val="0"/>
              </a:spcBef>
              <a:spcAft>
                <a:spcPts val="0"/>
              </a:spcAft>
            </a:pPr>
            <a:r>
              <a:rPr b="0" i="0" u="none" sz="800">
                <a:solidFill>
                  <a:schemeClr val="accent5"/>
                </a:solidFill>
                <a:latin typeface="Google Sans"/>
              </a:rPr>
              <a:t>149 Badges (incl. 5 Test Lab Pilots) | Sub-Req Unrolled AcroForm PDF (GTA 7.0.3.2) | Non-Repetitive 5-Part Notes</a:t>
            </a:r>
            <a:endParaRPr sz="800">
              <a:latin typeface="Google Sans"/>
            </a:endParaRPr>
          </a:p>
        </p:txBody>
      </p:sp>
      <p:cxnSp>
        <p:nvCxnSpPr>
          <p:cNvPr id="38" name="Connector 37"/>
          <p:cNvCxnSpPr/>
          <p:nvPr/>
        </p:nvCxnSpPr>
        <p:spPr>
          <a:xfrm>
            <a:off x="4800600" y="4232672"/>
            <a:ext cx="4000500" cy="0"/>
          </a:xfrm>
          <a:prstGeom prst="straightConnector1">
            <a:avLst/>
          </a:prstGeom>
          <a:ln w="7144">
            <a:solidFill>
              <a:srgbClr val="DADCE0"/>
            </a:solidFill>
          </a:ln>
        </p:spPr>
      </p:cxnSp>
      <p:sp>
        <p:nvSpPr>
          <p:cNvPr id="39" name="TextBox 38"/>
          <p:cNvSpPr txBox="1"/>
          <p:nvPr/>
        </p:nvSpPr>
        <p:spPr>
          <a:xfrm>
            <a:off x="4800600" y="3743325"/>
            <a:ext cx="4314825"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chemeClr val="dk1"/>
                </a:solidFill>
                <a:latin typeface="Google Sans"/>
              </a:rPr>
              <a:t>2. Multi-Session Pacing, Snow-Day Compression &amp; Smart Partials</a:t>
            </a:r>
            <a:endParaRPr sz="1000">
              <a:latin typeface="Google Sans"/>
            </a:endParaRPr>
          </a:p>
        </p:txBody>
      </p:sp>
      <p:sp>
        <p:nvSpPr>
          <p:cNvPr id="40" name="TextBox 39"/>
          <p:cNvSpPr txBox="1"/>
          <p:nvPr/>
        </p:nvSpPr>
        <p:spPr>
          <a:xfrm>
            <a:off x="4800600" y="3929063"/>
            <a:ext cx="4000500" cy="257175"/>
          </a:xfrm>
          <a:prstGeom prst="rect">
            <a:avLst/>
          </a:prstGeom>
          <a:noFill/>
          <a:ln>
            <a:noFill/>
          </a:ln>
          <a:effectLst/>
        </p:spPr>
        <p:txBody>
          <a:bodyPr wrap="square" anchor="t" lIns="0" rIns="0" tIns="5007" bIns="0">
            <a:noAutofit/>
          </a:bodyPr>
          <a:lstStyle/>
          <a:p>
            <a:pPr algn="l">
              <a:lnSpc>
                <a:spcPct val="108330"/>
              </a:lnSpc>
              <a:spcBef>
                <a:spcPts val="0"/>
              </a:spcBef>
              <a:spcAft>
                <a:spcPts val="0"/>
              </a:spcAft>
            </a:pPr>
            <a:r>
              <a:rPr b="0" i="0" u="none" sz="800">
                <a:solidFill>
                  <a:schemeClr val="accent5"/>
                </a:solidFill>
                <a:latin typeface="Google Sans"/>
              </a:rPr>
              <a:t>4-Session (75m) &amp; Double-Block (150m) Agendas | S1-S4 | M Attendance | Actionable Make-Up vs. Home-Troop Partials</a:t>
            </a:r>
            <a:endParaRPr sz="800">
              <a:latin typeface="Google Sans"/>
            </a:endParaRPr>
          </a:p>
        </p:txBody>
      </p:sp>
      <p:sp>
        <p:nvSpPr>
          <p:cNvPr id="41" name="TextBox 40"/>
          <p:cNvSpPr txBox="1"/>
          <p:nvPr/>
        </p:nvSpPr>
        <p:spPr>
          <a:xfrm>
            <a:off x="4800600" y="4286250"/>
            <a:ext cx="4314825" cy="171450"/>
          </a:xfrm>
          <a:prstGeom prst="rect">
            <a:avLst/>
          </a:prstGeom>
          <a:noFill/>
          <a:ln>
            <a:noFill/>
          </a:ln>
          <a:effectLst/>
        </p:spPr>
        <p:txBody>
          <a:bodyPr wrap="none" anchor="t" lIns="0" rIns="0" tIns="1676" bIns="0">
            <a:noAutofit/>
          </a:bodyPr>
          <a:lstStyle/>
          <a:p>
            <a:pPr algn="l">
              <a:lnSpc>
                <a:spcPct val="100000"/>
              </a:lnSpc>
              <a:spcBef>
                <a:spcPts val="0"/>
              </a:spcBef>
              <a:spcAft>
                <a:spcPts val="0"/>
              </a:spcAft>
            </a:pPr>
            <a:r>
              <a:rPr b="1" i="0" u="none" sz="1000">
                <a:solidFill>
                  <a:schemeClr val="dk1"/>
                </a:solidFill>
                <a:latin typeface="Google Sans"/>
              </a:rPr>
              <a:t>3. Production SRE Guardrails &amp; Zero-PII Youth Protection</a:t>
            </a:r>
            <a:endParaRPr sz="1000">
              <a:latin typeface="Google Sans"/>
            </a:endParaRPr>
          </a:p>
        </p:txBody>
      </p:sp>
      <p:sp>
        <p:nvSpPr>
          <p:cNvPr id="42" name="TextBox 41"/>
          <p:cNvSpPr txBox="1"/>
          <p:nvPr/>
        </p:nvSpPr>
        <p:spPr>
          <a:xfrm>
            <a:off x="4800600" y="4471988"/>
            <a:ext cx="4000500" cy="257175"/>
          </a:xfrm>
          <a:prstGeom prst="rect">
            <a:avLst/>
          </a:prstGeom>
          <a:noFill/>
          <a:ln>
            <a:noFill/>
          </a:ln>
          <a:effectLst/>
        </p:spPr>
        <p:txBody>
          <a:bodyPr wrap="square" anchor="t" lIns="0" rIns="0" tIns="5007" bIns="0">
            <a:noAutofit/>
          </a:bodyPr>
          <a:lstStyle/>
          <a:p>
            <a:pPr algn="l">
              <a:lnSpc>
                <a:spcPct val="108330"/>
              </a:lnSpc>
              <a:spcBef>
                <a:spcPts val="0"/>
              </a:spcBef>
              <a:spcAft>
                <a:spcPts val="0"/>
              </a:spcAft>
            </a:pPr>
            <a:r>
              <a:rPr b="0" i="0" u="none" sz="800">
                <a:solidFill>
                  <a:schemeClr val="accent5"/>
                </a:solidFill>
                <a:latin typeface="Google Sans"/>
              </a:rPr>
              <a:t>12 SQLite WAL Tables | 27 MCP Capabilities (15T/7R/5P) | 3-Layer Context-Aware PII | Consolidated M3 Toolbars</a:t>
            </a:r>
            <a:endParaRPr sz="800">
              <a:latin typeface="Google Sans"/>
            </a:endParaRPr>
          </a:p>
        </p:txBody>
      </p:sp>
      <p:sp>
        <p:nvSpPr>
          <p:cNvPr id="43" name="TextBox 42"/>
          <p:cNvSpPr txBox="1"/>
          <p:nvPr/>
        </p:nvSpPr>
        <p:spPr>
          <a:xfrm>
            <a:off x="342900" y="4743450"/>
            <a:ext cx="8772525" cy="128588"/>
          </a:xfrm>
          <a:prstGeom prst="rect">
            <a:avLst/>
          </a:prstGeom>
          <a:noFill/>
          <a:ln>
            <a:noFill/>
          </a:ln>
          <a:effectLst/>
        </p:spPr>
        <p:txBody>
          <a:bodyPr wrap="none" anchor="t" lIns="0" rIns="0" tIns="41119" bIns="0">
            <a:noAutofit/>
          </a:bodyPr>
          <a:lstStyle/>
          <a:p>
            <a:pPr algn="l">
              <a:lnSpc>
                <a:spcPct val="91670"/>
              </a:lnSpc>
              <a:spcBef>
                <a:spcPts val="0"/>
              </a:spcBef>
              <a:spcAft>
                <a:spcPts val="0"/>
              </a:spcAft>
            </a:pPr>
            <a:r>
              <a:rPr b="0" i="0" u="none" sz="600">
                <a:solidFill>
                  <a:schemeClr val="accent5"/>
                </a:solidFill>
                <a:latin typeface="Google Sans"/>
              </a:rPr>
              <a:t>Source: terraform/iam.tf + main.tf (4 GiB), cloudbuild.yaml, ARCHITECTURE_DECISIONS.md (ADR-11), scripts/build_submission_bundle.py, scripts/repo_audit.sh.</a:t>
            </a:r>
            <a:endParaRPr sz="600">
              <a:latin typeface="Google Sans"/>
            </a:endParaRPr>
          </a:p>
        </p:txBody>
      </p:sp>
    </p:spTree>
  </p:cSld>
  <p:clrMapOvr>
    <a:masterClrMapping/>
  </p:clrMapOvr>
</p:sld>
</file>

<file path=ppt/theme/theme1.xml><?xml version="1.0" encoding="utf-8"?>
<a:theme xmlns:a="http://schemas.openxmlformats.org/drawingml/2006/main" name="Google">
  <a:themeElements>
    <a:clrScheme name="Google">
      <a:dk1>
        <a:srgbClr val="202124"/>
      </a:dk1>
      <a:lt1>
        <a:srgbClr val="FFFFFF"/>
      </a:lt1>
      <a:dk2>
        <a:srgbClr val="BDC1C6"/>
      </a:dk2>
      <a:lt2>
        <a:srgbClr val="F8F9FA"/>
      </a:lt2>
      <a:accent1>
        <a:srgbClr val="1A73E8"/>
      </a:accent1>
      <a:accent2>
        <a:srgbClr val="EA4335"/>
      </a:accent2>
      <a:accent3>
        <a:srgbClr val="FBBC04"/>
      </a:accent3>
      <a:accent4>
        <a:srgbClr val="34A853"/>
      </a:accent4>
      <a:accent5>
        <a:srgbClr val="5F6368"/>
      </a:accent5>
      <a:accent6>
        <a:srgbClr val="202124"/>
      </a:accent6>
      <a:hlink>
        <a:srgbClr val="1A73E8"/>
      </a:hlink>
      <a:folHlink>
        <a:srgbClr val="7B1FA2"/>
      </a:folHlink>
    </a:clrScheme>
    <a:fontScheme name="Google">
      <a:majorFont>
        <a:latin typeface="Google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oogle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